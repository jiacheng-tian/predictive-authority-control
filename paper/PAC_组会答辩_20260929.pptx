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8" r:id="rId3"/>
    <p:sldId id="278" r:id="rId4"/>
    <p:sldId id="279" r:id="rId5"/>
    <p:sldId id="273" r:id="rId6"/>
    <p:sldId id="274" r:id="rId7"/>
    <p:sldId id="276" r:id="rId8"/>
    <p:sldId id="275" r:id="rId9"/>
    <p:sldId id="277" r:id="rId10"/>
    <p:sldId id="280" r:id="rId11"/>
    <p:sldId id="272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0"/>
    <p:restoredTop sz="94694"/>
  </p:normalViewPr>
  <p:slideViewPr>
    <p:cSldViewPr snapToGrid="0">
      <p:cViewPr varScale="1">
        <p:scale>
          <a:sx n="77" d="100"/>
          <a:sy n="77" d="100"/>
        </p:scale>
        <p:origin x="4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预测权限控制（PAC）阶段答辩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053252" y="3360568"/>
            <a:ext cx="8085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受约束残差强化学习修复控制器信任：OOD ↓28%，代价如实报告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64087" y="5525421"/>
            <a:ext cx="2491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日期：2026年9月29日</a:t>
            </a: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</a:p>
        </p:txBody>
      </p:sp>
      <p:sp>
        <p:nvSpPr>
          <p:cNvPr id="17" name="圆角矩形 16"/>
          <p:cNvSpPr/>
          <p:nvPr/>
        </p:nvSpPr>
        <p:spPr>
          <a:xfrm>
            <a:off x="4755396" y="547495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/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/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sp>
        <p:nvSpPr>
          <p:cNvPr id="17" name="文本框 16"/>
          <p:cNvSpPr txBox="1"/>
          <p:nvPr/>
        </p:nvSpPr>
        <p:spPr>
          <a:xfrm>
            <a:off x="606718" y="1167007"/>
            <a:ext cx="10978564" cy="1249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一、工作概况：架构定型为「SMC + MPC 专家 + 冻结 Transformer 编码器 + 零初始化残差头」，学习组件只输出有界权限修正 Δα∈[−0.1, +0.1]，推进器指令始终由经典专家产生。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/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36E9E0A-E515-5C44-CDB6-7F1DE1D46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424220"/>
              </p:ext>
            </p:extLst>
          </p:nvPr>
        </p:nvGraphicFramePr>
        <p:xfrm>
          <a:off x="201279" y="3065816"/>
          <a:ext cx="5047376" cy="31417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86206">
                  <a:extLst>
                    <a:ext uri="{9D8B030D-6E8A-4147-A177-3AD203B41FA5}">
                      <a16:colId xmlns:a16="http://schemas.microsoft.com/office/drawing/2014/main" val="3792111187"/>
                    </a:ext>
                  </a:extLst>
                </a:gridCol>
                <a:gridCol w="2173385">
                  <a:extLst>
                    <a:ext uri="{9D8B030D-6E8A-4147-A177-3AD203B41FA5}">
                      <a16:colId xmlns:a16="http://schemas.microsoft.com/office/drawing/2014/main" val="1732803643"/>
                    </a:ext>
                  </a:extLst>
                </a:gridCol>
                <a:gridCol w="1787785">
                  <a:extLst>
                    <a:ext uri="{9D8B030D-6E8A-4147-A177-3AD203B41FA5}">
                      <a16:colId xmlns:a16="http://schemas.microsoft.com/office/drawing/2014/main" val="3693476129"/>
                    </a:ext>
                  </a:extLst>
                </a:gridCol>
              </a:tblGrid>
              <a:tr h="2492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 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当前版本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升级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84761480"/>
                  </a:ext>
                </a:extLst>
              </a:tr>
              <a:tr h="7804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神经架构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Temporal Transformer PAC，history_len=16，embed_dim=32，heads=4，layers=1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将</a:t>
                      </a:r>
                      <a:r>
                        <a:rPr lang="en-US" sz="1200">
                          <a:effectLst/>
                        </a:rPr>
                        <a:t>MLP</a:t>
                      </a:r>
                      <a:r>
                        <a:rPr lang="zh-CN" sz="1200">
                          <a:effectLst/>
                        </a:rPr>
                        <a:t>升级为</a:t>
                      </a:r>
                      <a:r>
                        <a:rPr lang="en-US" sz="1200">
                          <a:effectLst/>
                        </a:rPr>
                        <a:t>transformer</a:t>
                      </a:r>
                      <a:r>
                        <a:rPr lang="zh-CN" sz="1200">
                          <a:effectLst/>
                        </a:rPr>
                        <a:t>引入时序上下文，避免只按单步状态做静态权重分配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56808503"/>
                  </a:ext>
                </a:extLst>
              </a:tr>
              <a:tr h="5148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控制结构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SMC主</a:t>
                      </a:r>
                      <a:r>
                        <a:rPr lang="zh-CN" sz="1200">
                          <a:effectLst/>
                        </a:rPr>
                        <a:t>稳态</a:t>
                      </a:r>
                      <a:r>
                        <a:rPr lang="en-US" sz="1200">
                          <a:effectLst/>
                        </a:rPr>
                        <a:t>控制器 + MPC</a:t>
                      </a:r>
                      <a:r>
                        <a:rPr lang="zh-CN" sz="1200">
                          <a:effectLst/>
                        </a:rPr>
                        <a:t>抗扰动</a:t>
                      </a:r>
                      <a:r>
                        <a:rPr lang="en-US" sz="1200">
                          <a:effectLst/>
                        </a:rPr>
                        <a:t>控制器，u=(1-alpha)u_SMC+alpha u_MPC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把学习模块限定在权威分配</a:t>
                      </a:r>
                      <a:r>
                        <a:rPr lang="en-US" sz="1200">
                          <a:effectLst/>
                        </a:rPr>
                        <a:t> alpha </a:t>
                      </a:r>
                      <a:r>
                        <a:rPr lang="zh-CN" sz="1200">
                          <a:effectLst/>
                        </a:rPr>
                        <a:t>上，保留控制器可解释性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54985130"/>
                  </a:ext>
                </a:extLst>
              </a:tr>
              <a:tr h="7804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训练</a:t>
                      </a:r>
                      <a:r>
                        <a:rPr lang="en-US" sz="1200">
                          <a:effectLst/>
                        </a:rPr>
                        <a:t>优化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以</a:t>
                      </a:r>
                      <a:r>
                        <a:rPr lang="en-US" sz="1200">
                          <a:effectLst/>
                        </a:rPr>
                        <a:t>oracle</a:t>
                      </a:r>
                      <a:r>
                        <a:rPr lang="zh-CN" sz="1200">
                          <a:effectLst/>
                        </a:rPr>
                        <a:t>为训练样本，进行的监督训练为预训练。在预训练基础上进行自监督训练。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上一版本较粗的监督标签训练变为基础预训练，在此基础上再进行自监督训练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6249318"/>
                  </a:ext>
                </a:extLst>
              </a:tr>
              <a:tr h="5148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部署相关约束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alpha_gain=1.2，smoothing=0.5，rate_limit=0.0125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 dirty="0">
                          <a:effectLst/>
                        </a:rPr>
                        <a:t>限制</a:t>
                      </a:r>
                      <a:r>
                        <a:rPr lang="en-US" sz="1200" dirty="0">
                          <a:effectLst/>
                        </a:rPr>
                        <a:t> alpha </a:t>
                      </a:r>
                      <a:r>
                        <a:rPr lang="zh-CN" sz="1200" dirty="0">
                          <a:effectLst/>
                        </a:rPr>
                        <a:t>抖动，降低控制切换突变，便于后续上机烧录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94169341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801A7437-7B96-8FE9-58CA-4F5D3EFF31CF}"/>
              </a:ext>
            </a:extLst>
          </p:cNvPr>
          <p:cNvSpPr txBox="1"/>
          <p:nvPr/>
        </p:nvSpPr>
        <p:spPr>
          <a:xfrm>
            <a:off x="606718" y="2278534"/>
            <a:ext cx="5303520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二、本轮更新：顶刊体例重构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6971BCE-9A9C-2A20-833C-FD8A1810C6CC}"/>
              </a:ext>
            </a:extLst>
          </p:cNvPr>
          <p:cNvSpPr txBox="1"/>
          <p:nvPr/>
        </p:nvSpPr>
        <p:spPr>
          <a:xfrm>
            <a:off x="6250674" y="2278534"/>
            <a:ext cx="5303520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三、评估规模（预注册、配对）</a:t>
            </a: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A4F892C4-AE24-4ABB-EE39-EF8FB0C9C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079817"/>
              </p:ext>
            </p:extLst>
          </p:nvPr>
        </p:nvGraphicFramePr>
        <p:xfrm>
          <a:off x="6096000" y="3065816"/>
          <a:ext cx="5047376" cy="31417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3548">
                  <a:extLst>
                    <a:ext uri="{9D8B030D-6E8A-4147-A177-3AD203B41FA5}">
                      <a16:colId xmlns:a16="http://schemas.microsoft.com/office/drawing/2014/main" val="3827808718"/>
                    </a:ext>
                  </a:extLst>
                </a:gridCol>
                <a:gridCol w="3663828">
                  <a:extLst>
                    <a:ext uri="{9D8B030D-6E8A-4147-A177-3AD203B41FA5}">
                      <a16:colId xmlns:a16="http://schemas.microsoft.com/office/drawing/2014/main" val="2187144095"/>
                    </a:ext>
                  </a:extLst>
                </a:gridCol>
              </a:tblGrid>
              <a:tr h="444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项目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升级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886842"/>
                  </a:ext>
                </a:extLst>
              </a:tr>
              <a:tr h="444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单回合长度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提升至</a:t>
                      </a:r>
                      <a:r>
                        <a:rPr lang="en-US" sz="1200">
                          <a:effectLst/>
                        </a:rPr>
                        <a:t>2100 steps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6664636"/>
                  </a:ext>
                </a:extLst>
              </a:tr>
              <a:tr h="444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</a:t>
                      </a:r>
                      <a:r>
                        <a:rPr lang="zh-CN" sz="1200">
                          <a:effectLst/>
                        </a:rPr>
                        <a:t>预</a:t>
                      </a:r>
                      <a:r>
                        <a:rPr lang="en-US" sz="1200">
                          <a:effectLst/>
                        </a:rPr>
                        <a:t>训练种子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监督训练</a:t>
                      </a:r>
                      <a:r>
                        <a:rPr lang="en-US" sz="1200">
                          <a:effectLst/>
                        </a:rPr>
                        <a:t>train_seed</a:t>
                      </a:r>
                      <a:r>
                        <a:rPr lang="zh-CN" sz="1200">
                          <a:effectLst/>
                        </a:rPr>
                        <a:t>增添至共</a:t>
                      </a:r>
                      <a:r>
                        <a:rPr lang="en-US" sz="1200">
                          <a:effectLst/>
                        </a:rPr>
                        <a:t>3</a:t>
                      </a:r>
                      <a:r>
                        <a:rPr lang="zh-CN" sz="1200">
                          <a:effectLst/>
                        </a:rPr>
                        <a:t>个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4466579"/>
                  </a:ext>
                </a:extLst>
              </a:tr>
              <a:tr h="444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</a:t>
                      </a:r>
                      <a:r>
                        <a:rPr lang="zh-CN" sz="1200">
                          <a:effectLst/>
                        </a:rPr>
                        <a:t>正式训练种子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自监督训练增添至</a:t>
                      </a:r>
                      <a:r>
                        <a:rPr lang="en-US" sz="1200">
                          <a:effectLst/>
                        </a:rPr>
                        <a:t>共 5 个 train seed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08958579"/>
                  </a:ext>
                </a:extLst>
              </a:tr>
              <a:tr h="9184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</a:t>
                      </a:r>
                      <a:r>
                        <a:rPr lang="zh-CN" sz="1200">
                          <a:effectLst/>
                        </a:rPr>
                        <a:t>评估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多轮实验评估：</a:t>
                      </a:r>
                      <a:r>
                        <a:rPr lang="en-US" sz="1200">
                          <a:effectLst/>
                        </a:rPr>
                        <a:t>10 个 eval episode seed × 3 场景；PAC 每场景 50 rollouts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32922539"/>
                  </a:ext>
                </a:extLst>
              </a:tr>
              <a:tr h="444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训练epoch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PAC epochs=180</a:t>
                      </a:r>
                      <a:r>
                        <a:rPr lang="zh-CN" sz="1200" dirty="0">
                          <a:effectLst/>
                        </a:rPr>
                        <a:t>，即学习</a:t>
                      </a:r>
                      <a:r>
                        <a:rPr lang="en-US" sz="1200" dirty="0">
                          <a:effectLst/>
                        </a:rPr>
                        <a:t>180</a:t>
                      </a:r>
                      <a:r>
                        <a:rPr lang="zh-CN" sz="1200" dirty="0">
                          <a:effectLst/>
                        </a:rPr>
                        <a:t>次训练样本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85914840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274320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网络级架构图与训练图（冻结/可训练、参数量、零初始化）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轨迹与姿态的运动层证据图（真实三维路径）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控制质量图：残差策略 OOD 饱和率与控制代价全方法最低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方法命名改描述式：Supervised PAC / Residual PAC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全部世界模型内容移出主线（另行探索）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74320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120 个配对回合（85 ID + 35 OOD）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14 个方法-种子组合 · 1,680 次滚动 · ≈353 万控制步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模型种子级 t(4) 95% CI + 回合级自助法（10,000 次）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• 注册准则先于训练冻结：残差相关六项 → 3 过 / 2 挂 / 1 未评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EF892-720A-4CB7-0CDB-723962908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05E98698-5AF3-50E9-0549-C67017020E70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2AAF787-48CB-F431-0621-1C8EBB881BA7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094F034-B70C-E001-34E0-361D66BCE476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5639D1C7-67FD-F45B-BFE1-EC7D2BD1B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FECBD37-F351-B4A4-2FC8-25C5890F060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4A54A71-AEEA-10EF-272C-600C5BC30DDC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0DD84D8-F5F1-5815-1ACB-92EF326A51B2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ABCE479-B2CE-7B45-8620-165D9DB9ABDD}"/>
              </a:ext>
            </a:extLst>
          </p:cNvPr>
          <p:cNvSpPr txBox="1"/>
          <p:nvPr/>
        </p:nvSpPr>
        <p:spPr>
          <a:xfrm>
            <a:off x="606718" y="1167007"/>
            <a:ext cx="10978564" cy="953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问题：执行器退化下 MPC 按错误模型持续输出「自信的失效指令」，OOD 执行器族单独工作误差 0.822 m ≈ 正常 9 倍，逼近 1 m 任务失败线。仲裁问题（每一时刻信任谁、信多少）随海况连续变化，人工切换规则无法枚举。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5530C3D-D1AE-5042-BF6E-8D028EDDE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EDCC63F-6C70-BF97-BED3-07AB07F4F213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4CA4B9D-12EB-51A5-6F53-6793974E6DE5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latin typeface="微软雅黑"/>
              </a:rPr>
              <a:t>核心思想：权限 α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学习系统不碰推进器，只输出 α∈[0,1]；u = (1−α)·u_SMC + α·u_MPC。α=0 全听 SMC，α=1 全听 MPC。</a:t>
            </a:r>
          </a:p>
          <a:p>
            <a:pPr>
              <a:spcAft>
                <a:spcPts val="400"/>
              </a:spcAft>
            </a:pPr>
            <a:r>
              <a:rPr sz="1700" b="1">
                <a:latin typeface="微软雅黑"/>
              </a:rPr>
              <a:t>受约束残差：Δα = 0.1·tanh(·)，末层零初始化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冻结监督策略（编码器 14,113 参数），仅训练 2,177 参数残差头；开机行为与已部署基线逐位一致（全回合单元测试）。最坏情形 = 基线本身。</a:t>
            </a:r>
          </a:p>
          <a:p>
            <a:pPr>
              <a:spcAft>
                <a:spcPts val="400"/>
              </a:spcAft>
            </a:pPr>
            <a:r>
              <a:rPr sz="1700" b="1">
                <a:latin typeface="微软雅黑"/>
              </a:rPr>
              <a:t>四层安全栈（按执行顺序）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微软雅黑"/>
              </a:rPr>
              <a:t>① 有界输出（|Δα|≤0.1）② clip/平滑/率限 ③ 专家失效强制回主控 ④ 数值异常回退冻结监督预测</a:t>
            </a:r>
          </a:p>
        </p:txBody>
      </p:sp>
    </p:spTree>
    <p:extLst>
      <p:ext uri="{BB962C8B-B14F-4D97-AF65-F5344CB8AC3E}">
        <p14:creationId xmlns:p14="http://schemas.microsoft.com/office/powerpoint/2010/main" val="2674571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3D924-16A0-40C4-F768-5CEB01767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AC562B26-6BC8-1F52-6182-B253D3DFE06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CFAA6D7-6E9A-983C-DF4C-8FFB8393828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A5F0243-6D88-0BCA-DF4F-6E53EF02004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9668A71-FF02-4FC5-953C-86E67E8A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1C502A-9196-6009-9183-43BF7770750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B6BCB32-A5C8-8ADD-C4EB-B2F7165DD23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8C4321B-0411-C983-20C8-CAAB4EF8CA40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0315DA0-FDB2-78D3-D8F0-7DC060489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4049CA9E-A0C6-7292-FBD3-1EA9CA17C35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6B72F85-98C1-139A-8712-A92878639B9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fig1_system_architecture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8138160" cy="45801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0" y="173736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latin typeface="微软雅黑"/>
              </a:rPr>
              <a:t>读图要点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绿区=已验证固定组件；紫区=可审计学习组件；灰区=执行级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编码器冻结（❄ 14,113 参数）；残差头可训练（▲ 2,177 参数、零初始化）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α_t = clip[0,1](α̂_t + Δα_t)：学习只修正信任，不产生指令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底部安全条带：有界 Δα → clip/平滑/率限 → 强制主控 → 数值回退</a:t>
            </a:r>
          </a:p>
        </p:txBody>
      </p:sp>
    </p:spTree>
    <p:extLst>
      <p:ext uri="{BB962C8B-B14F-4D97-AF65-F5344CB8AC3E}">
        <p14:creationId xmlns:p14="http://schemas.microsoft.com/office/powerpoint/2010/main" val="942094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A7E7E-6A62-015B-4DC4-ACEFA942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FEA6314-D1D6-BF34-FE8D-64475CBCCF9C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93EB51-E7E3-9D32-6117-B1A630E3F4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1551740-04D7-266B-C718-4F38F889444D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17A71D7-C763-F1D6-C1E4-2D1CA33D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BC1D74-0142-4489-BC4D-A1398965DDD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BFD928A-E9BB-B8B1-8FED-C8168FEB9866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73AEBB9-C11C-704B-628B-A5CE47250016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63262A-C245-24C5-162A-899C0D1A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F43D236-915B-500F-F1B7-A50422C95CB0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F0D2FAA-1E03-8BAD-5520-9DA5B0F66D7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E51BDECF-88A3-9EC9-E276-1F75FD4FB66A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网络架构与两阶段训练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9D7537D7-D87D-3747-4E3A-D063004D0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473202"/>
              </p:ext>
            </p:extLst>
          </p:nvPr>
        </p:nvGraphicFramePr>
        <p:xfrm>
          <a:off x="281980" y="1734335"/>
          <a:ext cx="8639175" cy="9997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54147">
                  <a:extLst>
                    <a:ext uri="{9D8B030D-6E8A-4147-A177-3AD203B41FA5}">
                      <a16:colId xmlns:a16="http://schemas.microsoft.com/office/drawing/2014/main" val="2439825025"/>
                    </a:ext>
                  </a:extLst>
                </a:gridCol>
                <a:gridCol w="745513">
                  <a:extLst>
                    <a:ext uri="{9D8B030D-6E8A-4147-A177-3AD203B41FA5}">
                      <a16:colId xmlns:a16="http://schemas.microsoft.com/office/drawing/2014/main" val="1397544413"/>
                    </a:ext>
                  </a:extLst>
                </a:gridCol>
                <a:gridCol w="1052488">
                  <a:extLst>
                    <a:ext uri="{9D8B030D-6E8A-4147-A177-3AD203B41FA5}">
                      <a16:colId xmlns:a16="http://schemas.microsoft.com/office/drawing/2014/main" val="1539950833"/>
                    </a:ext>
                  </a:extLst>
                </a:gridCol>
                <a:gridCol w="1271757">
                  <a:extLst>
                    <a:ext uri="{9D8B030D-6E8A-4147-A177-3AD203B41FA5}">
                      <a16:colId xmlns:a16="http://schemas.microsoft.com/office/drawing/2014/main" val="517137543"/>
                    </a:ext>
                  </a:extLst>
                </a:gridCol>
                <a:gridCol w="1052488">
                  <a:extLst>
                    <a:ext uri="{9D8B030D-6E8A-4147-A177-3AD203B41FA5}">
                      <a16:colId xmlns:a16="http://schemas.microsoft.com/office/drawing/2014/main" val="993683526"/>
                    </a:ext>
                  </a:extLst>
                </a:gridCol>
                <a:gridCol w="920927">
                  <a:extLst>
                    <a:ext uri="{9D8B030D-6E8A-4147-A177-3AD203B41FA5}">
                      <a16:colId xmlns:a16="http://schemas.microsoft.com/office/drawing/2014/main" val="1906175528"/>
                    </a:ext>
                  </a:extLst>
                </a:gridCol>
                <a:gridCol w="964781">
                  <a:extLst>
                    <a:ext uri="{9D8B030D-6E8A-4147-A177-3AD203B41FA5}">
                      <a16:colId xmlns:a16="http://schemas.microsoft.com/office/drawing/2014/main" val="1643007415"/>
                    </a:ext>
                  </a:extLst>
                </a:gridCol>
                <a:gridCol w="877074">
                  <a:extLst>
                    <a:ext uri="{9D8B030D-6E8A-4147-A177-3AD203B41FA5}">
                      <a16:colId xmlns:a16="http://schemas.microsoft.com/office/drawing/2014/main" val="100535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上一版方法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episodes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RMSE均值(m)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Post-startup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Max error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Energy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Action smooth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Alpha均值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65359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SMC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200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1.104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1.053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2.323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45.486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0.0058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50564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MLP-PAC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200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1.075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1.022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2.308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44.460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0.0054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0.019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09997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Transformer-PAC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200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0.562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0.395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1.612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34.783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0.0034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0.483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1608878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614FD85-7E91-11B9-470F-B1DA96633D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016447"/>
              </p:ext>
            </p:extLst>
          </p:nvPr>
        </p:nvGraphicFramePr>
        <p:xfrm>
          <a:off x="286988" y="3506022"/>
          <a:ext cx="7848600" cy="9997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0035">
                  <a:extLst>
                    <a:ext uri="{9D8B030D-6E8A-4147-A177-3AD203B41FA5}">
                      <a16:colId xmlns:a16="http://schemas.microsoft.com/office/drawing/2014/main" val="2554753370"/>
                    </a:ext>
                  </a:extLst>
                </a:gridCol>
                <a:gridCol w="746579">
                  <a:extLst>
                    <a:ext uri="{9D8B030D-6E8A-4147-A177-3AD203B41FA5}">
                      <a16:colId xmlns:a16="http://schemas.microsoft.com/office/drawing/2014/main" val="3383036149"/>
                    </a:ext>
                  </a:extLst>
                </a:gridCol>
                <a:gridCol w="920527">
                  <a:extLst>
                    <a:ext uri="{9D8B030D-6E8A-4147-A177-3AD203B41FA5}">
                      <a16:colId xmlns:a16="http://schemas.microsoft.com/office/drawing/2014/main" val="2015566556"/>
                    </a:ext>
                  </a:extLst>
                </a:gridCol>
                <a:gridCol w="1094474">
                  <a:extLst>
                    <a:ext uri="{9D8B030D-6E8A-4147-A177-3AD203B41FA5}">
                      <a16:colId xmlns:a16="http://schemas.microsoft.com/office/drawing/2014/main" val="3070635323"/>
                    </a:ext>
                  </a:extLst>
                </a:gridCol>
                <a:gridCol w="833553">
                  <a:extLst>
                    <a:ext uri="{9D8B030D-6E8A-4147-A177-3AD203B41FA5}">
                      <a16:colId xmlns:a16="http://schemas.microsoft.com/office/drawing/2014/main" val="1153417234"/>
                    </a:ext>
                  </a:extLst>
                </a:gridCol>
                <a:gridCol w="746579">
                  <a:extLst>
                    <a:ext uri="{9D8B030D-6E8A-4147-A177-3AD203B41FA5}">
                      <a16:colId xmlns:a16="http://schemas.microsoft.com/office/drawing/2014/main" val="1031121297"/>
                    </a:ext>
                  </a:extLst>
                </a:gridCol>
                <a:gridCol w="659605">
                  <a:extLst>
                    <a:ext uri="{9D8B030D-6E8A-4147-A177-3AD203B41FA5}">
                      <a16:colId xmlns:a16="http://schemas.microsoft.com/office/drawing/2014/main" val="856290020"/>
                    </a:ext>
                  </a:extLst>
                </a:gridCol>
                <a:gridCol w="789748">
                  <a:extLst>
                    <a:ext uri="{9D8B030D-6E8A-4147-A177-3AD203B41FA5}">
                      <a16:colId xmlns:a16="http://schemas.microsoft.com/office/drawing/2014/main" val="1186090469"/>
                    </a:ext>
                  </a:extLst>
                </a:gridCol>
                <a:gridCol w="1007500">
                  <a:extLst>
                    <a:ext uri="{9D8B030D-6E8A-4147-A177-3AD203B41FA5}">
                      <a16:colId xmlns:a16="http://schemas.microsoft.com/office/drawing/2014/main" val="23274871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当前方法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episodes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RMSE均值</a:t>
                      </a:r>
                      <a:r>
                        <a:rPr lang="en-US" sz="1200" dirty="0">
                          <a:effectLst/>
                        </a:rPr>
                        <a:t>(m)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Post-startup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Max error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Energy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Smoothness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Saturation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Heading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31660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MPC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0.14571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0.15000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0.4220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38.006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0.0017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0.257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86.48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1417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0.07417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0.06582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0.2707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32.726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0.0021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0.154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33.26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29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SMC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30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0.14375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0.12223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0.3313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31.014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0.0012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0.112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7.05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10171639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3F5EB362-E021-220C-26D2-FBAC17E10C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627322"/>
              </p:ext>
            </p:extLst>
          </p:nvPr>
        </p:nvGraphicFramePr>
        <p:xfrm>
          <a:off x="281981" y="5483691"/>
          <a:ext cx="8639175" cy="7894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27835">
                  <a:extLst>
                    <a:ext uri="{9D8B030D-6E8A-4147-A177-3AD203B41FA5}">
                      <a16:colId xmlns:a16="http://schemas.microsoft.com/office/drawing/2014/main" val="3172566116"/>
                    </a:ext>
                  </a:extLst>
                </a:gridCol>
                <a:gridCol w="1382268">
                  <a:extLst>
                    <a:ext uri="{9D8B030D-6E8A-4147-A177-3AD203B41FA5}">
                      <a16:colId xmlns:a16="http://schemas.microsoft.com/office/drawing/2014/main" val="1890590274"/>
                    </a:ext>
                  </a:extLst>
                </a:gridCol>
                <a:gridCol w="1382268">
                  <a:extLst>
                    <a:ext uri="{9D8B030D-6E8A-4147-A177-3AD203B41FA5}">
                      <a16:colId xmlns:a16="http://schemas.microsoft.com/office/drawing/2014/main" val="1353191796"/>
                    </a:ext>
                  </a:extLst>
                </a:gridCol>
                <a:gridCol w="1382268">
                  <a:extLst>
                    <a:ext uri="{9D8B030D-6E8A-4147-A177-3AD203B41FA5}">
                      <a16:colId xmlns:a16="http://schemas.microsoft.com/office/drawing/2014/main" val="1211081891"/>
                    </a:ext>
                  </a:extLst>
                </a:gridCol>
                <a:gridCol w="1382268">
                  <a:extLst>
                    <a:ext uri="{9D8B030D-6E8A-4147-A177-3AD203B41FA5}">
                      <a16:colId xmlns:a16="http://schemas.microsoft.com/office/drawing/2014/main" val="4288537394"/>
                    </a:ext>
                  </a:extLst>
                </a:gridCol>
                <a:gridCol w="1382268">
                  <a:extLst>
                    <a:ext uri="{9D8B030D-6E8A-4147-A177-3AD203B41FA5}">
                      <a16:colId xmlns:a16="http://schemas.microsoft.com/office/drawing/2014/main" val="4525469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场景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SMC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MPC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 vs SMC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PAC vs MPC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28738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constant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0.14707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0.15303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0.09515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35.3%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37.8%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35570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sinusoidal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0.14997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0.24482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0.07264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51.6%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70.3%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50721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step-change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0.13421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0.03929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0.05473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59.2%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-39.3%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99724092"/>
                  </a:ext>
                </a:extLst>
              </a:tr>
            </a:tbl>
          </a:graphicData>
        </a:graphic>
      </p:graphicFrame>
      <p:sp>
        <p:nvSpPr>
          <p:cNvPr id="23" name="文本框 22">
            <a:extLst>
              <a:ext uri="{FF2B5EF4-FFF2-40B4-BE49-F238E27FC236}">
                <a16:creationId xmlns:a16="http://schemas.microsoft.com/office/drawing/2014/main" id="{7B97A8AD-F3F4-A3C9-7222-8FB7935D6973}"/>
              </a:ext>
            </a:extLst>
          </p:cNvPr>
          <p:cNvSpPr txBox="1"/>
          <p:nvPr/>
        </p:nvSpPr>
        <p:spPr>
          <a:xfrm>
            <a:off x="281980" y="1600200"/>
            <a:ext cx="8639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编码器 16×24 历史 → 嵌入 32 → 单层 4 头 Transformer → α̂；残差头 32→64→GELU→1（零初始化）输出 Δα。第一阶段模仿短视界 oracle（18,900 样本）；第二阶段仅训练残差头（TD3 + 行为正则 + 2×10⁵ 热启动，训练种子与评估种子严格分区）。</a:t>
            </a: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</a:p>
        </p:txBody>
      </p:sp>
      <p:pic>
        <p:nvPicPr>
          <p:cNvPr id="24" name="Picture 23" descr="fig_network_training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0"/>
            <a:ext cx="7223760" cy="40655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63840" y="274320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latin typeface="微软雅黑"/>
              </a:rPr>
              <a:t>训练稳定性（5 种子）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奖励/评论家/策略损失三面板：探索噪声 + 轮换训练族日程下采集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趋势反映回合组合变化，非贪心性能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无种子发散；注册评估（图 6、表 1）为记录在案的性能</a:t>
            </a:r>
          </a:p>
        </p:txBody>
      </p:sp>
    </p:spTree>
    <p:extLst>
      <p:ext uri="{BB962C8B-B14F-4D97-AF65-F5344CB8AC3E}">
        <p14:creationId xmlns:p14="http://schemas.microsoft.com/office/powerpoint/2010/main" val="39600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DD7E-57C2-E5D2-C0A5-FACB1BE7B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477257A-DE91-568B-729F-653178A889ED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788532-0E31-1AFE-ED41-C645C929C4A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E960C35-0855-3D1E-28E4-548200A1CDA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9699A36E-A519-E247-561D-17FD67FFB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A5F5BE-1278-FE23-EC15-6169BC7E711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3E1E1D8-564F-7ED8-C4AD-AA4535682BE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62D478-33C1-0F6B-FBB2-F3EC769744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A9DA9CE-F44F-1914-6C93-B8F67DF36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B36BF18-01CF-3752-825B-36433DDD072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B0FC13-6585-B6AB-49E7-AFA949D4BD3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0BE75F6E-FF58-DF4B-8189-4535D0A5CE03}"/>
              </a:ext>
            </a:extLst>
          </p:cNvPr>
          <p:cNvSpPr txBox="1"/>
          <p:nvPr/>
        </p:nvSpPr>
        <p:spPr>
          <a:xfrm>
            <a:off x="0" y="1244052"/>
            <a:ext cx="1219200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运动层证据：航行器实际如何运动。左：三维路径/水平投影/垂向误差（列=ID 正弦海流、OOD 执行器退化；检查前固定的保留种子）。右：位置误差/艏向误差/俯仰角时序——退化下 MPC 发散随回合增长（持续错误的内部模型），残差策略两工况都贴近参考。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三种场景以时间序列方式展示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position RMSE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、姿态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航向角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RMSE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以及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authority alpha 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2" name="Picture 21" descr="fig3_error_attitu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377440"/>
            <a:ext cx="5669280" cy="450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69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0441-EA06-4E24-2918-3DBE6B46B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D21B98F4-6860-F7AB-A5B0-A572977C642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23D5A0C-0E1D-9CD3-A4EA-361BADB1BB9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801BAB0-F78C-0F8D-EDC9-6834E2988A03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45A8A10B-29FC-7708-10A0-FC5D0B20D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FF1267-FADB-B511-3E63-AAF28A87445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791FE1B2-ADFF-A5C2-5D2E-B2F1D853127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19C034-A9DF-0377-93A7-1BD9A49DF3DF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EAF03AC-440B-8A5C-05B8-96E98E083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2D3FC6B-C93D-3836-17E0-DB68A65D34C5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0DAF14F-2B4A-5528-0852-D1A4EB7779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BB1E977-B0AD-F74F-603A-1877B0DB5392}"/>
              </a:ext>
            </a:extLst>
          </p:cNvPr>
          <p:cNvSpPr txBox="1"/>
          <p:nvPr/>
        </p:nvSpPr>
        <p:spPr>
          <a:xfrm>
            <a:off x="0" y="1244052"/>
            <a:ext cx="10978564" cy="1188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主结果：OOD 跟踪 RMSE 0.161→0.116 m（−28%，CI [−0.074, −0.015]；回合级自助法一致）。最尖锐的读法对我们不利：固定 α=0.5 达 0.120 m，相差不足 3%——残差的价值集中在最需要自适应处：执行器退化族较固定混合再降 28%。分布内代价 +0.4% / 艏向 +4.3%，如实报告。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图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进一步展示了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tracking error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attitude error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与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authority alpha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之间的关系。点的颜色表示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分配给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MPC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侧控制器的权重大小，因此该图可以说明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是根据当前误差状态动态调整控制权重。</a:t>
            </a:r>
          </a:p>
        </p:txBody>
      </p:sp>
      <p:pic>
        <p:nvPicPr>
          <p:cNvPr id="22" name="Picture 21" descr="fig4_closed_loop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697480"/>
            <a:ext cx="8595360" cy="43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68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0BCE-D83E-E439-8FD8-B2E7E54CA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1B4E730-23DC-247B-072A-D9FC2C2380D9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B7DFF-DA23-A5E7-A479-248A1FF205E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3AD2212-D4FB-ADF2-84FB-65FB283DF90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52E9749-CC34-ADF4-AD54-9573D563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8C2A02-AD55-38D3-6BFC-0D4B624F789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6D57195-9104-0907-5C78-7F6580B3BD6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B0CBB9C-EFE9-DF5A-2B02-E8D255F3C794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F281FC-86E9-182F-CB61-958B80B25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25332538-A239-8157-2824-B0E2E021044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7622435-B449-9F02-BBE9-05C97CD137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3581C97-548E-5FD2-DA57-FC354C2E6F75}"/>
              </a:ext>
            </a:extLst>
          </p:cNvPr>
          <p:cNvSpPr txBox="1"/>
          <p:nvPr/>
        </p:nvSpPr>
        <p:spPr>
          <a:xfrm>
            <a:off x="0" y="1244052"/>
            <a:ext cx="10978564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机制：残差学到的不是新调度，而是「否决」监督策略的越界。退化发生后数秒内监督策略把 α 推过 0.9 并振荡（31.2% 步数、std 0.331）；残差策略 97.0% 的步数稳在 [0.4, 0.6]。c 面板：全部 35 个 OOD 回合 × 5 种子的逐回合平均权限箱线图——监督 0.82±0.14（P10–P90 0.62–0.93）对残差 0.54±0.03，全部残差回合落在 [0.48, 0.62]。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/>
            </a:r>
          </a:p>
        </p:txBody>
      </p:sp>
      <p:pic>
        <p:nvPicPr>
          <p:cNvPr id="22" name="Picture 21" descr="fig5_actuator_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2880360"/>
            <a:ext cx="5577840" cy="384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38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22F0-4403-5019-B44C-8031920A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ECE81ED8-1D53-32F6-729E-D972F9AB280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08933EB-556D-5C92-348F-DFE10201900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99DC40D-3996-3104-9C0B-4A0A99CD8EF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07A04B-76C8-5AFC-4EBB-E9D4BBA94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5B719C-CD0F-52C2-963B-0E21C37DA80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A1B0154-BA93-8DC0-0011-69A77E8AB2B3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D9A79-A430-194C-C533-E3D3E199945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F2A304A-AD85-AC64-74CA-775631B8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6CB09E4-3A8F-B088-E31E-2C237030CEF7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F4AE35B9-76E6-250D-A377-84761F1C9326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11AEC22-0384-F7A9-397D-54F98CAFD13D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控制质量与代价：增益不是靠执行器滥用换来的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2AD4EA4-696C-E8BC-9C2C-B4DFF1F08839}"/>
              </a:ext>
            </a:extLst>
          </p:cNvPr>
          <p:cNvGraphicFramePr>
            <a:graphicFrameLocks noGrp="1"/>
          </p:cNvGraphicFramePr>
          <p:nvPr/>
        </p:nvGraphicFramePr>
        <p:xfrm>
          <a:off x="92123" y="1716857"/>
          <a:ext cx="2029285" cy="46588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04060">
                  <a:extLst>
                    <a:ext uri="{9D8B030D-6E8A-4147-A177-3AD203B41FA5}">
                      <a16:colId xmlns:a16="http://schemas.microsoft.com/office/drawing/2014/main" val="1133242649"/>
                    </a:ext>
                  </a:extLst>
                </a:gridCol>
                <a:gridCol w="1325225">
                  <a:extLst>
                    <a:ext uri="{9D8B030D-6E8A-4147-A177-3AD203B41FA5}">
                      <a16:colId xmlns:a16="http://schemas.microsoft.com/office/drawing/2014/main" val="128881502"/>
                    </a:ext>
                  </a:extLst>
                </a:gridCol>
              </a:tblGrid>
              <a:tr h="39233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指标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作用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46590043"/>
                  </a:ext>
                </a:extLst>
              </a:tr>
              <a:tr h="64672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3D position RMSE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主性能指标，衡量闭环轨迹跟踪精度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64220663"/>
                  </a:ext>
                </a:extLst>
              </a:tr>
              <a:tr h="64672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Startup robustness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解释初始收敛能力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17051122"/>
                  </a:ext>
                </a:extLst>
              </a:tr>
              <a:tr h="64672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Attitude robustness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 dirty="0">
                          <a:effectLst/>
                        </a:rPr>
                        <a:t>补足位置误差之外的姿态稳定性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67197005"/>
                  </a:ext>
                </a:extLst>
              </a:tr>
              <a:tr h="5011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Safety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用最大误差而非均值支撑安全性叙事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8901485"/>
                  </a:ext>
                </a:extLst>
              </a:tr>
              <a:tr h="5011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Control burden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sz="1200">
                          <a:effectLst/>
                        </a:rPr>
                        <a:t>综合控制平滑性和饱和风险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8871391"/>
                  </a:ext>
                </a:extLst>
              </a:tr>
              <a:tr h="39233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Energy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能耗，</a:t>
                      </a:r>
                      <a:r>
                        <a:rPr lang="en-US" sz="1200" dirty="0" err="1">
                          <a:effectLst/>
                        </a:rPr>
                        <a:t>体现控制代价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7173380"/>
                  </a:ext>
                </a:extLst>
              </a:tr>
              <a:tr h="5011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Alpha relation</a:t>
                      </a:r>
                      <a:endParaRPr lang="zh-CN" sz="12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 err="1">
                          <a:effectLst/>
                        </a:rPr>
                        <a:t>说明PAC在何种状态下提高authority</a:t>
                      </a:r>
                      <a:endParaRPr lang="zh-CN" sz="12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78807927"/>
                  </a:ext>
                </a:extLst>
              </a:tr>
            </a:tbl>
          </a:graphicData>
        </a:graphic>
      </p:graphicFrame>
      <p:pic>
        <p:nvPicPr>
          <p:cNvPr id="22" name="Picture 21" descr="fig6_cost_trade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4526280"/>
            <a:ext cx="6400800" cy="245184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46720" y="19202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latin typeface="微软雅黑"/>
              </a:rPr>
              <a:t>控制质量（OOD）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饱和步占比 0.126：六方法最低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控制代价 31.9：六方法最低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配对代价效应 −1.78 [−2.31, −1.26]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准则③「不以饱和/约束换增益」的实证</a:t>
            </a:r>
          </a:p>
          <a:p>
            <a:pPr>
              <a:spcAft>
                <a:spcPts val="400"/>
              </a:spcAft>
            </a:pPr>
            <a:r>
              <a:rPr sz="1500" b="1">
                <a:latin typeface="微软雅黑"/>
              </a:rPr>
              <a:t>代价（如实报告）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ID 误差 +0.4%、艏向 +4.3%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求解超时率 0.69→0.80（基线 0.69 对所有非学习方法相同；固定 α 不变；候选解释=轨迹工作点，假设非结论）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微软雅黑"/>
              </a:rPr>
              <a:t>部署保障不受影响：回退触发 0.3–0.5%，成功率持平</a:t>
            </a:r>
          </a:p>
        </p:txBody>
      </p:sp>
    </p:spTree>
    <p:extLst>
      <p:ext uri="{BB962C8B-B14F-4D97-AF65-F5344CB8AC3E}">
        <p14:creationId xmlns:p14="http://schemas.microsoft.com/office/powerpoint/2010/main" val="396850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A5CC4-D77D-92B0-3B59-57D976431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A783DB73-FD4D-9584-3BFF-595AD135820C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C90452C-5F63-AF03-96FB-D53A7A6AA65D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6C296953-A7FC-AFA0-80B6-E8685EE859A9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3391C367-CABF-927A-89E3-295CF25B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DB4B4-22D3-4A31-61DA-1C07655F25F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5C1F27F9-AFD0-1888-1CCA-C88613DCED07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307AFF-0106-4F0B-B01B-59A34A2F3586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72F6C4C-CFB4-A212-E1BB-B9BF031C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1D3F4386-42C9-C305-F2E0-67675F803931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5AAF5F22-B46E-F7E2-4A73-FF4447059C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D011A5C9-2F6C-D111-616C-41DFEC0BFF8C}"/>
              </a:ext>
            </a:extLst>
          </p:cNvPr>
          <p:cNvSpPr txBox="1"/>
          <p:nvPr/>
        </p:nvSpPr>
        <p:spPr>
          <a:xfrm>
            <a:off x="535576" y="1948047"/>
            <a:ext cx="10978564" cy="3465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sz="1400" b="0">
                <a:latin typeface="微软雅黑"/>
              </a:rPr>
              <a:t>判定（残差相关六项注册准则）：3 过（不以艏向/饱和/约束换增益；消融可分离；五种子方向稳定）· 2 挂（整体非劣性 ID +0.4%；超时不恶化 +0.107）· 1 未评估（部署推理时延＝硬件阶段第一门槛）</a:t>
            </a:r>
          </a:p>
          <a:p>
            <a:r>
              <a:rPr sz="1400" b="0">
                <a:latin typeface="微软雅黑"/>
              </a:rPr>
              <a:t/>
            </a:r>
          </a:p>
          <a:p>
            <a:r>
              <a:rPr sz="1400" b="0">
                <a:latin typeface="微软雅黑"/>
              </a:rPr>
              <a:t>注册的下一步：① 直接 RL 对照臂（端到端 TD3 输出推进器指令）　② α∈{0, 0.25, 0.5, 0.75, 1} 常数权限扫描（信任地形）　③ 解冻最后编码器块的残差第二轮　④ 隔离超时机制　⑤ 硬件在环：十次试验 / 次序随机化 / 电压窗 / 注入式执行器退化 / 逐推理时延</a:t>
            </a:r>
          </a:p>
          <a:p>
            <a:r>
              <a:rPr sz="1400" b="0">
                <a:latin typeface="微软雅黑"/>
              </a:rPr>
              <a:t/>
            </a:r>
          </a:p>
          <a:p>
            <a:r>
              <a:rPr sz="1400" b="1">
                <a:latin typeface="微软雅黑"/>
              </a:rPr>
              <a:t>结论：残差策略以可证明的安全结构（零初始化＝基线、有界修正、固定回退）买到 OOD 鲁棒性 −28% 与执行器退化免疫（0.822→0.090 m），每一项代价与训练前冻结的准则对照测量。</a:t>
            </a:r>
          </a:p>
        </p:txBody>
      </p:sp>
    </p:spTree>
    <p:extLst>
      <p:ext uri="{BB962C8B-B14F-4D97-AF65-F5344CB8AC3E}">
        <p14:creationId xmlns:p14="http://schemas.microsoft.com/office/powerpoint/2010/main" val="1947946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感谢各位老师，恳请批评指正！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053252" y="3360568"/>
            <a:ext cx="8085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24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 YOU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自定义 270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08E"/>
      </a:accent1>
      <a:accent2>
        <a:srgbClr val="8C3A7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1442</Words>
  <Application>Microsoft Office PowerPoint</Application>
  <PresentationFormat>宽屏</PresentationFormat>
  <Paragraphs>219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等线 Light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家丞 田</cp:lastModifiedBy>
  <cp:revision>18</cp:revision>
  <dcterms:created xsi:type="dcterms:W3CDTF">2023-05-03T15:34:00Z</dcterms:created>
  <dcterms:modified xsi:type="dcterms:W3CDTF">2026-08-31T03:37:06Z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E64A04677F1149A094FCBA23A1125531_13</vt:lpwstr>
  </property>
  <property fmtid="{D5CDD505-2E9C-101B-9397-08002B2CF9AE}" pid="3" name="KSOProductBuildVer">
    <vt:lpwstr>2052-12.1.0.26375</vt:lpwstr>
  </property>
</Properties>
</file>