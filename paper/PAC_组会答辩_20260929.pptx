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9" r:id="rId3"/>
    <p:sldId id="273" r:id="rId4"/>
    <p:sldId id="274" r:id="rId5"/>
    <p:sldId id="276" r:id="rId6"/>
    <p:sldId id="275" r:id="rId7"/>
    <p:sldId id="277" r:id="rId8"/>
    <p:sldId id="27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30"/>
    <p:restoredTop sz="94694"/>
  </p:normalViewPr>
  <p:slideViewPr>
    <p:cSldViewPr snapToGrid="0">
      <p:cViewPr varScale="1">
        <p:scale>
          <a:sx n="105" d="100"/>
          <a:sy n="105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76F9D-7DCF-264B-ADCB-B7A67878F215}" type="datetimeFigureOut">
              <a:rPr kumimoji="1" lang="zh-CN" altLang="en-US" smtClean="0"/>
              <a:t>2026/9/29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712C0-FBCD-324F-BF1D-38904C6C270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829853"/>
            <a:ext cx="12192002" cy="248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9363" y="2276306"/>
            <a:ext cx="10873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  <a:p>
            <a:pPr algn="ctr"/>
            <a:endParaRPr kumimoji="1" lang="zh-CN" altLang="en-US" sz="48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64087" y="4869701"/>
            <a:ext cx="206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姓名：田家丞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755396" y="481923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5064087" y="5525421"/>
            <a:ext cx="2491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2026年9月29日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4755396" y="547495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89" y="646772"/>
            <a:ext cx="2918422" cy="9107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D924-16A0-40C4-F768-5CEB0176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AC562B26-6BC8-1F52-6182-B253D3DFE06A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FAA6D7-6E9A-983C-DF4C-8FFB83938285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A5F0243-6D88-0BCA-DF4F-6E53EF020048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B9668A71-FF02-4FC5-953C-86E67E8A4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1C502A-9196-6009-9183-43BF7770750D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2B6BCB32-A5C8-8ADD-C4EB-B2F7165DD23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8C4321B-0411-C983-20C8-CAAB4EF8CA40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0315DA0-FDB2-78D3-D8F0-7DC06048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049CA9E-A0C6-7292-FBD3-1EA9CA17C35C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16B72F85-98C1-139A-8712-A92878639B9B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 descr="fig1_system_architecture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8138160" cy="45801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69680" y="1737360"/>
            <a:ext cx="31089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 err="1">
                <a:latin typeface="微软雅黑"/>
              </a:rPr>
              <a:t>读图要点</a:t>
            </a:r>
            <a:endParaRPr sz="1600" b="1" dirty="0"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编码器冻结</a:t>
            </a:r>
            <a:r>
              <a:rPr sz="1300" b="0" dirty="0">
                <a:latin typeface="微软雅黑"/>
              </a:rPr>
              <a:t>（❄ 14,113 </a:t>
            </a:r>
            <a:r>
              <a:rPr sz="1300" b="0" dirty="0" err="1">
                <a:latin typeface="微软雅黑"/>
              </a:rPr>
              <a:t>参数</a:t>
            </a:r>
            <a:r>
              <a:rPr sz="1300" b="0" dirty="0">
                <a:latin typeface="微软雅黑"/>
              </a:rPr>
              <a:t>）；</a:t>
            </a:r>
            <a:r>
              <a:rPr sz="1300" b="0" dirty="0" err="1">
                <a:latin typeface="微软雅黑"/>
              </a:rPr>
              <a:t>残差头可训练</a:t>
            </a:r>
            <a:r>
              <a:rPr sz="1300" b="0" dirty="0">
                <a:latin typeface="微软雅黑"/>
              </a:rPr>
              <a:t>（▲ 2,177 </a:t>
            </a:r>
            <a:r>
              <a:rPr sz="1300" b="0" dirty="0" err="1">
                <a:latin typeface="微软雅黑"/>
              </a:rPr>
              <a:t>参数、零初始化</a:t>
            </a:r>
            <a:r>
              <a:rPr sz="1300" b="0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>
                <a:latin typeface="微软雅黑"/>
              </a:rPr>
              <a:t>α_t = clip[0,1](α̂_t + Δα_t)：</a:t>
            </a:r>
            <a:r>
              <a:rPr sz="1300" b="0" dirty="0" err="1">
                <a:latin typeface="微软雅黑"/>
              </a:rPr>
              <a:t>学习只修正信任，不产生指令</a:t>
            </a:r>
            <a:endParaRPr sz="1300" b="0" dirty="0"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底部安全条带：有界</a:t>
            </a:r>
            <a:r>
              <a:rPr sz="1300" b="0" dirty="0">
                <a:latin typeface="微软雅黑"/>
              </a:rPr>
              <a:t> Δα → clip/</a:t>
            </a:r>
            <a:r>
              <a:rPr sz="1300" b="0" dirty="0" err="1">
                <a:latin typeface="微软雅黑"/>
              </a:rPr>
              <a:t>平滑</a:t>
            </a:r>
            <a:r>
              <a:rPr sz="1300" b="0" dirty="0">
                <a:latin typeface="微软雅黑"/>
              </a:rPr>
              <a:t>/</a:t>
            </a:r>
            <a:r>
              <a:rPr sz="1300" b="0" dirty="0" err="1">
                <a:latin typeface="微软雅黑"/>
              </a:rPr>
              <a:t>率限</a:t>
            </a:r>
            <a:r>
              <a:rPr sz="1300" b="0" dirty="0">
                <a:latin typeface="微软雅黑"/>
              </a:rPr>
              <a:t> → </a:t>
            </a:r>
            <a:r>
              <a:rPr sz="1300" b="0" dirty="0" err="1">
                <a:latin typeface="微软雅黑"/>
              </a:rPr>
              <a:t>强制主控</a:t>
            </a:r>
            <a:r>
              <a:rPr sz="1300" b="0" dirty="0">
                <a:latin typeface="微软雅黑"/>
              </a:rPr>
              <a:t> → </a:t>
            </a:r>
            <a:r>
              <a:rPr sz="1300" b="0" dirty="0" err="1">
                <a:latin typeface="微软雅黑"/>
              </a:rPr>
              <a:t>数值回退</a:t>
            </a:r>
            <a:endParaRPr sz="1300" b="0" dirty="0"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42094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A7E7E-6A62-015B-4DC4-ACEFA942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FEA6314-D1D6-BF34-FE8D-64475CBCCF9C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93EB51-E7E3-9D32-6117-B1A630E3F434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1551740-04D7-266B-C718-4F38F889444D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D17A71D7-C763-F1D6-C1E4-2D1CA33D9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CBC1D74-0142-4489-BC4D-A1398965DDDF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6BFD928A-E9BB-B8B1-8FED-C8168FEB9866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3AEBB9-C11C-704B-628B-A5CE47250016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663262A-C245-24C5-162A-899C0D1A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F43D236-915B-500F-F1B7-A50422C95CB0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1F0D2FAA-1E03-8BAD-5520-9DA5B0F66D77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51BDECF-88A3-9EC9-E276-1F75FD4FB66A}"/>
              </a:ext>
            </a:extLst>
          </p:cNvPr>
          <p:cNvSpPr txBox="1"/>
          <p:nvPr/>
        </p:nvSpPr>
        <p:spPr>
          <a:xfrm>
            <a:off x="0" y="1244052"/>
            <a:ext cx="10978564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网络架构与两阶段训练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97A8AD-F3F4-A3C9-7222-8FB7935D6973}"/>
              </a:ext>
            </a:extLst>
          </p:cNvPr>
          <p:cNvSpPr txBox="1"/>
          <p:nvPr/>
        </p:nvSpPr>
        <p:spPr>
          <a:xfrm>
            <a:off x="281980" y="1600200"/>
            <a:ext cx="86391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编码器 16×24 历史 → 嵌入 32 → 单层 4 头 Transformer → α̂；残差头 32→64→GELU→1（零初始化）输出 Δα。第一阶段模仿短视界 oracle（18,900 样本）；第二阶段仅训练残差头（TD3 + 行为正则 + 2×10⁵ 热启动，训练种子与评估种子严格分区）。</a:t>
            </a:r>
          </a:p>
        </p:txBody>
      </p:sp>
      <p:pic>
        <p:nvPicPr>
          <p:cNvPr id="24" name="Picture 23" descr="fig_network_training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" y="2432643"/>
            <a:ext cx="7223760" cy="40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00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DD7E-57C2-E5D2-C0A5-FACB1BE7B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477257A-DE91-568B-729F-653178A889ED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788532-0E31-1AFE-ED41-C645C929C4A4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E960C35-0855-3D1E-28E4-548200A1CDAA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9699A36E-A519-E247-561D-17FD67FF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FA5F5BE-1278-FE23-EC15-6169BC7E7118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D3E1E1D8-564F-7ED8-C4AD-AA4535682BEF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62D478-33C1-0F6B-FBB2-F3EC769744B1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A9DA9CE-F44F-1914-6C93-B8F67DF36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FB36BF18-01CF-3752-825B-36433DDD0726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E9B0FC13-6585-B6AB-49E7-AFA949D4BD37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BE75F6E-FF58-DF4B-8189-4535D0A5CE03}"/>
              </a:ext>
            </a:extLst>
          </p:cNvPr>
          <p:cNvSpPr txBox="1"/>
          <p:nvPr/>
        </p:nvSpPr>
        <p:spPr>
          <a:xfrm>
            <a:off x="0" y="1244052"/>
            <a:ext cx="12192000" cy="100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运动层证据：航行器实际如何运动。左：三维路径/水平投影/垂向误差（列=ID 正弦海流、OOD 执行器退化；检查前固定的保留种子）。右：位置误差/艏向误差/俯仰角时序——退化下 MPC 发散随回合增长（持续错误的内部模型），残差策略两工况都贴近参考。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三种场景以时间序列方式展示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3D position RMSE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、姿态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航向角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RMSE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以及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PAC authority alpha 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fig3_error_attit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377440"/>
            <a:ext cx="5669280" cy="450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69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A0441-EA06-4E24-2918-3DBE6B46B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21B98F4-6860-F7AB-A5B0-A572977C642A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23D5A0C-0E1D-9CD3-A4EA-361BADB1BB93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801BAB0-F78C-0F8D-EDC9-6834E2988A03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45A8A10B-29FC-7708-10A0-FC5D0B20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FF1267-FADB-B511-3E63-AAF28A874452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791FE1B2-ADFF-A5C2-5D2E-B2F1D853127A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219C034-A9DF-0377-93A7-1BD9A49DF3DF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AF03AC-440B-8A5C-05B8-96E98E083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2D3FC6B-C93D-3836-17E0-DB68A65D34C5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30DAF14F-2B4A-5528-0852-D1A4EB777969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BB1E977-B0AD-F74F-603A-1877B0DB5392}"/>
              </a:ext>
            </a:extLst>
          </p:cNvPr>
          <p:cNvSpPr txBox="1"/>
          <p:nvPr/>
        </p:nvSpPr>
        <p:spPr>
          <a:xfrm>
            <a:off x="0" y="1244052"/>
            <a:ext cx="10978564" cy="118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主结果：OOD 跟踪 RMSE 0.161→0.116 m（−28%，CI [−0.074, −0.015]；回合级自助法一致）。最尖锐的读法对我们不利：固定 α=0.5 达 0.120 m，相差不足 3%——残差的价值集中在最需要自适应处：执行器退化族较固定混合再降 28%。分布内代价 +0.4% / 艏向 +4.3%，如实报告。</a:t>
            </a:r>
          </a:p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图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进一步展示了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3D tracking error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3D attitude error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与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authority alpha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之间的关系。点的颜色表示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PAC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分配给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MPC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侧控制器的权重大小，因此该图可以说明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是根据当前误差状态动态调整控制权重。</a:t>
            </a:r>
          </a:p>
        </p:txBody>
      </p:sp>
      <p:pic>
        <p:nvPicPr>
          <p:cNvPr id="22" name="Picture 21" descr="fig4_closed_loop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88" y="2935224"/>
            <a:ext cx="8595360" cy="43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6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0BCE-D83E-E439-8FD8-B2E7E54CA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1B4E730-23DC-247B-072A-D9FC2C2380D9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5B7DFF-DA23-A5E7-A479-248A1FF205E1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3AD2212-D4FB-ADF2-84FB-65FB283DF901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252E9749-CC34-ADF4-AD54-9573D563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18C2A02-AD55-38D3-6BFC-0D4B624F7893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06D57195-9104-0907-5C78-7F6580B3BD6E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B0CBB9C-EFE9-DF5A-2B02-E8D255F3C794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9F281FC-86E9-182F-CB61-958B80B2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5332538-A239-8157-2824-B0E2E021044B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E7622435-B449-9F02-BBE9-05C97CD13769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3581C97-548E-5FD2-DA57-FC354C2E6F75}"/>
              </a:ext>
            </a:extLst>
          </p:cNvPr>
          <p:cNvSpPr txBox="1"/>
          <p:nvPr/>
        </p:nvSpPr>
        <p:spPr>
          <a:xfrm>
            <a:off x="0" y="1244052"/>
            <a:ext cx="10978564" cy="137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机制：残差学到的不是新调度，而是「否决」监督策略的越界。退化发生后数秒内监督策略把 α 推过 0.9 并振荡（31.2% 步数、std 0.331）；残差策略 97.0% 的步数稳在 [0.4, 0.6]。c 面板：全部 35 个 OOD 回合 × 5 种子的逐回合平均权限箱线图——监督 0.82±0.14（P10–P90 0.62–0.93）对残差 0.54±0.03，全部残差回合落在 [0.48, 0.62]。</a:t>
            </a:r>
          </a:p>
        </p:txBody>
      </p:sp>
      <p:pic>
        <p:nvPicPr>
          <p:cNvPr id="22" name="Picture 21" descr="fig5_actuator_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2782715"/>
            <a:ext cx="5577840" cy="3848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3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22F0-4403-5019-B44C-8031920A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CE81ED8-1D53-32F6-729E-D972F9AB280A}"/>
              </a:ext>
            </a:extLst>
          </p:cNvPr>
          <p:cNvSpPr txBox="1"/>
          <p:nvPr/>
        </p:nvSpPr>
        <p:spPr>
          <a:xfrm>
            <a:off x="10461848" y="299500"/>
            <a:ext cx="119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读研展望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8933EB-556D-5C92-348F-DFE102019004}"/>
              </a:ext>
            </a:extLst>
          </p:cNvPr>
          <p:cNvSpPr txBox="1"/>
          <p:nvPr/>
        </p:nvSpPr>
        <p:spPr>
          <a:xfrm>
            <a:off x="2875146" y="179975"/>
            <a:ext cx="1336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个人简介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99DC40D-3996-3104-9C0B-4A0A99CD8EF4}"/>
              </a:ext>
            </a:extLst>
          </p:cNvPr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6" name="灯片编号占位符 18">
            <a:extLst>
              <a:ext uri="{FF2B5EF4-FFF2-40B4-BE49-F238E27FC236}">
                <a16:creationId xmlns:a16="http://schemas.microsoft.com/office/drawing/2014/main" id="{A107A04B-76C8-5AFC-4EBB-E9D4BBA9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5B719C-CD0F-52C2-963B-0E21C37DA80F}"/>
              </a:ext>
            </a:extLst>
          </p:cNvPr>
          <p:cNvSpPr txBox="1"/>
          <p:nvPr/>
        </p:nvSpPr>
        <p:spPr>
          <a:xfrm>
            <a:off x="5032257" y="179975"/>
            <a:ext cx="198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spc="1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本科经历</a:t>
            </a:r>
          </a:p>
        </p:txBody>
      </p:sp>
      <p:sp>
        <p:nvSpPr>
          <p:cNvPr id="3" name="任意形状 2">
            <a:extLst>
              <a:ext uri="{FF2B5EF4-FFF2-40B4-BE49-F238E27FC236}">
                <a16:creationId xmlns:a16="http://schemas.microsoft.com/office/drawing/2014/main" id="{AA1B0154-BA93-8DC0-0011-69A77E8AB2B3}"/>
              </a:ext>
            </a:extLst>
          </p:cNvPr>
          <p:cNvSpPr/>
          <p:nvPr/>
        </p:nvSpPr>
        <p:spPr>
          <a:xfrm>
            <a:off x="0" y="0"/>
            <a:ext cx="9896847" cy="662946"/>
          </a:xfrm>
          <a:custGeom>
            <a:avLst/>
            <a:gdLst>
              <a:gd name="connsiteX0" fmla="*/ 0 w 8681972"/>
              <a:gd name="connsiteY0" fmla="*/ 0 h 689675"/>
              <a:gd name="connsiteX1" fmla="*/ 8681972 w 8681972"/>
              <a:gd name="connsiteY1" fmla="*/ 0 h 689675"/>
              <a:gd name="connsiteX2" fmla="*/ 8461124 w 8681972"/>
              <a:gd name="connsiteY2" fmla="*/ 344837 h 689675"/>
              <a:gd name="connsiteX3" fmla="*/ 8681972 w 8681972"/>
              <a:gd name="connsiteY3" fmla="*/ 689675 h 689675"/>
              <a:gd name="connsiteX4" fmla="*/ 0 w 8681972"/>
              <a:gd name="connsiteY4" fmla="*/ 689675 h 689675"/>
              <a:gd name="connsiteX5" fmla="*/ 0 w 8681972"/>
              <a:gd name="connsiteY5" fmla="*/ 0 h 68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81972" h="689675">
                <a:moveTo>
                  <a:pt x="0" y="0"/>
                </a:moveTo>
                <a:lnTo>
                  <a:pt x="8681972" y="0"/>
                </a:lnTo>
                <a:lnTo>
                  <a:pt x="8461124" y="344837"/>
                </a:lnTo>
                <a:lnTo>
                  <a:pt x="8681972" y="689675"/>
                </a:lnTo>
                <a:lnTo>
                  <a:pt x="0" y="689675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BD9A79-A430-194C-C533-E3D3E199945E}"/>
              </a:ext>
            </a:extLst>
          </p:cNvPr>
          <p:cNvSpPr txBox="1"/>
          <p:nvPr/>
        </p:nvSpPr>
        <p:spPr>
          <a:xfrm>
            <a:off x="281981" y="79754"/>
            <a:ext cx="933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en-US" altLang="zh-CN" sz="1400" dirty="0"/>
              <a:t>Predictive Authority Control: Learning When and How Much to Trust Baseline Controllers for Robust Underwater Robot Tracking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2A304A-AD85-AC64-74CA-775631B8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441" y="54734"/>
            <a:ext cx="1773578" cy="55347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6CB09E4-3A8F-B088-E31E-2C237030CEF7}"/>
              </a:ext>
            </a:extLst>
          </p:cNvPr>
          <p:cNvSpPr txBox="1"/>
          <p:nvPr/>
        </p:nvSpPr>
        <p:spPr>
          <a:xfrm>
            <a:off x="0" y="738435"/>
            <a:ext cx="125013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en-US" altLang="zh-CN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</a:t>
            </a:r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：面向水下机器人鲁棒跟踪的基线控制器时序信任权重学习</a:t>
            </a:r>
          </a:p>
        </p:txBody>
      </p:sp>
      <p:cxnSp>
        <p:nvCxnSpPr>
          <p:cNvPr id="21" name="直线连接符 12">
            <a:extLst>
              <a:ext uri="{FF2B5EF4-FFF2-40B4-BE49-F238E27FC236}">
                <a16:creationId xmlns:a16="http://schemas.microsoft.com/office/drawing/2014/main" id="{F4AE35B9-76E6-250D-A377-84761F1C9326}"/>
              </a:ext>
            </a:extLst>
          </p:cNvPr>
          <p:cNvCxnSpPr/>
          <p:nvPr/>
        </p:nvCxnSpPr>
        <p:spPr>
          <a:xfrm>
            <a:off x="908" y="1167007"/>
            <a:ext cx="109785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311AEC22-0384-F7A9-397D-54F98CAFD13D}"/>
              </a:ext>
            </a:extLst>
          </p:cNvPr>
          <p:cNvSpPr txBox="1"/>
          <p:nvPr/>
        </p:nvSpPr>
        <p:spPr>
          <a:xfrm>
            <a:off x="0" y="1244052"/>
            <a:ext cx="10978564" cy="362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kumimoji="1" sz="44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342900" indent="-342900" algn="l">
              <a:lnSpc>
                <a:spcPct val="120000"/>
              </a:lnSpc>
              <a:buClr>
                <a:schemeClr val="accent1"/>
              </a:buClr>
              <a:buSzPct val="80000"/>
              <a:buFont typeface="Wingdings" panose="05000000000000000000" pitchFamily="2" charset="2"/>
              <a:buChar char="p"/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控制质量与代价：增益不是靠执行器滥用换来的</a:t>
            </a:r>
          </a:p>
        </p:txBody>
      </p:sp>
      <p:pic>
        <p:nvPicPr>
          <p:cNvPr id="22" name="Picture 21" descr="fig6_cost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9729" y="2450592"/>
            <a:ext cx="8003431" cy="32403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46720" y="192024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 err="1">
                <a:latin typeface="微软雅黑"/>
              </a:rPr>
              <a:t>控制质量（OOD</a:t>
            </a:r>
            <a:r>
              <a:rPr sz="1500" b="1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饱和步占比</a:t>
            </a:r>
            <a:r>
              <a:rPr sz="1300" b="0" dirty="0">
                <a:latin typeface="微软雅黑"/>
              </a:rPr>
              <a:t> 0.126：六方法最低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控制代价</a:t>
            </a:r>
            <a:r>
              <a:rPr sz="1300" b="0" dirty="0">
                <a:latin typeface="微软雅黑"/>
              </a:rPr>
              <a:t> 31.9：六方法最低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配对代价效应</a:t>
            </a:r>
            <a:r>
              <a:rPr sz="1300" b="0" dirty="0">
                <a:latin typeface="微软雅黑"/>
              </a:rPr>
              <a:t> −1.78 [−2.31, −1.26]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准则</a:t>
            </a:r>
            <a:r>
              <a:rPr sz="1300" b="0" dirty="0">
                <a:latin typeface="微软雅黑"/>
              </a:rPr>
              <a:t>③「</a:t>
            </a:r>
            <a:r>
              <a:rPr sz="1300" b="0" dirty="0" err="1">
                <a:latin typeface="微软雅黑"/>
              </a:rPr>
              <a:t>不以饱和</a:t>
            </a:r>
            <a:r>
              <a:rPr sz="1300" b="0" dirty="0">
                <a:latin typeface="微软雅黑"/>
              </a:rPr>
              <a:t>/</a:t>
            </a:r>
            <a:r>
              <a:rPr sz="1300" b="0" dirty="0" err="1">
                <a:latin typeface="微软雅黑"/>
              </a:rPr>
              <a:t>约束换增益」的实证</a:t>
            </a:r>
            <a:endParaRPr sz="1300" b="0" dirty="0">
              <a:latin typeface="微软雅黑"/>
            </a:endParaRPr>
          </a:p>
          <a:p>
            <a:pPr>
              <a:spcAft>
                <a:spcPts val="400"/>
              </a:spcAft>
            </a:pPr>
            <a:r>
              <a:rPr sz="1500" b="1" dirty="0" err="1">
                <a:latin typeface="微软雅黑"/>
              </a:rPr>
              <a:t>代价（如实报告</a:t>
            </a:r>
            <a:r>
              <a:rPr sz="1500" b="1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>
                <a:latin typeface="微软雅黑"/>
              </a:rPr>
              <a:t>ID </a:t>
            </a:r>
            <a:r>
              <a:rPr sz="1300" b="0" dirty="0" err="1">
                <a:latin typeface="微软雅黑"/>
              </a:rPr>
              <a:t>误差</a:t>
            </a:r>
            <a:r>
              <a:rPr sz="1300" b="0" dirty="0">
                <a:latin typeface="微软雅黑"/>
              </a:rPr>
              <a:t> +0.4%、</a:t>
            </a:r>
            <a:r>
              <a:rPr sz="1300" b="0" dirty="0" err="1">
                <a:latin typeface="微软雅黑"/>
              </a:rPr>
              <a:t>艏向</a:t>
            </a:r>
            <a:r>
              <a:rPr sz="1300" b="0" dirty="0">
                <a:latin typeface="微软雅黑"/>
              </a:rPr>
              <a:t> +4.3%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求解超时率</a:t>
            </a:r>
            <a:r>
              <a:rPr sz="1300" b="0" dirty="0">
                <a:latin typeface="微软雅黑"/>
              </a:rPr>
              <a:t> 0.69→0.80（基线 0.69 </a:t>
            </a:r>
            <a:r>
              <a:rPr sz="1300" b="0" dirty="0" err="1">
                <a:latin typeface="微软雅黑"/>
              </a:rPr>
              <a:t>对所有非学习方法相同；固定</a:t>
            </a:r>
            <a:r>
              <a:rPr sz="1300" b="0" dirty="0">
                <a:latin typeface="微软雅黑"/>
              </a:rPr>
              <a:t> α </a:t>
            </a:r>
            <a:r>
              <a:rPr sz="1300" b="0" dirty="0" err="1">
                <a:latin typeface="微软雅黑"/>
              </a:rPr>
              <a:t>不变；候选解释</a:t>
            </a:r>
            <a:r>
              <a:rPr sz="1300" b="0" dirty="0">
                <a:latin typeface="微软雅黑"/>
              </a:rPr>
              <a:t>=</a:t>
            </a:r>
            <a:r>
              <a:rPr sz="1300" b="0" dirty="0" err="1">
                <a:latin typeface="微软雅黑"/>
              </a:rPr>
              <a:t>轨迹工作点，假设非结论</a:t>
            </a:r>
            <a:r>
              <a:rPr sz="1300" b="0" dirty="0">
                <a:latin typeface="微软雅黑"/>
              </a:rPr>
              <a:t>）</a:t>
            </a:r>
          </a:p>
          <a:p>
            <a:pPr>
              <a:spcAft>
                <a:spcPts val="400"/>
              </a:spcAft>
            </a:pPr>
            <a:r>
              <a:rPr sz="1300" b="0" dirty="0" err="1">
                <a:latin typeface="微软雅黑"/>
              </a:rPr>
              <a:t>部署保障不受影响：回退触发</a:t>
            </a:r>
            <a:r>
              <a:rPr sz="1300" b="0" dirty="0">
                <a:latin typeface="微软雅黑"/>
              </a:rPr>
              <a:t> 0.3–0.5%，</a:t>
            </a:r>
            <a:r>
              <a:rPr sz="1300" b="0" dirty="0" err="1">
                <a:latin typeface="微软雅黑"/>
              </a:rPr>
              <a:t>成功率持平</a:t>
            </a:r>
            <a:endParaRPr sz="1300" b="0" dirty="0">
              <a:latin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68508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1829853"/>
            <a:ext cx="12192002" cy="248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9363" y="2276306"/>
            <a:ext cx="108732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8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感谢各位老师，恳请批评指正！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53252" y="3360568"/>
            <a:ext cx="8085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zh-CN" sz="2400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 YOU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64087" y="4869701"/>
            <a:ext cx="2063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spc="3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姓名：田家丞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4755396" y="4819233"/>
            <a:ext cx="2681207" cy="43943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1">
                <a:alpha val="6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1750347" y="6411598"/>
            <a:ext cx="289344" cy="289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  <p:sp>
        <p:nvSpPr>
          <p:cNvPr id="13" name="灯片编号占位符 18"/>
          <p:cNvSpPr>
            <a:spLocks noGrp="1"/>
          </p:cNvSpPr>
          <p:nvPr>
            <p:ph type="sldNum" sz="quarter" idx="12"/>
          </p:nvPr>
        </p:nvSpPr>
        <p:spPr>
          <a:xfrm>
            <a:off x="11619554" y="6373707"/>
            <a:ext cx="550930" cy="365125"/>
          </a:xfrm>
        </p:spPr>
        <p:txBody>
          <a:bodyPr/>
          <a:lstStyle/>
          <a:p>
            <a:pPr algn="ctr"/>
            <a:fld id="{D290E156-FAFE-5144-A047-A692DE980B3A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789" y="646772"/>
            <a:ext cx="2918422" cy="9107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270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3408E"/>
      </a:accent1>
      <a:accent2>
        <a:srgbClr val="8C3A7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876</Words>
  <Application>Microsoft Office PowerPoint</Application>
  <PresentationFormat>宽屏</PresentationFormat>
  <Paragraphs>65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家丞 田</cp:lastModifiedBy>
  <cp:revision>19</cp:revision>
  <dcterms:created xsi:type="dcterms:W3CDTF">2023-05-03T15:34:00Z</dcterms:created>
  <dcterms:modified xsi:type="dcterms:W3CDTF">2026-09-29T04:29:02Z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E64A04677F1149A094FCBA23A1125531_13</vt:lpwstr>
  </property>
  <property fmtid="{D5CDD505-2E9C-101B-9397-08002B2CF9AE}" pid="3" name="KSOProductBuildVer">
    <vt:lpwstr>2052-12.1.0.26375</vt:lpwstr>
  </property>
</Properties>
</file>