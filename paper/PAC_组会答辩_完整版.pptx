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79" r:id="rId3"/>
    <p:sldId id="273" r:id="rId4"/>
    <p:sldId id="291" r:id="rId5"/>
    <p:sldId id="292" r:id="rId6"/>
    <p:sldId id="293" r:id="rId7"/>
    <p:sldId id="294" r:id="rId8"/>
    <p:sldId id="295" r:id="rId9"/>
    <p:sldId id="296" r:id="rId10"/>
    <p:sldId id="297" r:id="rId11"/>
    <p:sldId id="298" r:id="rId12"/>
    <p:sldId id="299" r:id="rId13"/>
    <p:sldId id="300" r:id="rId14"/>
    <p:sldId id="274" r:id="rId15"/>
    <p:sldId id="276" r:id="rId16"/>
    <p:sldId id="275" r:id="rId17"/>
    <p:sldId id="277" r:id="rId18"/>
    <p:sldId id="272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730"/>
    <p:restoredTop sz="94694"/>
  </p:normalViewPr>
  <p:slideViewPr>
    <p:cSldViewPr snapToGrid="0">
      <p:cViewPr varScale="1">
        <p:scale>
          <a:sx n="105" d="100"/>
          <a:sy n="105" d="100"/>
        </p:scale>
        <p:origin x="84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1829853"/>
            <a:ext cx="12192002" cy="24858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659363" y="2276306"/>
            <a:ext cx="1087327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800" b="1" spc="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4800" b="1" spc="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  <a:p>
            <a:pPr algn="ctr"/>
            <a:endParaRPr kumimoji="1" lang="zh-CN" altLang="en-US" sz="4800" b="1" spc="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5064087" y="4869701"/>
            <a:ext cx="20638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姓名：田家丞</a:t>
            </a:r>
          </a:p>
        </p:txBody>
      </p:sp>
      <p:sp>
        <p:nvSpPr>
          <p:cNvPr id="15" name="圆角矩形 14"/>
          <p:cNvSpPr/>
          <p:nvPr/>
        </p:nvSpPr>
        <p:spPr>
          <a:xfrm>
            <a:off x="4755396" y="4819233"/>
            <a:ext cx="2681207" cy="43943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accent1">
                <a:alpha val="62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5064087" y="5525421"/>
            <a:ext cx="24911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2026年9月29日</a:t>
            </a:r>
          </a:p>
        </p:txBody>
      </p:sp>
      <p:sp>
        <p:nvSpPr>
          <p:cNvPr id="17" name="圆角矩形 16"/>
          <p:cNvSpPr/>
          <p:nvPr/>
        </p:nvSpPr>
        <p:spPr>
          <a:xfrm>
            <a:off x="4755396" y="5474953"/>
            <a:ext cx="2681207" cy="43943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accent1">
                <a:alpha val="62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椭圆 11"/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3" name="灯片编号占位符 18"/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789" y="646772"/>
            <a:ext cx="2918422" cy="9107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3D924-16A0-40C4-F768-5CEB01767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AC562B26-6BC8-1F52-6182-B253D3DFE06A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CFAA6D7-6E9A-983C-DF4C-8FFB83938285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0A5F0243-6D88-0BCA-DF4F-6E53EF020048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B9668A71-FF02-4FC5-953C-86E67E8A4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11C502A-9196-6009-9183-43BF7770750D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2B6BCB32-A5C8-8ADD-C4EB-B2F7165DD23A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8C4321B-0411-C983-20C8-CAAB4EF8CA40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60315DA0-FDB2-78D3-D8F0-7DC0604890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4049CA9E-A0C6-7292-FBD3-1EA9CA17C35C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16B72F85-98C1-139A-8712-A92878639B9B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Picture 21" descr="fig1_system_architecture_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04399"/>
            <a:ext cx="8138160" cy="4580149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566B4382-33B4-E726-9413-C862BC39CCE6}"/>
              </a:ext>
            </a:extLst>
          </p:cNvPr>
          <p:cNvSpPr txBox="1"/>
          <p:nvPr/>
        </p:nvSpPr>
        <p:spPr>
          <a:xfrm>
            <a:off x="8132583" y="1614380"/>
            <a:ext cx="3977715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 err="1">
                <a:solidFill>
                  <a:srgbClr val="000000"/>
                </a:solidFill>
                <a:effectLst/>
                <a:latin typeface="宋体" panose="02010600030101010101" pitchFamily="2" charset="-122"/>
                <a:cs typeface="Times New Roman" panose="02020603050405020304" pitchFamily="18" charset="0"/>
              </a:rPr>
              <a:t>自主水下航行器支撑海洋观测、生态监测、基础设施检查与干预作业，但这些任务要求在不确定且时变的海流下精确运动</a:t>
            </a:r>
            <a:r>
              <a:rPr lang="en-US" altLang="zh-CN" sz="1800" dirty="0">
                <a:solidFill>
                  <a:srgbClr val="000000"/>
                </a:solidFill>
                <a:effectLst/>
                <a:latin typeface="宋体" panose="02010600030101010101" pitchFamily="2" charset="-122"/>
                <a:cs typeface="Times New Roman" panose="02020603050405020304" pitchFamily="18" charset="0"/>
              </a:rPr>
              <a:t>。</a:t>
            </a:r>
            <a:r>
              <a:rPr lang="zh-CN" altLang="zh-CN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滑模控制（</a:t>
            </a:r>
            <a:r>
              <a:rPr lang="en-US" altLang="zh-CN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SMC</a:t>
            </a:r>
            <a:r>
              <a:rPr lang="zh-CN" altLang="zh-CN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）提供显式的扰动抑制结构，但可能以跟踪精度换取保守或非平滑动作。模型预测控制（</a:t>
            </a:r>
            <a:r>
              <a:rPr lang="en-US" altLang="zh-CN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MPC</a:t>
            </a:r>
            <a:r>
              <a:rPr lang="zh-CN" altLang="zh-CN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预见运动与执行器限制，但其优势依赖运行工况和预测模型的质量。直接强化学习策略可通过交互适应，但必须学习完整的执行器映射并承担巨大的验证与部署负担。这些方法都没有直接回答一个更简单的問題：当两个完整的控制器可用时，当前时刻应当赋予各自多少权限？我们引入预测权限控制（</a:t>
            </a:r>
            <a:r>
              <a:rPr lang="en-US" altLang="zh-CN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PAC</a:t>
            </a:r>
            <a:r>
              <a:rPr lang="zh-CN" altLang="zh-CN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），它学习这种时序分配而非替代控制器。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42094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A7E7E-6A62-015B-4DC4-ACEFA9428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2FEA6314-D1D6-BF34-FE8D-64475CBCCF9C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A93EB51-E7E3-9D32-6117-B1A630E3F434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D1551740-04D7-266B-C718-4F38F889444D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D17A71D7-C763-F1D6-C1E4-2D1CA33D9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CBC1D74-0142-4489-BC4D-A1398965DDDF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6BFD928A-E9BB-B8B1-8FED-C8168FEB9866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473AEBB9-C11C-704B-628B-A5CE47250016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5663262A-C245-24C5-162A-899C0D1A7C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CF43D236-915B-500F-F1B7-A50422C95CB0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1F0D2FAA-1E03-8BAD-5520-9DA5B0F66D77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0" y="1280160"/>
            <a:ext cx="12161520" cy="379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800" b="1" dirty="0" err="1">
                <a:solidFill>
                  <a:srgbClr val="514D83"/>
                </a:solidFill>
                <a:latin typeface="微软雅黑"/>
              </a:rPr>
              <a:t>网络架构：Transformer</a:t>
            </a:r>
            <a:endParaRPr sz="1800" b="1" dirty="0">
              <a:solidFill>
                <a:srgbClr val="514D83"/>
              </a:solidFill>
              <a:latin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7432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514D83"/>
                </a:solidFill>
                <a:latin typeface="微软雅黑"/>
              </a:rPr>
              <a:t>24 维特征 = 每个控制步的「体检报告」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274320" y="2286000"/>
          <a:ext cx="5303519" cy="2706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6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52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608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608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r>
                        <a:rPr sz="1000" b="1">
                          <a:latin typeface="微软雅黑"/>
                        </a:rPr>
                        <a:t>特征组（变量名）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6262E"/>
                          </a:solidFill>
                          <a:latin typeface="微软雅黑"/>
                        </a:rPr>
                        <a:t>维数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6262E"/>
                          </a:solidFill>
                          <a:latin typeface="微软雅黑"/>
                        </a:rPr>
                        <a:t>测量什么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6262E"/>
                          </a:solidFill>
                          <a:latin typeface="微软雅黑"/>
                        </a:rPr>
                        <a:t>为什么重要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1000" b="0">
                          <a:latin typeface="微软雅黑"/>
                        </a:rPr>
                        <a:t>位置误差 e_pos</a:t>
                      </a:r>
                    </a:p>
                    <a:p>
                      <a:r>
                        <a:rPr sz="1000" b="0">
                          <a:latin typeface="微软雅黑"/>
                        </a:rPr>
                        <a:t>(3D x/y/z + 范数)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3+1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x/y/z 偏离目标多远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+ 总偏差距离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偏得越远，越需要果断的控制器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1000" b="0">
                          <a:latin typeface="微软雅黑"/>
                        </a:rPr>
                        <a:t>体速度 ν</a:t>
                      </a:r>
                    </a:p>
                    <a:p>
                      <a:r>
                        <a:rPr sz="1000" b="0">
                          <a:latin typeface="微软雅黑"/>
                        </a:rPr>
                        <a:t>(3D u/v/w + 范数)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3+1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当前前进/横移/升降速度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+ 总速度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速度反映运动趋势（在加速？在恢复？）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1000" b="0">
                          <a:latin typeface="微软雅黑"/>
                        </a:rPr>
                        <a:t>SMC 指令 u_SMC</a:t>
                      </a:r>
                    </a:p>
                    <a:p>
                      <a:r>
                        <a:rPr sz="1000" b="0">
                          <a:latin typeface="微软雅黑"/>
                        </a:rPr>
                        <a:t>(3D推杆+范数+最大)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3+2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SMC 建议的前 3 个推杆值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+ 总力度 + 最大分量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看 SMC 当前想做什么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1000" b="0">
                          <a:latin typeface="微软雅黑"/>
                        </a:rPr>
                        <a:t>SMC 饱和率 ρ_sat</a:t>
                      </a:r>
                    </a:p>
                    <a:p>
                      <a:r>
                        <a:rPr sz="1000" b="0">
                          <a:latin typeface="微软雅黑"/>
                        </a:rPr>
                        <a:t>(1 维)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SMC 指令接近满功率的比例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SMC 快用尽时可能不可靠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1000" b="0">
                          <a:latin typeface="微软雅黑"/>
                        </a:rPr>
                        <a:t>MPC 指令 u_MPC</a:t>
                      </a:r>
                    </a:p>
                    <a:p>
                      <a:r>
                        <a:rPr sz="1000" b="0">
                          <a:latin typeface="微软雅黑"/>
                        </a:rPr>
                        <a:t>(3D推杆+分歧Δu+最大)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3+2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MPC 建议的前 3 个推杆值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+ 与 SMC 的分歧度 + 最大分量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两位「老师」意见分歧大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说明当前情况复杂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1000" b="0">
                          <a:latin typeface="微软雅黑"/>
                        </a:rPr>
                        <a:t>海流估计 v_cur</a:t>
                      </a:r>
                    </a:p>
                    <a:p>
                      <a:r>
                        <a:rPr sz="1000" b="0">
                          <a:latin typeface="微软雅黑"/>
                        </a:rPr>
                        <a:t>(2D x/y)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水平方向海流的 x/y 分量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海流是扰动主因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知道流多大才能判断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1000" b="0">
                          <a:latin typeface="微软雅黑"/>
                        </a:rPr>
                        <a:t>轨迹相位 φ(t)</a:t>
                      </a:r>
                    </a:p>
                    <a:p>
                      <a:r>
                        <a:rPr sz="1000" b="0">
                          <a:latin typeface="微软雅黑"/>
                        </a:rPr>
                        <a:t>(进度+sin+cos)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当前在任务的时间进度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+ sin/cos 编码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开局/中期/收尾需要不同策略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5943600" y="18288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514D83"/>
                </a:solidFill>
                <a:latin typeface="微软雅黑"/>
              </a:rPr>
              <a:t>Transformer 如何读这份报告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2176272"/>
            <a:ext cx="5760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1" dirty="0" err="1">
                <a:solidFill>
                  <a:srgbClr val="E8730C"/>
                </a:solidFill>
                <a:latin typeface="微软雅黑"/>
              </a:rPr>
              <a:t>输入窗口：H</a:t>
            </a:r>
            <a:r>
              <a:rPr sz="1300" b="1" dirty="0">
                <a:solidFill>
                  <a:srgbClr val="E8730C"/>
                </a:solidFill>
                <a:latin typeface="微软雅黑"/>
              </a:rPr>
              <a:t> = 16 步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 dirty="0">
                <a:latin typeface="微软雅黑"/>
              </a:rPr>
              <a:t>每 10 </a:t>
            </a:r>
            <a:r>
              <a:rPr sz="1200" b="0" dirty="0" err="1">
                <a:latin typeface="微软雅黑"/>
              </a:rPr>
              <a:t>ms</a:t>
            </a:r>
            <a:r>
              <a:rPr sz="1200" b="0" dirty="0">
                <a:latin typeface="微软雅黑"/>
              </a:rPr>
              <a:t> </a:t>
            </a:r>
            <a:r>
              <a:rPr sz="1200" b="0" dirty="0" err="1">
                <a:latin typeface="微软雅黑"/>
              </a:rPr>
              <a:t>采一次</a:t>
            </a:r>
            <a:r>
              <a:rPr sz="1200" b="0" dirty="0">
                <a:latin typeface="微软雅黑"/>
              </a:rPr>
              <a:t> → </a:t>
            </a:r>
            <a:r>
              <a:rPr sz="1200" b="0" dirty="0" err="1">
                <a:latin typeface="微软雅黑"/>
              </a:rPr>
              <a:t>回看过去</a:t>
            </a:r>
            <a:r>
              <a:rPr sz="1200" b="0" dirty="0">
                <a:latin typeface="微软雅黑"/>
              </a:rPr>
              <a:t> 160 ms（0.16 秒）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 dirty="0" err="1">
                <a:latin typeface="微软雅黑"/>
              </a:rPr>
              <a:t>不看单帧，看趋势</a:t>
            </a:r>
            <a:r>
              <a:rPr sz="1200" b="0" dirty="0">
                <a:latin typeface="微软雅黑"/>
              </a:rPr>
              <a:t>——</a:t>
            </a:r>
            <a:r>
              <a:rPr sz="1200" b="0" dirty="0" err="1">
                <a:latin typeface="微软雅黑"/>
              </a:rPr>
              <a:t>误差在增长还是在恢复</a:t>
            </a:r>
            <a:r>
              <a:rPr sz="1200" b="0" dirty="0">
                <a:latin typeface="微软雅黑"/>
              </a:rPr>
              <a:t>？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endParaRPr sz="1200" b="0" dirty="0">
              <a:latin typeface="微软雅黑"/>
            </a:endParaRP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1" dirty="0" err="1">
                <a:solidFill>
                  <a:srgbClr val="E8730C"/>
                </a:solidFill>
                <a:latin typeface="微软雅黑"/>
              </a:rPr>
              <a:t>编码过程</a:t>
            </a:r>
            <a:endParaRPr sz="1300" b="1" dirty="0">
              <a:solidFill>
                <a:srgbClr val="E8730C"/>
              </a:solidFill>
              <a:latin typeface="微软雅黑"/>
            </a:endParaRP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 dirty="0">
                <a:latin typeface="微软雅黑"/>
              </a:rPr>
              <a:t>① 24 </a:t>
            </a:r>
            <a:r>
              <a:rPr sz="1200" b="0" dirty="0" err="1">
                <a:latin typeface="微软雅黑"/>
              </a:rPr>
              <a:t>维特征</a:t>
            </a:r>
            <a:r>
              <a:rPr sz="1200" b="0" dirty="0">
                <a:latin typeface="微软雅黑"/>
              </a:rPr>
              <a:t> → </a:t>
            </a:r>
            <a:r>
              <a:rPr sz="1200" b="0" dirty="0" err="1">
                <a:latin typeface="微软雅黑"/>
              </a:rPr>
              <a:t>线性投影到</a:t>
            </a:r>
            <a:r>
              <a:rPr sz="1200" b="0" dirty="0">
                <a:latin typeface="微软雅黑"/>
              </a:rPr>
              <a:t> 32 </a:t>
            </a:r>
            <a:r>
              <a:rPr sz="1200" b="0" dirty="0" err="1">
                <a:latin typeface="微软雅黑"/>
              </a:rPr>
              <a:t>维（找最有信息量的组合</a:t>
            </a:r>
            <a:r>
              <a:rPr sz="1200" b="0" dirty="0">
                <a:latin typeface="微软雅黑"/>
              </a:rPr>
              <a:t>）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 dirty="0">
                <a:latin typeface="微软雅黑"/>
              </a:rPr>
              <a:t>② </a:t>
            </a:r>
            <a:r>
              <a:rPr sz="1200" b="0" dirty="0" err="1">
                <a:latin typeface="微软雅黑"/>
              </a:rPr>
              <a:t>加位置编码（告诉模型这是第几步</a:t>
            </a:r>
            <a:r>
              <a:rPr sz="1200" b="0" dirty="0">
                <a:latin typeface="微软雅黑"/>
              </a:rPr>
              <a:t>）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 dirty="0">
                <a:latin typeface="微软雅黑"/>
              </a:rPr>
              <a:t>③ 1 层 Transformer 编码器（4 </a:t>
            </a:r>
            <a:r>
              <a:rPr sz="1200" b="0" dirty="0" err="1">
                <a:latin typeface="微软雅黑"/>
              </a:rPr>
              <a:t>头注意力</a:t>
            </a:r>
            <a:r>
              <a:rPr sz="1200" b="0" dirty="0">
                <a:latin typeface="微软雅黑"/>
              </a:rPr>
              <a:t> + 128 </a:t>
            </a:r>
            <a:r>
              <a:rPr sz="1200" b="0" dirty="0" err="1">
                <a:latin typeface="微软雅黑"/>
              </a:rPr>
              <a:t>维前馈</a:t>
            </a:r>
            <a:r>
              <a:rPr sz="1200" b="0" dirty="0">
                <a:latin typeface="微软雅黑"/>
              </a:rPr>
              <a:t>）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 dirty="0">
                <a:latin typeface="微软雅黑"/>
              </a:rPr>
              <a:t>  · </a:t>
            </a:r>
            <a:r>
              <a:rPr sz="1200" b="0" dirty="0" err="1">
                <a:latin typeface="微软雅黑"/>
              </a:rPr>
              <a:t>注意力：自动学习哪些历史时刻最相关</a:t>
            </a:r>
            <a:endParaRPr sz="1200" b="0" dirty="0">
              <a:latin typeface="微软雅黑"/>
            </a:endParaRP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 dirty="0">
                <a:latin typeface="微软雅黑"/>
              </a:rPr>
              <a:t>  · </a:t>
            </a:r>
            <a:r>
              <a:rPr sz="1200" b="0" dirty="0" err="1">
                <a:latin typeface="微软雅黑"/>
              </a:rPr>
              <a:t>输出：一个</a:t>
            </a:r>
            <a:r>
              <a:rPr sz="1200" b="0" dirty="0">
                <a:latin typeface="微软雅黑"/>
              </a:rPr>
              <a:t> 0~1 </a:t>
            </a:r>
            <a:r>
              <a:rPr sz="1200" b="0" dirty="0" err="1">
                <a:latin typeface="微软雅黑"/>
              </a:rPr>
              <a:t>的数</a:t>
            </a:r>
            <a:r>
              <a:rPr sz="1200" b="0" dirty="0">
                <a:latin typeface="微软雅黑"/>
              </a:rPr>
              <a:t> α̂（</a:t>
            </a:r>
            <a:r>
              <a:rPr sz="1200" b="0" dirty="0" err="1">
                <a:latin typeface="微软雅黑"/>
              </a:rPr>
              <a:t>当前该信</a:t>
            </a:r>
            <a:r>
              <a:rPr sz="1200" b="0" dirty="0">
                <a:latin typeface="微软雅黑"/>
              </a:rPr>
              <a:t> MPC </a:t>
            </a:r>
            <a:r>
              <a:rPr sz="1200" b="0" dirty="0" err="1">
                <a:latin typeface="微软雅黑"/>
              </a:rPr>
              <a:t>多少</a:t>
            </a:r>
            <a:r>
              <a:rPr sz="1200" b="0" dirty="0">
                <a:latin typeface="微软雅黑"/>
              </a:rPr>
              <a:t>）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endParaRPr sz="1200" b="0" dirty="0">
              <a:latin typeface="微软雅黑"/>
            </a:endParaRP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1" dirty="0" err="1">
                <a:solidFill>
                  <a:srgbClr val="3F7E72"/>
                </a:solidFill>
                <a:latin typeface="微软雅黑"/>
              </a:rPr>
              <a:t>网络规模</a:t>
            </a:r>
            <a:endParaRPr sz="1300" b="1" dirty="0">
              <a:solidFill>
                <a:srgbClr val="3F7E72"/>
              </a:solidFill>
              <a:latin typeface="微软雅黑"/>
            </a:endParaRP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 dirty="0" err="1">
                <a:latin typeface="微软雅黑"/>
              </a:rPr>
              <a:t>编码器</a:t>
            </a:r>
            <a:r>
              <a:rPr sz="1200" b="0" dirty="0">
                <a:latin typeface="微软雅黑"/>
              </a:rPr>
              <a:t> 14,113 </a:t>
            </a:r>
            <a:r>
              <a:rPr sz="1200" b="0" dirty="0" err="1">
                <a:latin typeface="微软雅黑"/>
              </a:rPr>
              <a:t>参数</a:t>
            </a:r>
            <a:r>
              <a:rPr sz="1200" b="0" dirty="0">
                <a:latin typeface="微软雅黑"/>
              </a:rPr>
              <a:t>（≈55 KB）· </a:t>
            </a:r>
            <a:r>
              <a:rPr sz="1200" b="0" dirty="0" err="1">
                <a:latin typeface="微软雅黑"/>
              </a:rPr>
              <a:t>推理</a:t>
            </a:r>
            <a:r>
              <a:rPr sz="1200" b="0" dirty="0">
                <a:latin typeface="微软雅黑"/>
              </a:rPr>
              <a:t> 0.23 MMACs/步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 dirty="0" err="1">
                <a:latin typeface="微软雅黑"/>
              </a:rPr>
              <a:t>残差头</a:t>
            </a:r>
            <a:r>
              <a:rPr sz="1200" b="0" dirty="0">
                <a:latin typeface="微软雅黑"/>
              </a:rPr>
              <a:t> 2,177 </a:t>
            </a:r>
            <a:r>
              <a:rPr sz="1200" b="0" dirty="0" err="1">
                <a:latin typeface="微软雅黑"/>
              </a:rPr>
              <a:t>参数</a:t>
            </a:r>
            <a:r>
              <a:rPr sz="1200" b="0" dirty="0">
                <a:latin typeface="微软雅黑"/>
              </a:rPr>
              <a:t> · </a:t>
            </a:r>
            <a:r>
              <a:rPr sz="1200" b="0" dirty="0" err="1">
                <a:latin typeface="微软雅黑"/>
              </a:rPr>
              <a:t>仅输出</a:t>
            </a:r>
            <a:r>
              <a:rPr sz="1200" b="0" dirty="0">
                <a:latin typeface="微软雅黑"/>
              </a:rPr>
              <a:t> Δα∈[−0.1,+0.1]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1" dirty="0">
                <a:solidFill>
                  <a:srgbClr val="3F7E72"/>
                </a:solidFill>
                <a:latin typeface="微软雅黑"/>
              </a:rPr>
              <a:t>→ </a:t>
            </a:r>
            <a:r>
              <a:rPr sz="1200" b="1" dirty="0" err="1">
                <a:solidFill>
                  <a:srgbClr val="3F7E72"/>
                </a:solidFill>
                <a:latin typeface="微软雅黑"/>
              </a:rPr>
              <a:t>刻意极小：边缘设备可实时运行</a:t>
            </a:r>
            <a:endParaRPr sz="1200" b="1" dirty="0">
              <a:solidFill>
                <a:srgbClr val="3F7E72"/>
              </a:solidFill>
              <a:latin typeface="微软雅黑"/>
            </a:endParaRP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5879592"/>
            <a:ext cx="6400800" cy="813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002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DDB1F-1454-76D7-508C-DC365B9BD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483E8A99-4A7D-584A-DD27-BDE5A7A38AE8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F55F6D8-ACA3-EF6A-7602-F60727CB7576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8B22AD19-87BE-56CC-1D89-965E16429654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2024D672-3500-62EC-1B74-4E9AB5A1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56E9E7C-2E29-BAE2-7F00-56C06ADAFE1F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2F954335-5A7C-9581-E91A-4DBD1F9A93FA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6FCEA6E-8081-71AB-BEF0-AB280B3F2582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03390450-5D73-C97F-16BE-96E1999E3F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D76A1191-183C-5C32-5C01-7D8998D7EB3F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ED2852A3-080F-9C47-ED12-871732E1F808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0" y="1280160"/>
            <a:ext cx="12161520" cy="379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800" b="1" dirty="0" err="1">
                <a:solidFill>
                  <a:srgbClr val="514D83"/>
                </a:solidFill>
                <a:latin typeface="微软雅黑"/>
              </a:rPr>
              <a:t>训练设置：奖励函数与超参数</a:t>
            </a:r>
            <a:endParaRPr sz="1800" b="1" dirty="0">
              <a:solidFill>
                <a:srgbClr val="514D83"/>
              </a:solidFill>
              <a:latin typeface="微软雅黑"/>
            </a:endParaRP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783080"/>
            <a:ext cx="5943600" cy="597052"/>
          </a:xfrm>
          <a:prstGeom prst="rect">
            <a:avLst/>
          </a:prstGeom>
        </p:spPr>
      </p:pic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1726739"/>
              </p:ext>
            </p:extLst>
          </p:nvPr>
        </p:nvGraphicFramePr>
        <p:xfrm>
          <a:off x="274320" y="2743200"/>
          <a:ext cx="5943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r>
                        <a:rPr sz="1000" b="1">
                          <a:latin typeface="微软雅黑"/>
                        </a:rPr>
                        <a:t>项（变量名）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900" b="1" dirty="0">
                          <a:solidFill>
                            <a:srgbClr val="26262E"/>
                          </a:solidFill>
                          <a:latin typeface="微软雅黑"/>
                        </a:rPr>
                        <a:t>意义</a:t>
                      </a:r>
                      <a:endParaRPr sz="900" b="1" dirty="0">
                        <a:solidFill>
                          <a:srgbClr val="26262E"/>
                        </a:solidFill>
                        <a:latin typeface="微软雅黑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6262E"/>
                          </a:solidFill>
                          <a:latin typeface="微软雅黑"/>
                        </a:rPr>
                        <a:t>权重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6262E"/>
                          </a:solidFill>
                          <a:latin typeface="微软雅黑"/>
                        </a:rPr>
                        <a:t>设计意图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1000" b="0">
                          <a:latin typeface="微软雅黑"/>
                        </a:rPr>
                        <a:t>w_e·e_pos</a:t>
                      </a:r>
                    </a:p>
                    <a:p>
                      <a:r>
                        <a:rPr sz="1000" b="0">
                          <a:latin typeface="微软雅黑"/>
                        </a:rPr>
                        <a:t>(位置误差权重)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偏离目标越远扣越多分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最主要的目标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1000" b="0">
                          <a:latin typeface="微软雅黑"/>
                        </a:rPr>
                        <a:t>w_h·e_head</a:t>
                      </a:r>
                    </a:p>
                    <a:p>
                      <a:r>
                        <a:rPr sz="1000" b="0">
                          <a:latin typeface="微软雅黑"/>
                        </a:rPr>
                        <a:t>(艏向误差权重)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船头歪了扣一点分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姿态不如位置重要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1000" b="0">
                          <a:latin typeface="微软雅黑"/>
                        </a:rPr>
                        <a:t>w_u·‖u‖²</a:t>
                      </a:r>
                    </a:p>
                    <a:p>
                      <a:r>
                        <a:rPr sz="1000" b="0">
                          <a:latin typeface="微软雅黑"/>
                        </a:rPr>
                        <a:t>(控制量权重)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推杆用力越大轻微扣分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鼓励省力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1000" b="0">
                          <a:latin typeface="微软雅黑"/>
                        </a:rPr>
                        <a:t>w_Δu·‖Δu‖²</a:t>
                      </a:r>
                    </a:p>
                    <a:p>
                      <a:r>
                        <a:rPr sz="1000" b="0">
                          <a:latin typeface="微软雅黑"/>
                        </a:rPr>
                        <a:t>(变化率权重)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推杆抖动扣一点分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鼓励平滑动作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1000" b="0">
                          <a:latin typeface="微软雅黑"/>
                        </a:rPr>
                        <a:t>w_Δα·|Δα|</a:t>
                      </a:r>
                    </a:p>
                    <a:p>
                      <a:r>
                        <a:rPr sz="1000" b="0">
                          <a:latin typeface="微软雅黑"/>
                        </a:rPr>
                        <a:t>(权限修正惩罚)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改主意太猛扣一点分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别频繁翻转信任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1000" b="0">
                          <a:latin typeface="微软雅黑"/>
                        </a:rPr>
                        <a:t>w_sat·ρ_sat</a:t>
                      </a:r>
                    </a:p>
                    <a:p>
                      <a:r>
                        <a:rPr sz="1000" b="0">
                          <a:latin typeface="微软雅黑"/>
                        </a:rPr>
                        <a:t>(饱和惩罚)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推杆接近满功率扣分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留余量防饱和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1000" b="0">
                          <a:latin typeface="微软雅黑"/>
                        </a:rPr>
                        <a:t>w_dl·ρ_dl</a:t>
                      </a:r>
                    </a:p>
                    <a:p>
                      <a:r>
                        <a:rPr sz="1000" b="0">
                          <a:latin typeface="微软雅黑"/>
                        </a:rPr>
                        <a:t>(超时惩罚)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MPC 算超时了扣一点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仅记录不改调度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1000" b="0">
                          <a:latin typeface="微软雅黑"/>
                        </a:rPr>
                        <a:t>w_c·ρ_con</a:t>
                      </a:r>
                    </a:p>
                    <a:p>
                      <a:r>
                        <a:rPr sz="1000" b="0">
                          <a:latin typeface="微软雅黑"/>
                        </a:rPr>
                        <a:t>(约束违反罚)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 dirty="0" err="1">
                          <a:solidFill>
                            <a:srgbClr val="26262E"/>
                          </a:solidFill>
                          <a:latin typeface="微软雅黑"/>
                        </a:rPr>
                        <a:t>越界了重罚</a:t>
                      </a:r>
                      <a:r>
                        <a:rPr sz="900" b="0" dirty="0">
                          <a:solidFill>
                            <a:srgbClr val="26262E"/>
                          </a:solidFill>
                          <a:latin typeface="微软雅黑"/>
                        </a:rPr>
                        <a:t>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 dirty="0" err="1">
                          <a:solidFill>
                            <a:srgbClr val="26262E"/>
                          </a:solidFill>
                          <a:latin typeface="微软雅黑"/>
                        </a:rPr>
                        <a:t>安全</a:t>
                      </a:r>
                      <a:r>
                        <a:rPr sz="900" b="0" dirty="0">
                          <a:solidFill>
                            <a:srgbClr val="26262E"/>
                          </a:solidFill>
                          <a:latin typeface="微软雅黑"/>
                        </a:rPr>
                        <a:t> &gt;&gt; </a:t>
                      </a:r>
                      <a:r>
                        <a:rPr sz="900" b="0" dirty="0" err="1">
                          <a:solidFill>
                            <a:srgbClr val="26262E"/>
                          </a:solidFill>
                          <a:latin typeface="微软雅黑"/>
                        </a:rPr>
                        <a:t>性能</a:t>
                      </a:r>
                      <a:endParaRPr sz="900" b="0" dirty="0">
                        <a:solidFill>
                          <a:srgbClr val="26262E"/>
                        </a:solidFill>
                        <a:latin typeface="微软雅黑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274320" y="530352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6B6F85"/>
                </a:solidFill>
                <a:latin typeface="微软雅黑"/>
              </a:rPr>
              <a:t>归一化：位置除以 0.1 m，艏向除以 0.05 rad → 各项量级可比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B6242E"/>
                </a:solidFill>
                <a:latin typeface="微软雅黑"/>
              </a:rPr>
              <a:t>权重在训练前冻结写入 manifest，训练中不可调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17830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514D83"/>
                </a:solidFill>
                <a:latin typeface="微软雅黑"/>
              </a:rPr>
              <a:t>TD3 超参数（每个都解释了为什么）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583680" y="2286000"/>
          <a:ext cx="512064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03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65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3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r>
                        <a:rPr sz="1000" b="1">
                          <a:latin typeface="微软雅黑"/>
                        </a:rPr>
                        <a:t>参数（中文名）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6262E"/>
                          </a:solidFill>
                          <a:latin typeface="微软雅黑"/>
                        </a:rPr>
                        <a:t>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6262E"/>
                          </a:solidFill>
                          <a:latin typeface="微软雅黑"/>
                        </a:rPr>
                        <a:t>大白话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1000" b="0">
                          <a:latin typeface="微软雅黑"/>
                        </a:rPr>
                        <a:t>δ_max</a:t>
                      </a:r>
                    </a:p>
                    <a:p>
                      <a:r>
                        <a:rPr sz="1000" b="0">
                          <a:latin typeface="微软雅黑"/>
                        </a:rPr>
                        <a:t>(残差上界)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每步最多把 α 拨动 10%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1000" b="0">
                          <a:latin typeface="微软雅黑"/>
                        </a:rPr>
                        <a:t>α_lr</a:t>
                      </a:r>
                    </a:p>
                    <a:p>
                      <a:r>
                        <a:rPr sz="1000" b="0">
                          <a:latin typeface="微软雅黑"/>
                        </a:rPr>
                        <a:t>(策略学习率)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1e-4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策略学慢一点，稳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1000" b="0">
                          <a:latin typeface="微软雅黑"/>
                        </a:rPr>
                        <a:t>c_lr</a:t>
                      </a:r>
                    </a:p>
                    <a:p>
                      <a:r>
                        <a:rPr sz="1000" b="0">
                          <a:latin typeface="微软雅黑"/>
                        </a:rPr>
                        <a:t>(评论家学习率)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1e-3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评价家学快一点，先看清再教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1000" b="0">
                          <a:latin typeface="微软雅黑"/>
                        </a:rPr>
                        <a:t>γ</a:t>
                      </a:r>
                    </a:p>
                    <a:p>
                      <a:r>
                        <a:rPr sz="1000" b="0">
                          <a:latin typeface="微软雅黑"/>
                        </a:rPr>
                        <a:t>(折扣因子)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关心长期（未来 1 步≈现在 99%）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1000" b="0">
                          <a:latin typeface="微软雅黑"/>
                        </a:rPr>
                        <a:t>τ</a:t>
                      </a:r>
                    </a:p>
                    <a:p>
                      <a:r>
                        <a:rPr sz="1000" b="0">
                          <a:latin typeface="微软雅黑"/>
                        </a:rPr>
                        <a:t>(软更新率)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0.005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目标网络慢慢跟，防训练震荡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1000" b="0">
                          <a:latin typeface="微软雅黑"/>
                        </a:rPr>
                        <a:t>d</a:t>
                      </a:r>
                    </a:p>
                    <a:p>
                      <a:r>
                        <a:rPr sz="1000" b="0">
                          <a:latin typeface="微软雅黑"/>
                        </a:rPr>
                        <a:t>(策略延迟)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每 2 步才更新策略，先想清楚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1000" b="0">
                          <a:latin typeface="微软雅黑"/>
                        </a:rPr>
                        <a:t>σ_t/c_t</a:t>
                      </a:r>
                    </a:p>
                    <a:p>
                      <a:r>
                        <a:rPr sz="1000" b="0">
                          <a:latin typeface="微软雅黑"/>
                        </a:rPr>
                        <a:t>(目标噪声/裁剪)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0.2/0.5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给目标加小噪声+裁剪，防过拟合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1000" b="0">
                          <a:latin typeface="微软雅黑"/>
                        </a:rPr>
                        <a:t>σ_e</a:t>
                      </a:r>
                    </a:p>
                    <a:p>
                      <a:r>
                        <a:rPr sz="1000" b="0">
                          <a:latin typeface="微软雅黑"/>
                        </a:rPr>
                        <a:t>(探索噪声)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探索时轻微随机试错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1000" b="0">
                          <a:latin typeface="微软雅黑"/>
                        </a:rPr>
                        <a:t>B</a:t>
                      </a:r>
                    </a:p>
                    <a:p>
                      <a:r>
                        <a:rPr sz="1000" b="0">
                          <a:latin typeface="微软雅黑"/>
                        </a:rPr>
                        <a:t>(批大小)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每次从记忆库抽 256 条经验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1000" b="0">
                          <a:latin typeface="微软雅黑"/>
                        </a:rPr>
                        <a:t>N_warm</a:t>
                      </a:r>
                    </a:p>
                    <a:p>
                      <a:r>
                        <a:rPr sz="1000" b="0">
                          <a:latin typeface="微软雅黑"/>
                        </a:rPr>
                        <a:t>(热启动数)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2×10⁵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先看 20 万条旧经验再上手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1000" b="0">
                          <a:latin typeface="微软雅黑"/>
                        </a:rPr>
                        <a:t>λ</a:t>
                      </a:r>
                    </a:p>
                    <a:p>
                      <a:r>
                        <a:rPr sz="1000" b="0">
                          <a:latin typeface="微软雅黑"/>
                        </a:rPr>
                        <a:t>(行为正则系数)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别偏离老师（监督基线）太远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583680" y="576072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514D83"/>
                </a:solidFill>
                <a:latin typeface="微软雅黑"/>
              </a:rPr>
              <a:t>两阶段流程：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latin typeface="微软雅黑"/>
              </a:rPr>
              <a:t>阶段1 用 oracle 标签模仿学习（18,900 样本）→ 冻结 → 阶段2 只训练残差头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6025896"/>
            <a:ext cx="4572000" cy="581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9805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6955C-D47C-34B6-8A34-9DDB2EFCD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C9B22A7A-C348-98A1-576D-13ECA5DBA6F8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3D22710-F48F-83BD-5165-DFF79B5EBC03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47603519-F863-6680-5613-67F3B09991CE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A68B2FDD-1F67-15BE-AB84-8D3654D72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713D3E4-2A0A-334E-1A4E-8CFFD6956192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D0B08B9A-BF96-77DB-11B9-1ED74EC3936D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CC7B61B0-DEA3-DA84-1A42-ADE5F9DC7A79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54A126C-62F3-4B1D-729B-35DA2D2588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77DB4353-8B45-26D6-5401-EBD120F8C82F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E9D16FAE-4161-CA28-51EB-317C1AD98A1B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10">
            <a:extLst>
              <a:ext uri="{FF2B5EF4-FFF2-40B4-BE49-F238E27FC236}">
                <a16:creationId xmlns:a16="http://schemas.microsoft.com/office/drawing/2014/main" id="{BB9F3673-141C-5C16-CD64-2B0E8A90CBDD}"/>
              </a:ext>
            </a:extLst>
          </p:cNvPr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800" b="1">
                <a:solidFill>
                  <a:srgbClr val="514D83"/>
                </a:solidFill>
                <a:latin typeface="微软雅黑"/>
              </a:rPr>
              <a:t>10 族扰动全景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6F66D29C-80AA-93DB-53B7-4E4B9F5D16EF}"/>
              </a:ext>
            </a:extLst>
          </p:cNvPr>
          <p:cNvGraphicFramePr>
            <a:graphicFrameLocks noGrp="1"/>
          </p:cNvGraphicFramePr>
          <p:nvPr/>
        </p:nvGraphicFramePr>
        <p:xfrm>
          <a:off x="274320" y="1737360"/>
          <a:ext cx="11612878" cy="3749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73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43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60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460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989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6262E"/>
                          </a:solidFill>
                          <a:latin typeface="微软雅黑"/>
                        </a:rPr>
                        <a:t>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6262E"/>
                          </a:solidFill>
                          <a:latin typeface="微软雅黑"/>
                        </a:rPr>
                        <a:t>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6262E"/>
                          </a:solidFill>
                          <a:latin typeface="微软雅黑"/>
                        </a:rPr>
                        <a:t>训练范围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6262E"/>
                          </a:solidFill>
                          <a:latin typeface="微软雅黑"/>
                        </a:rPr>
                        <a:t>测试范围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6262E"/>
                          </a:solidFill>
                          <a:latin typeface="微软雅黑"/>
                        </a:rPr>
                        <a:t>环境</a:t>
                      </a:r>
                    </a:p>
                    <a:p>
                      <a:r>
                        <a:rPr sz="900" b="1">
                          <a:solidFill>
                            <a:srgbClr val="26262E"/>
                          </a:solidFill>
                          <a:latin typeface="微软雅黑"/>
                        </a:rPr>
                        <a:t>种子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结构化-恒定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幅值 ×2.5，方向恒定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结构化-正弦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多频正弦叠加海流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结构化-阶跃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t=10s 海流方向突变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质量-阻尼失配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mass ×[0.94,1.06]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damp ×[0.94,1.06]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mass ×[1.10,1.25]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damp ×[0.75,0.90]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彩色噪声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ρ∈[0.90,0.98]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σ∈[0.05,0.20]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ρ∈[0.985,0.995]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σ∈[0.25,0.40]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OU 海流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θ∈[0.2,1.0] rad/s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σ∈[0.05,0.20]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θ∈[1.2,2.0] rad/s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σ∈[0.25,0.40]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随机频率-幅值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amp ∈[2.0,3.0]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freq∈[0.8,1.2]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amp ∈[3.2,4.0]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freq∈[1.4,1.8]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执行器延迟+噪声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delay∈[2,4] 步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noise∈[0,0.02]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delay∈[6,10] 步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noise∈[0.04,0.08]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快变 OU 海流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θ∈[3.0,6.0] rad/s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σ∈[0.30,0.50]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估计延迟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delay∈[10,20] 步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noise∈[0.05,0.10]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 dirty="0">
                          <a:solidFill>
                            <a:srgbClr val="26262E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2" name="TextBox 12"/>
          <p:cNvSpPr txBox="1"/>
          <p:nvPr/>
        </p:nvSpPr>
        <p:spPr>
          <a:xfrm>
            <a:off x="274320" y="5582095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0" dirty="0" err="1">
                <a:solidFill>
                  <a:srgbClr val="6B6F85"/>
                </a:solidFill>
                <a:latin typeface="微软雅黑"/>
              </a:rPr>
              <a:t>参数说明：mass</a:t>
            </a:r>
            <a:r>
              <a:rPr sz="1100" b="0" dirty="0">
                <a:solidFill>
                  <a:srgbClr val="6B6F85"/>
                </a:solidFill>
                <a:latin typeface="微软雅黑"/>
              </a:rPr>
              <a:t>=</a:t>
            </a:r>
            <a:r>
              <a:rPr sz="1100" b="0" dirty="0" err="1">
                <a:solidFill>
                  <a:srgbClr val="6B6F85"/>
                </a:solidFill>
                <a:latin typeface="微软雅黑"/>
              </a:rPr>
              <a:t>质量缩放因子</a:t>
            </a:r>
            <a:r>
              <a:rPr sz="1100" b="0" dirty="0">
                <a:solidFill>
                  <a:srgbClr val="6B6F85"/>
                </a:solidFill>
                <a:latin typeface="微软雅黑"/>
              </a:rPr>
              <a:t> | damp=</a:t>
            </a:r>
            <a:r>
              <a:rPr sz="1100" b="0" dirty="0" err="1">
                <a:solidFill>
                  <a:srgbClr val="6B6F85"/>
                </a:solidFill>
                <a:latin typeface="微软雅黑"/>
              </a:rPr>
              <a:t>阻尼缩放因子</a:t>
            </a:r>
            <a:r>
              <a:rPr sz="1100" b="0" dirty="0">
                <a:solidFill>
                  <a:srgbClr val="6B6F85"/>
                </a:solidFill>
                <a:latin typeface="微软雅黑"/>
              </a:rPr>
              <a:t> | ρ=AR(1) </a:t>
            </a:r>
            <a:r>
              <a:rPr sz="1100" b="0" dirty="0" err="1">
                <a:solidFill>
                  <a:srgbClr val="6B6F85"/>
                </a:solidFill>
                <a:latin typeface="微软雅黑"/>
              </a:rPr>
              <a:t>自相关系数</a:t>
            </a:r>
            <a:r>
              <a:rPr sz="1100" b="0" dirty="0">
                <a:solidFill>
                  <a:srgbClr val="6B6F85"/>
                </a:solidFill>
                <a:latin typeface="微软雅黑"/>
              </a:rPr>
              <a:t> | σ=</a:t>
            </a:r>
            <a:r>
              <a:rPr sz="1100" b="0" dirty="0" err="1">
                <a:solidFill>
                  <a:srgbClr val="6B6F85"/>
                </a:solidFill>
                <a:latin typeface="微软雅黑"/>
              </a:rPr>
              <a:t>噪声标准差</a:t>
            </a:r>
            <a:r>
              <a:rPr sz="1100" b="0" dirty="0">
                <a:solidFill>
                  <a:srgbClr val="6B6F85"/>
                </a:solidFill>
                <a:latin typeface="微软雅黑"/>
              </a:rPr>
              <a:t> | θ=OU </a:t>
            </a:r>
            <a:r>
              <a:rPr sz="1100" b="0" dirty="0" err="1">
                <a:solidFill>
                  <a:srgbClr val="6B6F85"/>
                </a:solidFill>
                <a:latin typeface="微软雅黑"/>
              </a:rPr>
              <a:t>回归速率</a:t>
            </a:r>
            <a:r>
              <a:rPr sz="1100" b="0" dirty="0">
                <a:solidFill>
                  <a:srgbClr val="6B6F85"/>
                </a:solidFill>
                <a:latin typeface="微软雅黑"/>
              </a:rPr>
              <a:t> | amp=</a:t>
            </a:r>
            <a:r>
              <a:rPr sz="1100" b="0" dirty="0" err="1">
                <a:solidFill>
                  <a:srgbClr val="6B6F85"/>
                </a:solidFill>
                <a:latin typeface="微软雅黑"/>
              </a:rPr>
              <a:t>幅值缩放</a:t>
            </a:r>
            <a:r>
              <a:rPr sz="1100" b="0" dirty="0">
                <a:solidFill>
                  <a:srgbClr val="6B6F85"/>
                </a:solidFill>
                <a:latin typeface="微软雅黑"/>
              </a:rPr>
              <a:t> | </a:t>
            </a:r>
            <a:r>
              <a:rPr sz="1100" b="0" dirty="0" err="1">
                <a:solidFill>
                  <a:srgbClr val="6B6F85"/>
                </a:solidFill>
                <a:latin typeface="微软雅黑"/>
              </a:rPr>
              <a:t>freq</a:t>
            </a:r>
            <a:r>
              <a:rPr sz="1100" b="0" dirty="0">
                <a:solidFill>
                  <a:srgbClr val="6B6F85"/>
                </a:solidFill>
                <a:latin typeface="微软雅黑"/>
              </a:rPr>
              <a:t>=</a:t>
            </a:r>
            <a:r>
              <a:rPr sz="1100" b="0" dirty="0" err="1">
                <a:solidFill>
                  <a:srgbClr val="6B6F85"/>
                </a:solidFill>
                <a:latin typeface="微软雅黑"/>
              </a:rPr>
              <a:t>频率缩放</a:t>
            </a:r>
            <a:r>
              <a:rPr sz="1100" b="0" dirty="0">
                <a:solidFill>
                  <a:srgbClr val="6B6F85"/>
                </a:solidFill>
                <a:latin typeface="微软雅黑"/>
              </a:rPr>
              <a:t> | delay=</a:t>
            </a:r>
            <a:r>
              <a:rPr sz="1100" b="0" dirty="0" err="1">
                <a:solidFill>
                  <a:srgbClr val="6B6F85"/>
                </a:solidFill>
                <a:latin typeface="微软雅黑"/>
              </a:rPr>
              <a:t>传感器</a:t>
            </a:r>
            <a:r>
              <a:rPr sz="1100" b="0" dirty="0">
                <a:solidFill>
                  <a:srgbClr val="6B6F85"/>
                </a:solidFill>
                <a:latin typeface="微软雅黑"/>
              </a:rPr>
              <a:t>/</a:t>
            </a:r>
            <a:r>
              <a:rPr sz="1100" b="0" dirty="0" err="1">
                <a:solidFill>
                  <a:srgbClr val="6B6F85"/>
                </a:solidFill>
                <a:latin typeface="微软雅黑"/>
              </a:rPr>
              <a:t>执行器延迟步数</a:t>
            </a:r>
            <a:r>
              <a:rPr sz="1100" b="0" dirty="0">
                <a:solidFill>
                  <a:srgbClr val="6B6F85"/>
                </a:solidFill>
                <a:latin typeface="微软雅黑"/>
              </a:rPr>
              <a:t> | noise=</a:t>
            </a:r>
            <a:r>
              <a:rPr sz="1100" b="0" dirty="0" err="1">
                <a:solidFill>
                  <a:srgbClr val="6B6F85"/>
                </a:solidFill>
                <a:latin typeface="微软雅黑"/>
              </a:rPr>
              <a:t>噪声标准差</a:t>
            </a:r>
            <a:endParaRPr sz="1100" b="0" dirty="0">
              <a:solidFill>
                <a:srgbClr val="6B6F85"/>
              </a:solidFill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 dirty="0">
                <a:solidFill>
                  <a:srgbClr val="514D83"/>
                </a:solidFill>
                <a:latin typeface="微软雅黑"/>
              </a:rPr>
              <a:t>「OOD」= </a:t>
            </a:r>
            <a:r>
              <a:rPr sz="1200" b="1" dirty="0" err="1">
                <a:solidFill>
                  <a:srgbClr val="514D83"/>
                </a:solidFill>
                <a:latin typeface="微软雅黑"/>
              </a:rPr>
              <a:t>测试范围系统性超出训练范围</a:t>
            </a:r>
            <a:r>
              <a:rPr sz="1200" b="1" dirty="0">
                <a:solidFill>
                  <a:srgbClr val="514D83"/>
                </a:solidFill>
                <a:latin typeface="微软雅黑"/>
              </a:rPr>
              <a:t> | 85 ID + 35 OOD = 120 </a:t>
            </a:r>
            <a:r>
              <a:rPr sz="1200" b="1" dirty="0" err="1">
                <a:solidFill>
                  <a:srgbClr val="514D83"/>
                </a:solidFill>
                <a:latin typeface="微软雅黑"/>
              </a:rPr>
              <a:t>配对回合</a:t>
            </a:r>
            <a:r>
              <a:rPr sz="1200" b="1" dirty="0">
                <a:solidFill>
                  <a:srgbClr val="514D83"/>
                </a:solidFill>
                <a:latin typeface="微软雅黑"/>
              </a:rPr>
              <a:t> × 14 </a:t>
            </a:r>
            <a:r>
              <a:rPr sz="1200" b="1" dirty="0" err="1">
                <a:solidFill>
                  <a:srgbClr val="514D83"/>
                </a:solidFill>
                <a:latin typeface="微软雅黑"/>
              </a:rPr>
              <a:t>组合</a:t>
            </a:r>
            <a:r>
              <a:rPr sz="1200" b="1" dirty="0">
                <a:solidFill>
                  <a:srgbClr val="514D83"/>
                </a:solidFill>
                <a:latin typeface="微软雅黑"/>
              </a:rPr>
              <a:t> = 1,680 </a:t>
            </a:r>
            <a:r>
              <a:rPr sz="1200" b="1" dirty="0" err="1">
                <a:solidFill>
                  <a:srgbClr val="514D83"/>
                </a:solidFill>
                <a:latin typeface="微软雅黑"/>
              </a:rPr>
              <a:t>次滚动</a:t>
            </a:r>
            <a:endParaRPr sz="1200" b="1" dirty="0">
              <a:solidFill>
                <a:srgbClr val="514D83"/>
              </a:solidFill>
              <a:latin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9542088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12244-9F62-B9DB-AF12-15BDD5ED3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76151FF0-F5C7-9DB9-D69D-3553197FC862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3A6C1B1-A144-C18C-FE3E-7D5CC07383A6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239DEC28-79C9-566A-B45C-C101C0104A88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51A2C07F-150F-2CC2-6214-DE052198F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A5381A1-16A8-711A-72CF-ED8167CB19F5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3391C5BA-24A5-B164-CEA8-28510823CC9F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AE8BF68-F87F-EB91-CFB5-BA3DF261C9DE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F5CC1C38-F682-91B2-B91D-457AC01C5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C9C391F2-7F7C-4797-BA1D-8F16D6C8CAB4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707A6311-6E30-619C-4838-5EE13482DD80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gallery_00_structured_s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11845"/>
            <a:ext cx="3044687" cy="4572000"/>
          </a:xfrm>
          <a:prstGeom prst="rect">
            <a:avLst/>
          </a:prstGeom>
        </p:spPr>
      </p:pic>
      <p:pic>
        <p:nvPicPr>
          <p:cNvPr id="13" name="Picture 12" descr="gallery_01_structured_s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1711845"/>
            <a:ext cx="3044687" cy="4572000"/>
          </a:xfrm>
          <a:prstGeom prst="rect">
            <a:avLst/>
          </a:prstGeom>
        </p:spPr>
      </p:pic>
      <p:pic>
        <p:nvPicPr>
          <p:cNvPr id="5" name="Picture 13" descr="gallery_02_structured_s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1711845"/>
            <a:ext cx="3044687" cy="4572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 dirty="0" err="1">
                <a:solidFill>
                  <a:srgbClr val="514D83"/>
                </a:solidFill>
                <a:latin typeface="微软雅黑"/>
              </a:rPr>
              <a:t>结构化海流（ID</a:t>
            </a:r>
            <a:r>
              <a:rPr sz="1700" b="1" dirty="0">
                <a:solidFill>
                  <a:srgbClr val="514D83"/>
                </a:solidFill>
                <a:latin typeface="微软雅黑"/>
              </a:rPr>
              <a:t>）</a:t>
            </a:r>
          </a:p>
        </p:txBody>
      </p:sp>
      <p:sp>
        <p:nvSpPr>
          <p:cNvPr id="8" name="TextBox 14"/>
          <p:cNvSpPr txBox="1"/>
          <p:nvPr/>
        </p:nvSpPr>
        <p:spPr>
          <a:xfrm>
            <a:off x="457200" y="6537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0">
                <a:latin typeface="微软雅黑"/>
              </a:rPr>
              <a:t>恒定流×2.5（方向不变）| 多频正弦叠加 | 阶跃 t=10s 突变</a:t>
            </a:r>
          </a:p>
        </p:txBody>
      </p:sp>
    </p:spTree>
    <p:extLst>
      <p:ext uri="{BB962C8B-B14F-4D97-AF65-F5344CB8AC3E}">
        <p14:creationId xmlns:p14="http://schemas.microsoft.com/office/powerpoint/2010/main" val="25455573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35FBC-A790-28F0-E3FE-2916AA9C0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F33D8B55-01B2-4C40-361B-453F59FB3621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DC24757-8FBB-B3D1-7939-174D54546B97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AED2F30D-BFD7-9409-1CF9-E3EFEBE6B7E1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D79DC304-86EB-B1CE-71A2-8A9C32C42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F5BF4E9-5E88-E494-A6F1-D23BDB7F4854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6524023F-E1E6-E00D-56F9-FAB471D60FD0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7452CF6-B744-7A18-034A-E1260043F5BC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74813A74-2809-6940-7BCD-BCC18C573D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9F73ACA8-6C9E-18FA-DBFD-E9E9376C7CC9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21228716-AAC2-7138-512B-1A85E196A09E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gallery_03_mass_damping_mismatch_uns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3044687" cy="457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0" y="201168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 dirty="0" err="1">
                <a:solidFill>
                  <a:srgbClr val="514D83"/>
                </a:solidFill>
                <a:latin typeface="微软雅黑"/>
              </a:rPr>
              <a:t>参数范围与含义</a:t>
            </a:r>
            <a:endParaRPr sz="1500" b="1" dirty="0">
              <a:solidFill>
                <a:srgbClr val="514D83"/>
              </a:solidFill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 dirty="0" err="1">
                <a:latin typeface="微软雅黑"/>
              </a:rPr>
              <a:t>训练</a:t>
            </a:r>
            <a:r>
              <a:rPr sz="1200" b="0" dirty="0">
                <a:latin typeface="微软雅黑"/>
              </a:rPr>
              <a:t>: mass ×[0.94,1.06], damp ×[0.94,1.06]
</a:t>
            </a:r>
            <a:r>
              <a:rPr sz="1200" b="0" dirty="0" err="1">
                <a:latin typeface="微软雅黑"/>
              </a:rPr>
              <a:t>测试</a:t>
            </a:r>
            <a:r>
              <a:rPr sz="1200" b="0" dirty="0">
                <a:latin typeface="微软雅黑"/>
              </a:rPr>
              <a:t>: mass ×[1.10,1.25], damp ×[0.75,0.90]
mass=</a:t>
            </a:r>
            <a:r>
              <a:rPr sz="1200" b="0" dirty="0" err="1">
                <a:latin typeface="微软雅黑"/>
              </a:rPr>
              <a:t>航行器质量缩放</a:t>
            </a:r>
            <a:r>
              <a:rPr sz="1200" b="0" dirty="0">
                <a:latin typeface="微软雅黑"/>
              </a:rPr>
              <a:t> | damp=</a:t>
            </a:r>
            <a:r>
              <a:rPr sz="1200" b="0" dirty="0" err="1">
                <a:latin typeface="微软雅黑"/>
              </a:rPr>
              <a:t>水动力阻尼缩放</a:t>
            </a:r>
            <a:endParaRPr sz="1200" b="0" dirty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0" dirty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 dirty="0" err="1">
                <a:solidFill>
                  <a:srgbClr val="E8730C"/>
                </a:solidFill>
                <a:latin typeface="微软雅黑"/>
              </a:rPr>
              <a:t>物理意义</a:t>
            </a:r>
            <a:endParaRPr sz="1500" b="1" dirty="0">
              <a:solidFill>
                <a:srgbClr val="E8730C"/>
              </a:solidFill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 dirty="0" err="1">
                <a:latin typeface="微软雅黑"/>
              </a:rPr>
              <a:t>测试范围系统性超出训练采样，检验参数外推能力</a:t>
            </a:r>
            <a:endParaRPr sz="1200" b="0" dirty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0" dirty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 dirty="0" err="1">
                <a:solidFill>
                  <a:srgbClr val="3F7E72"/>
                </a:solidFill>
                <a:latin typeface="微软雅黑"/>
              </a:rPr>
              <a:t>结果</a:t>
            </a:r>
            <a:endParaRPr sz="1500" b="1" dirty="0">
              <a:solidFill>
                <a:srgbClr val="3F7E72"/>
              </a:solidFill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 dirty="0" err="1">
                <a:latin typeface="微软雅黑"/>
              </a:rPr>
              <a:t>残差策略将跟踪误差从</a:t>
            </a:r>
            <a:r>
              <a:rPr sz="1200" b="1" dirty="0">
                <a:latin typeface="微软雅黑"/>
              </a:rPr>
              <a:t> 0.161 </a:t>
            </a:r>
            <a:r>
              <a:rPr sz="1200" b="1" dirty="0" err="1">
                <a:latin typeface="微软雅黑"/>
              </a:rPr>
              <a:t>降至</a:t>
            </a:r>
            <a:r>
              <a:rPr sz="1200" b="1" dirty="0">
                <a:latin typeface="微软雅黑"/>
              </a:rPr>
              <a:t> 0.116 m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1" dirty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0" dirty="0" err="1">
                <a:solidFill>
                  <a:srgbClr val="6B6F85"/>
                </a:solidFill>
                <a:latin typeface="微软雅黑"/>
              </a:rPr>
              <a:t>每回合</a:t>
            </a:r>
            <a:r>
              <a:rPr sz="1100" b="0" dirty="0">
                <a:solidFill>
                  <a:srgbClr val="6B6F85"/>
                </a:solidFill>
                <a:latin typeface="微软雅黑"/>
              </a:rPr>
              <a:t> 2,100 步（21 s）· 6 </a:t>
            </a:r>
            <a:r>
              <a:rPr sz="1100" b="0" dirty="0" err="1">
                <a:solidFill>
                  <a:srgbClr val="6B6F85"/>
                </a:solidFill>
                <a:latin typeface="微软雅黑"/>
              </a:rPr>
              <a:t>方法</a:t>
            </a:r>
            <a:r>
              <a:rPr sz="1100" b="0" dirty="0">
                <a:solidFill>
                  <a:srgbClr val="6B6F85"/>
                </a:solidFill>
                <a:latin typeface="微软雅黑"/>
              </a:rPr>
              <a:t> × 5 </a:t>
            </a:r>
            <a:r>
              <a:rPr sz="1100" b="0" dirty="0" err="1">
                <a:solidFill>
                  <a:srgbClr val="6B6F85"/>
                </a:solidFill>
                <a:latin typeface="微软雅黑"/>
              </a:rPr>
              <a:t>种子</a:t>
            </a:r>
            <a:endParaRPr sz="1100" b="0" dirty="0">
              <a:solidFill>
                <a:srgbClr val="6B6F85"/>
              </a:solidFill>
              <a:latin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7206444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F37BE-E98C-A1C5-0C3D-4F55D1B32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82901E93-1766-A3B4-5AE6-4D47D13DB5F6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D154E33-81C5-15E3-4F19-76B39F1B18AE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CB30080C-18CD-0098-0AD5-1962AB548F04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A13B2AE0-86F5-B1FA-0C51-6800191CB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7EDD2BC-B61D-ED4A-1650-436428A71509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E9778E04-1E37-C9CB-0427-409543B39071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9C3F05AC-F7DC-C0BE-7188-B6233B63A1BE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16FE7AA5-2056-6ACE-F306-14CD5520F5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959DDAFA-4F0A-D5E9-DAFE-1455A022673B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57DF83E9-BC8A-092B-93A8-015EE5EB5DEB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514D83"/>
                </a:solidFill>
                <a:latin typeface="微软雅黑"/>
              </a:rPr>
              <a:t>彩色噪声（OOD）</a:t>
            </a:r>
          </a:p>
        </p:txBody>
      </p:sp>
      <p:pic>
        <p:nvPicPr>
          <p:cNvPr id="5" name="Picture 11" descr="gallery_04_colored_noise_uns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3044687" cy="4572000"/>
          </a:xfrm>
          <a:prstGeom prst="rect">
            <a:avLst/>
          </a:prstGeom>
        </p:spPr>
      </p:pic>
      <p:sp>
        <p:nvSpPr>
          <p:cNvPr id="8" name="TextBox 12"/>
          <p:cNvSpPr txBox="1"/>
          <p:nvPr/>
        </p:nvSpPr>
        <p:spPr>
          <a:xfrm>
            <a:off x="5029200" y="201168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参数范围与含义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训练: ρ∈[0.90,0.98], σ∈[0.05,0.20]
测试: ρ∈[0.985,0.995], σ∈[0.25,0.40]
ρ=AR(1) 自相关系数（越大越持久）| σ=扰动标准差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E8730C"/>
                </a:solidFill>
                <a:latin typeface="微软雅黑"/>
              </a:rPr>
              <a:t>物理意义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时间相关性与幅值同时增大，海流更难预测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3F7E72"/>
                </a:solidFill>
                <a:latin typeface="微软雅黑"/>
              </a:rPr>
              <a:t>结果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latin typeface="微软雅黑"/>
              </a:rPr>
              <a:t>残差策略在此族保持稳健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1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6B6F85"/>
                </a:solidFill>
                <a:latin typeface="微软雅黑"/>
              </a:rPr>
              <a:t>每回合 2,100 步（21 s）· 6 方法 × 5 种子</a:t>
            </a:r>
          </a:p>
        </p:txBody>
      </p:sp>
    </p:spTree>
    <p:extLst>
      <p:ext uri="{BB962C8B-B14F-4D97-AF65-F5344CB8AC3E}">
        <p14:creationId xmlns:p14="http://schemas.microsoft.com/office/powerpoint/2010/main" val="2359291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A2AFB-09F1-17F6-49C1-41614D2ED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85DCFC92-78FD-2164-D81F-93425186F8AE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1670162-B6D3-214A-5C94-7903AF0F8053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2FE484A8-3AD2-3054-F997-1AB02F23706A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B6393C9E-C733-5BD1-2E67-216DA431C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D0003AC-8AA1-A594-DE15-3250F55BCF1D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BB30BFE2-E513-0F2E-E5A0-25A9B33CA27E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4CCACC3-3B72-F4B8-6E35-48C1E565C9B1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EE3328D6-AE39-13B0-6606-EA967ED579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00326EE7-B8B4-19D6-1FBE-D243ABFC528A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6416C3E1-180E-7314-D3EE-444BA5763E5F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gallery_05_ou_current_uns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3044687" cy="457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0" y="201168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参数范围与含义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训练: θ∈[0.2,1.0] rad/s, σ∈[0.05,0.20]
测试: θ∈[1.2,2.0] rad/s, σ∈[0.25,0.40]
θ=Ornstein-Uhlenbeck 回归速率 | σ=随机力强度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E8730C"/>
                </a:solidFill>
                <a:latin typeface="微软雅黑"/>
              </a:rPr>
              <a:t>物理意义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时间尺度加快（θ 增大 = 更快回归均值）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3F7E72"/>
                </a:solidFill>
                <a:latin typeface="微软雅黑"/>
              </a:rPr>
              <a:t>结果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latin typeface="微软雅黑"/>
              </a:rPr>
              <a:t>残差策略适应更快变化的海流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1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6B6F85"/>
                </a:solidFill>
                <a:latin typeface="微软雅黑"/>
              </a:rPr>
              <a:t>每回合 2,100 步（21 s）· 6 方法 × 5 种子</a:t>
            </a:r>
          </a:p>
        </p:txBody>
      </p:sp>
      <p:sp>
        <p:nvSpPr>
          <p:cNvPr id="17" name="TextBox 10"/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 dirty="0">
                <a:solidFill>
                  <a:srgbClr val="514D83"/>
                </a:solidFill>
                <a:latin typeface="微软雅黑"/>
              </a:rPr>
              <a:t>OU </a:t>
            </a:r>
            <a:r>
              <a:rPr sz="1700" b="1" dirty="0" err="1">
                <a:solidFill>
                  <a:srgbClr val="514D83"/>
                </a:solidFill>
                <a:latin typeface="微软雅黑"/>
              </a:rPr>
              <a:t>海流（OOD</a:t>
            </a:r>
            <a:r>
              <a:rPr sz="1700" b="1" dirty="0">
                <a:solidFill>
                  <a:srgbClr val="514D83"/>
                </a:solidFill>
                <a:latin typeface="微软雅黑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7225485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2B6A1-0B40-5BF4-9D4E-F0E4E5311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597A4BA9-8EAC-1EFF-FABC-B7D9DFEFA511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4C63D58-F96C-D7D2-FE9F-904564D77F61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2D2D1244-5734-DF15-EEFD-A5448FA8C341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3CE6D77E-9D19-5B7D-620A-E7607BBB5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C8DDB65-DFAF-3D5E-AF44-EF5761B1BC58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092D489C-A36F-DF4E-52D1-260CB08C0825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EEA6C65-49F4-9A33-F34A-8C0906D7ADBC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B5B5E048-95A5-AF39-4C71-8123F060C6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B566DA44-0488-FD66-C699-59F67EDC52FC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C20ACB3C-C3F2-85F4-947D-1E9719D5E96F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514D83"/>
                </a:solidFill>
                <a:latin typeface="微软雅黑"/>
              </a:rPr>
              <a:t>随机频率-幅值（OOD）</a:t>
            </a:r>
          </a:p>
        </p:txBody>
      </p:sp>
      <p:pic>
        <p:nvPicPr>
          <p:cNvPr id="12" name="Picture 11" descr="gallery_06_random_freq_amp_uns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3044687" cy="457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0" y="201168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参数范围与含义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训练: amp∈[2.0,3.0], freq∈[0.8,1.2]
测试: amp∈[3.2,4.0], freq∈[1.4,1.8]
amp=幅值缩放因子 | freq=频率缩放因子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E8730C"/>
                </a:solidFill>
                <a:latin typeface="微软雅黑"/>
              </a:rPr>
              <a:t>物理意义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频率与幅值同时超出训练范围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3F7E72"/>
                </a:solidFill>
                <a:latin typeface="微软雅黑"/>
              </a:rPr>
              <a:t>结果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latin typeface="微软雅黑"/>
              </a:rPr>
              <a:t>本族全体方法退化，残差策略退化最少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1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6B6F85"/>
                </a:solidFill>
                <a:latin typeface="微软雅黑"/>
              </a:rPr>
              <a:t>每回合 2,100 步（21 s）· 6 方法 × 5 种子</a:t>
            </a:r>
          </a:p>
        </p:txBody>
      </p:sp>
    </p:spTree>
    <p:extLst>
      <p:ext uri="{BB962C8B-B14F-4D97-AF65-F5344CB8AC3E}">
        <p14:creationId xmlns:p14="http://schemas.microsoft.com/office/powerpoint/2010/main" val="7800594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3E5C8-266C-CDE6-ABCC-AB4F3DD58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C7193265-E5A3-867F-243C-FE42A86EE004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9F67B59-03C3-C08C-9707-951F499C81E0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D4FCC3E7-13C7-430C-F352-87AD3294D72C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14AEE98B-386E-DC9E-FB6F-31DA48EF0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ED844EA-6E29-AB3F-3565-A421BD2EFFE3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E2E0D9F7-30A1-A3A2-05D5-C71FBA8A6AC1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EC8885A3-2C1D-5253-37C2-798FEA16F8A1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527934B5-34A6-5E3B-CCCA-3AAE1AB85C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3E50773A-12FC-2570-9E26-39C1D1D73169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E4572C0D-2B8C-3F30-8544-BE5AAF0AD952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514D83"/>
                </a:solidFill>
                <a:latin typeface="微软雅黑"/>
              </a:rPr>
              <a:t>执行器延迟+噪声（OOD）★ 核心场景</a:t>
            </a:r>
          </a:p>
        </p:txBody>
      </p:sp>
      <p:pic>
        <p:nvPicPr>
          <p:cNvPr id="12" name="Picture 11" descr="gallery_07_actuator_delay_noise_uns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3044687" cy="457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0" y="201168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参数范围与含义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训练: delay∈[2,4] 步, noise∈[0,0.02]
测试: delay∈[6,10] 步, noise∈[0.04,0.08]
delay=推进器响应延迟（1步=10ms）| noise=加性噪声标准差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E8730C"/>
                </a:solidFill>
                <a:latin typeface="微软雅黑"/>
              </a:rPr>
              <a:t>物理意义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MPC 因模型失配持续输出发散指令（0.822 m）
残差策略将误差约束至 0.090 m（−89%）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3F7E72"/>
                </a:solidFill>
                <a:latin typeface="微软雅黑"/>
              </a:rPr>
              <a:t>结果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latin typeface="微软雅黑"/>
              </a:rPr>
              <a:t>监督策略 α 振荡至 0.9+；残差策略稳定于 [0.4,0.6]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1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6B6F85"/>
                </a:solidFill>
                <a:latin typeface="微软雅黑"/>
              </a:rPr>
              <a:t>每回合 2,100 步（21 s）· 6 方法 × 5 种子</a:t>
            </a:r>
          </a:p>
        </p:txBody>
      </p:sp>
    </p:spTree>
    <p:extLst>
      <p:ext uri="{BB962C8B-B14F-4D97-AF65-F5344CB8AC3E}">
        <p14:creationId xmlns:p14="http://schemas.microsoft.com/office/powerpoint/2010/main" val="37006049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D2D31-39F1-46B2-06A7-38FAB9FBE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6387CCE4-BA37-D572-E28E-96B498002276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9CB865F-0A73-4BB6-152B-38EC4215CF95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280F391C-C90F-83CD-BB9D-6EC58F65391F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13413194-580A-E3B1-4930-6CCEF93F1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12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88B3E8D-7FD2-31F8-CC57-50FE89F93017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A788A626-A508-A335-DA00-8B2060EFD7AE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439273E3-B852-570F-D216-62EB8156CA2B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E73D9C88-510E-ADA7-E13B-1CC74D684B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DD2DE34A-B66D-F01D-BF41-E05725B1C916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3C391313-57E8-7573-3114-1A193948D13C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10"/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514D83"/>
                </a:solidFill>
                <a:latin typeface="微软雅黑"/>
              </a:rPr>
              <a:t>快变 OU 海流（OOD）</a:t>
            </a:r>
          </a:p>
        </p:txBody>
      </p:sp>
      <p:pic>
        <p:nvPicPr>
          <p:cNvPr id="5" name="Picture 11" descr="gallery_08_fast_ou_uns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3044687" cy="4572000"/>
          </a:xfrm>
          <a:prstGeom prst="rect">
            <a:avLst/>
          </a:prstGeom>
        </p:spPr>
      </p:pic>
      <p:sp>
        <p:nvSpPr>
          <p:cNvPr id="8" name="TextBox 12"/>
          <p:cNvSpPr txBox="1"/>
          <p:nvPr/>
        </p:nvSpPr>
        <p:spPr>
          <a:xfrm>
            <a:off x="5029200" y="201168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参数范围与含义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仅评估（无训练对应）:
θ∈[3.0,6.0] rad/s, σ∈[0.30,0.50]
θ 远超全部训练族（最快训练值 θ=1.0）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E8730C"/>
                </a:solidFill>
                <a:latin typeface="微软雅黑"/>
              </a:rPr>
              <a:t>物理意义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时间尺度为最快训练族的 3–6 倍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3F7E72"/>
                </a:solidFill>
                <a:latin typeface="微软雅黑"/>
              </a:rPr>
              <a:t>结果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latin typeface="微软雅黑"/>
              </a:rPr>
              <a:t>极端外推场景，检验最远泛化边界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1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6B6F85"/>
                </a:solidFill>
                <a:latin typeface="微软雅黑"/>
              </a:rPr>
              <a:t>每回合 2,100 步（21 s）· 6 方法 × 5 种子</a:t>
            </a:r>
          </a:p>
        </p:txBody>
      </p:sp>
    </p:spTree>
    <p:extLst>
      <p:ext uri="{BB962C8B-B14F-4D97-AF65-F5344CB8AC3E}">
        <p14:creationId xmlns:p14="http://schemas.microsoft.com/office/powerpoint/2010/main" val="32777730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04438-BE05-B127-3FB7-C92A23B6F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5633E35F-7ADE-9B2C-9639-E8C6284076D4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4F6AC38-CE6A-C484-3B6A-20073327B134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28A7DA17-6F51-7366-C9D3-C00D30339335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12E3FEDC-A3B9-809A-6C6F-6D2E4E8FE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13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E54E81E-B7D6-9D43-E0D7-EF2C6CFC59CD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58F55843-4454-6899-74E1-1D084DE9F468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EB8E0977-DDE2-FB4D-5781-DD0E86772D75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F0F67DEE-EC92-057D-10A7-A88AB094F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F9970169-22E7-0D91-F083-7682FEED4E48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725131F4-5D8D-3B7E-6612-1B79BB02867D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514D83"/>
                </a:solidFill>
                <a:latin typeface="微软雅黑"/>
              </a:rPr>
              <a:t>估计延迟（OOD）</a:t>
            </a:r>
          </a:p>
        </p:txBody>
      </p:sp>
      <p:pic>
        <p:nvPicPr>
          <p:cNvPr id="12" name="Picture 11" descr="gallery_09_estimation_delay_uns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3044687" cy="457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0" y="201168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参数范围与含义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仅评估（无训练对应）:
delay∈[10,20] 步, noise∈[0.05,0.10]
delay=传感器数据滞后 | noise=观测噪声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E8730C"/>
                </a:solidFill>
                <a:latin typeface="微软雅黑"/>
              </a:rPr>
              <a:t>物理意义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传感器信息延迟 100–200 ms + 噪声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3F7E72"/>
                </a:solidFill>
                <a:latin typeface="微软雅黑"/>
              </a:rPr>
              <a:t>结果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latin typeface="微软雅黑"/>
              </a:rPr>
              <a:t>检验因果估计下的控制鲁棒性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1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6B6F85"/>
                </a:solidFill>
                <a:latin typeface="微软雅黑"/>
              </a:rPr>
              <a:t>每回合 2,100 步（21 s）· 6 方法 × 5 种子</a:t>
            </a:r>
          </a:p>
        </p:txBody>
      </p:sp>
    </p:spTree>
    <p:extLst>
      <p:ext uri="{BB962C8B-B14F-4D97-AF65-F5344CB8AC3E}">
        <p14:creationId xmlns:p14="http://schemas.microsoft.com/office/powerpoint/2010/main" val="20691357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FDD7E-57C2-E5D2-C0A5-FACB1BE7B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6477257A-DE91-568B-729F-653178A889ED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B788532-0E31-1AFE-ED41-C645C929C4A4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8E960C35-0855-3D1E-28E4-548200A1CDAA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9699A36E-A519-E247-561D-17FD67FFB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FA5F5BE-1278-FE23-EC15-6169BC7E7118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D3E1E1D8-564F-7ED8-C4AD-AA4535682BEF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262D478-33C1-0F6B-FBB2-F3EC769744B1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BA9DA9CE-F44F-1914-6C93-B8F67DF360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FB36BF18-01CF-3752-825B-36433DDD0726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E9B0FC13-6585-B6AB-49E7-AFA949D4BD37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0BE75F6E-FF58-DF4B-8189-4535D0A5CE03}"/>
              </a:ext>
            </a:extLst>
          </p:cNvPr>
          <p:cNvSpPr txBox="1"/>
          <p:nvPr/>
        </p:nvSpPr>
        <p:spPr>
          <a:xfrm>
            <a:off x="0" y="1244052"/>
            <a:ext cx="12192000" cy="8460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342900" indent="-342900" algn="l">
              <a:lnSpc>
                <a:spcPct val="120000"/>
              </a:lnSpc>
              <a:buClr>
                <a:schemeClr val="accent1"/>
              </a:buClr>
              <a:buSzPct val="80000"/>
              <a:buFont typeface="Wingdings" panose="05000000000000000000" pitchFamily="2" charset="2"/>
              <a:buChar char="p"/>
            </a:pP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运动层证据：航行器实际如何运动。左：三维路径/水平投影/垂向误差（列=ID 正弦海流、OOD 执行器退化；检查前固定的保留种子）。右：位置误差/艏向误差/俯仰角时序——退化下 MPC 发散随回合增长（持续错误的内部模型），残差策略两工况都贴近参考。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22" name="Picture 21" descr="fig3_error_attitu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7951" y="2356698"/>
            <a:ext cx="5669280" cy="450282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A86A6DA-D116-7FA7-E320-D9B6874C80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31" y="2196247"/>
            <a:ext cx="4452332" cy="4481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969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A0441-EA06-4E24-2918-3DBE6B46B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D21B98F4-6860-F7AB-A5B0-A572977C642A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23D5A0C-0E1D-9CD3-A4EA-361BADB1BB93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3801BAB0-F78C-0F8D-EDC9-6834E2988A03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45A8A10B-29FC-7708-10A0-FC5D0B20D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DFF1267-FADB-B511-3E63-AAF28A874452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791FE1B2-ADFF-A5C2-5D2E-B2F1D853127A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219C034-A9DF-0377-93A7-1BD9A49DF3DF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2EAF03AC-440B-8A5C-05B8-96E98E0833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52D3FC6B-C93D-3836-17E0-DB68A65D34C5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30DAF14F-2B4A-5528-0852-D1A4EB777969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8BB1E977-B0AD-F74F-603A-1877B0DB5392}"/>
              </a:ext>
            </a:extLst>
          </p:cNvPr>
          <p:cNvSpPr txBox="1"/>
          <p:nvPr/>
        </p:nvSpPr>
        <p:spPr>
          <a:xfrm>
            <a:off x="0" y="1244052"/>
            <a:ext cx="10978564" cy="1621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342900" indent="-342900" algn="l">
              <a:lnSpc>
                <a:spcPct val="120000"/>
              </a:lnSpc>
              <a:buClr>
                <a:schemeClr val="accent1"/>
              </a:buClr>
              <a:buSzPct val="80000"/>
              <a:buFont typeface="Wingdings" panose="05000000000000000000" pitchFamily="2" charset="2"/>
              <a:buChar char="p"/>
            </a:pP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主结果：OOD 跟踪 RMSE 0.161→0.116 m（−28%，CI [−0.074, −0.015]；回合级自助法一致）。固定 α=0.5 达 0.120 m，相差不足 3%——残差的价值集中在最需要自适应处：执行器退化族较固定混合再降 28%。分布内代价 +0.4% / 艏向 +4.3%，如实报告。</a:t>
            </a:r>
          </a:p>
          <a:p>
            <a:pPr marL="342900" indent="-342900" algn="l">
              <a:lnSpc>
                <a:spcPct val="120000"/>
              </a:lnSpc>
              <a:buClr>
                <a:schemeClr val="accent1"/>
              </a:buClr>
              <a:buSzPct val="80000"/>
              <a:buFont typeface="Wingdings" panose="05000000000000000000" pitchFamily="2" charset="2"/>
              <a:buChar char="p"/>
            </a:pP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图</a:t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</a:t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进一步展示了 </a:t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3D tracking error</a:t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、</a:t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3D attitude error </a:t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与 </a:t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authority alpha </a:t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之间的关系。点的颜色表示 </a:t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PAC </a:t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分配给 </a:t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MPC </a:t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侧控制器的权重大小，因此该图可以说明 </a:t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</a:t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是根据当前误差状态动态调整控制权重。</a:t>
            </a:r>
          </a:p>
        </p:txBody>
      </p:sp>
      <p:pic>
        <p:nvPicPr>
          <p:cNvPr id="22" name="Picture 21" descr="fig4_closed_loop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6081" y="2648145"/>
            <a:ext cx="8595360" cy="4386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31687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50BCE-D83E-E439-8FD8-B2E7E54CA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81B4E730-23DC-247B-072A-D9FC2C2380D9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A5B7DFF-DA23-A5E7-A479-248A1FF205E1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B3AD2212-D4FB-ADF2-84FB-65FB283DF901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252E9749-CC34-ADF4-AD54-9573D563F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16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18C2A02-AD55-38D3-6BFC-0D4B624F7893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06D57195-9104-0907-5C78-7F6580B3BD6E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B0CBB9C-EFE9-DF5A-2B02-E8D255F3C794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9F281FC-86E9-182F-CB61-958B80B25A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25332538-A239-8157-2824-B0E2E021044B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E7622435-B449-9F02-BBE9-05C97CD13769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33581C97-548E-5FD2-DA57-FC354C2E6F75}"/>
              </a:ext>
            </a:extLst>
          </p:cNvPr>
          <p:cNvSpPr txBox="1"/>
          <p:nvPr/>
        </p:nvSpPr>
        <p:spPr>
          <a:xfrm>
            <a:off x="0" y="1244052"/>
            <a:ext cx="10978564" cy="1371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342900" indent="-342900" algn="l">
              <a:lnSpc>
                <a:spcPct val="120000"/>
              </a:lnSpc>
              <a:buClr>
                <a:schemeClr val="accent1"/>
              </a:buClr>
              <a:buSzPct val="80000"/>
              <a:buFont typeface="Wingdings" panose="05000000000000000000" pitchFamily="2" charset="2"/>
              <a:buChar char="p"/>
            </a:pP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机制：残差学到的不是新调度，而是「否决」监督策略的越界。退化发生后数秒内监督策略把 α 推过 0.9 并振荡（31.2% 步数、std 0.331）；残差策略 97.0% 的步数稳在 [0.4, 0.6]。c 面板：全部 35 个 OOD 回合 × 5 种子的逐回合平均权限箱线图——监督 0.82±0.14（P10–P90 0.62–0.93）对残差 0.54±0.03，全部残差回合落在 [0.48, 0.62]。</a:t>
            </a:r>
          </a:p>
        </p:txBody>
      </p:sp>
      <p:pic>
        <p:nvPicPr>
          <p:cNvPr id="22" name="Picture 21" descr="fig5_actuator_c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9232" y="2782715"/>
            <a:ext cx="5577840" cy="3848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4380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722F0-4403-5019-B44C-8031920A8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ECE81ED8-1D53-32F6-729E-D972F9AB280A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08933EB-556D-5C92-348F-DFE102019004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799DC40D-3996-3104-9C0B-4A0A99CD8EF4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A107A04B-76C8-5AFC-4EBB-E9D4BBA94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85B719C-CD0F-52C2-963B-0E21C37DA80F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AA1B0154-BA93-8DC0-0011-69A77E8AB2B3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8BD9A79-A430-194C-C533-E3D3E199945E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1F2A304A-AD85-AC64-74CA-775631B8B5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C6CB09E4-3A8F-B088-E31E-2C237030CEF7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F4AE35B9-76E6-250D-A377-84761F1C9326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311AEC22-0384-F7A9-397D-54F98CAFD13D}"/>
              </a:ext>
            </a:extLst>
          </p:cNvPr>
          <p:cNvSpPr txBox="1"/>
          <p:nvPr/>
        </p:nvSpPr>
        <p:spPr>
          <a:xfrm>
            <a:off x="0" y="1244052"/>
            <a:ext cx="10978564" cy="3627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342900" indent="-342900" algn="l">
              <a:lnSpc>
                <a:spcPct val="120000"/>
              </a:lnSpc>
              <a:buClr>
                <a:schemeClr val="accent1"/>
              </a:buClr>
              <a:buSzPct val="80000"/>
              <a:buFont typeface="Wingdings" panose="05000000000000000000" pitchFamily="2" charset="2"/>
              <a:buChar char="p"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控制质量与代价：增益不是靠执行器滥用换来的</a:t>
            </a:r>
          </a:p>
        </p:txBody>
      </p:sp>
      <p:pic>
        <p:nvPicPr>
          <p:cNvPr id="22" name="Picture 21" descr="fig6_cost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9729" y="2450592"/>
            <a:ext cx="8003431" cy="324039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046720" y="192024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dirty="0" err="1">
                <a:latin typeface="微软雅黑"/>
              </a:rPr>
              <a:t>控制质量（OOD</a:t>
            </a:r>
            <a:r>
              <a:rPr sz="1500" b="1" dirty="0">
                <a:latin typeface="微软雅黑"/>
              </a:rPr>
              <a:t>）</a:t>
            </a:r>
          </a:p>
          <a:p>
            <a:pPr>
              <a:spcAft>
                <a:spcPts val="400"/>
              </a:spcAft>
            </a:pPr>
            <a:r>
              <a:rPr sz="1300" b="0" dirty="0" err="1">
                <a:latin typeface="微软雅黑"/>
              </a:rPr>
              <a:t>饱和步占比</a:t>
            </a:r>
            <a:r>
              <a:rPr sz="1300" b="0" dirty="0">
                <a:latin typeface="微软雅黑"/>
              </a:rPr>
              <a:t> 0.126：六方法最低</a:t>
            </a:r>
          </a:p>
          <a:p>
            <a:pPr>
              <a:spcAft>
                <a:spcPts val="400"/>
              </a:spcAft>
            </a:pPr>
            <a:r>
              <a:rPr sz="1300" b="0" dirty="0" err="1">
                <a:latin typeface="微软雅黑"/>
              </a:rPr>
              <a:t>控制代价</a:t>
            </a:r>
            <a:r>
              <a:rPr sz="1300" b="0" dirty="0">
                <a:latin typeface="微软雅黑"/>
              </a:rPr>
              <a:t> 31.9：六方法最低</a:t>
            </a:r>
          </a:p>
          <a:p>
            <a:pPr>
              <a:spcAft>
                <a:spcPts val="400"/>
              </a:spcAft>
            </a:pPr>
            <a:r>
              <a:rPr sz="1300" b="0" dirty="0" err="1">
                <a:latin typeface="微软雅黑"/>
              </a:rPr>
              <a:t>配对代价效应</a:t>
            </a:r>
            <a:r>
              <a:rPr sz="1300" b="0" dirty="0">
                <a:latin typeface="微软雅黑"/>
              </a:rPr>
              <a:t> −1.78 [−2.31, −1.26]</a:t>
            </a:r>
          </a:p>
          <a:p>
            <a:pPr>
              <a:spcAft>
                <a:spcPts val="400"/>
              </a:spcAft>
            </a:pPr>
            <a:r>
              <a:rPr sz="1300" b="0" dirty="0" err="1">
                <a:latin typeface="微软雅黑"/>
              </a:rPr>
              <a:t>准则</a:t>
            </a:r>
            <a:r>
              <a:rPr sz="1300" b="0" dirty="0">
                <a:latin typeface="微软雅黑"/>
              </a:rPr>
              <a:t>③「</a:t>
            </a:r>
            <a:r>
              <a:rPr sz="1300" b="0" dirty="0" err="1">
                <a:latin typeface="微软雅黑"/>
              </a:rPr>
              <a:t>不以饱和</a:t>
            </a:r>
            <a:r>
              <a:rPr sz="1300" b="0" dirty="0">
                <a:latin typeface="微软雅黑"/>
              </a:rPr>
              <a:t>/</a:t>
            </a:r>
            <a:r>
              <a:rPr sz="1300" b="0" dirty="0" err="1">
                <a:latin typeface="微软雅黑"/>
              </a:rPr>
              <a:t>约束换增益」的实证</a:t>
            </a:r>
            <a:endParaRPr sz="1300" b="0" dirty="0">
              <a:latin typeface="微软雅黑"/>
            </a:endParaRPr>
          </a:p>
          <a:p>
            <a:pPr>
              <a:spcAft>
                <a:spcPts val="400"/>
              </a:spcAft>
            </a:pPr>
            <a:r>
              <a:rPr sz="1500" b="1" dirty="0" err="1">
                <a:latin typeface="微软雅黑"/>
              </a:rPr>
              <a:t>代价（如实报告</a:t>
            </a:r>
            <a:r>
              <a:rPr sz="1500" b="1" dirty="0">
                <a:latin typeface="微软雅黑"/>
              </a:rPr>
              <a:t>）</a:t>
            </a:r>
          </a:p>
          <a:p>
            <a:pPr>
              <a:spcAft>
                <a:spcPts val="400"/>
              </a:spcAft>
            </a:pPr>
            <a:r>
              <a:rPr sz="1300" b="0" dirty="0">
                <a:latin typeface="微软雅黑"/>
              </a:rPr>
              <a:t>ID </a:t>
            </a:r>
            <a:r>
              <a:rPr sz="1300" b="0" dirty="0" err="1">
                <a:latin typeface="微软雅黑"/>
              </a:rPr>
              <a:t>误差</a:t>
            </a:r>
            <a:r>
              <a:rPr sz="1300" b="0" dirty="0">
                <a:latin typeface="微软雅黑"/>
              </a:rPr>
              <a:t> +0.4%、</a:t>
            </a:r>
            <a:r>
              <a:rPr sz="1300" b="0" dirty="0" err="1">
                <a:latin typeface="微软雅黑"/>
              </a:rPr>
              <a:t>艏向</a:t>
            </a:r>
            <a:r>
              <a:rPr sz="1300" b="0" dirty="0">
                <a:latin typeface="微软雅黑"/>
              </a:rPr>
              <a:t> +4.3%</a:t>
            </a:r>
          </a:p>
          <a:p>
            <a:pPr>
              <a:spcAft>
                <a:spcPts val="400"/>
              </a:spcAft>
            </a:pPr>
            <a:r>
              <a:rPr sz="1300" b="0" dirty="0" err="1">
                <a:latin typeface="微软雅黑"/>
              </a:rPr>
              <a:t>求解超时率</a:t>
            </a:r>
            <a:r>
              <a:rPr sz="1300" b="0" dirty="0">
                <a:latin typeface="微软雅黑"/>
              </a:rPr>
              <a:t> 0.69→0.80（基线 0.69 </a:t>
            </a:r>
            <a:r>
              <a:rPr sz="1300" b="0" dirty="0" err="1">
                <a:latin typeface="微软雅黑"/>
              </a:rPr>
              <a:t>对所有非学习方法相同；固定</a:t>
            </a:r>
            <a:r>
              <a:rPr sz="1300" b="0" dirty="0">
                <a:latin typeface="微软雅黑"/>
              </a:rPr>
              <a:t> α </a:t>
            </a:r>
            <a:r>
              <a:rPr sz="1300" b="0" dirty="0" err="1">
                <a:latin typeface="微软雅黑"/>
              </a:rPr>
              <a:t>不变；候选解释</a:t>
            </a:r>
            <a:r>
              <a:rPr sz="1300" b="0" dirty="0">
                <a:latin typeface="微软雅黑"/>
              </a:rPr>
              <a:t>=</a:t>
            </a:r>
            <a:r>
              <a:rPr sz="1300" b="0" dirty="0" err="1">
                <a:latin typeface="微软雅黑"/>
              </a:rPr>
              <a:t>轨迹工作点，假设非结论</a:t>
            </a:r>
            <a:r>
              <a:rPr sz="1300" b="0" dirty="0">
                <a:latin typeface="微软雅黑"/>
              </a:rPr>
              <a:t>）</a:t>
            </a:r>
          </a:p>
          <a:p>
            <a:pPr>
              <a:spcAft>
                <a:spcPts val="400"/>
              </a:spcAft>
            </a:pPr>
            <a:r>
              <a:rPr sz="1300" b="0" dirty="0" err="1">
                <a:latin typeface="微软雅黑"/>
              </a:rPr>
              <a:t>部署保障不受影响：回退触发</a:t>
            </a:r>
            <a:r>
              <a:rPr sz="1300" b="0" dirty="0">
                <a:latin typeface="微软雅黑"/>
              </a:rPr>
              <a:t> 0.3–0.5%，</a:t>
            </a:r>
            <a:r>
              <a:rPr sz="1300" b="0" dirty="0" err="1">
                <a:latin typeface="微软雅黑"/>
              </a:rPr>
              <a:t>成功率持平</a:t>
            </a:r>
            <a:endParaRPr sz="1300" b="0" dirty="0">
              <a:latin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3968508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1829853"/>
            <a:ext cx="12192002" cy="24858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659363" y="2276306"/>
            <a:ext cx="108732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4800" b="1" spc="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感谢各位老师，恳请批评指正！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2053252" y="3360568"/>
            <a:ext cx="80854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GB" altLang="zh-CN" sz="2400" spc="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THANK  YOU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5064087" y="4869701"/>
            <a:ext cx="20638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姓名：田家丞</a:t>
            </a:r>
          </a:p>
        </p:txBody>
      </p:sp>
      <p:sp>
        <p:nvSpPr>
          <p:cNvPr id="15" name="圆角矩形 14"/>
          <p:cNvSpPr/>
          <p:nvPr/>
        </p:nvSpPr>
        <p:spPr>
          <a:xfrm>
            <a:off x="4755396" y="4819233"/>
            <a:ext cx="2681207" cy="43943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accent1">
                <a:alpha val="62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椭圆 11"/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3" name="灯片编号占位符 18"/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18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789" y="646772"/>
            <a:ext cx="2918422" cy="9107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主题​​">
  <a:themeElements>
    <a:clrScheme name="自定义 2702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3408E"/>
      </a:accent1>
      <a:accent2>
        <a:srgbClr val="8C3A7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</TotalTime>
  <Words>2390</Words>
  <Application>Microsoft Office PowerPoint</Application>
  <PresentationFormat>宽屏</PresentationFormat>
  <Paragraphs>403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6" baseType="lpstr">
      <vt:lpstr>等线</vt:lpstr>
      <vt:lpstr>等线 Light</vt:lpstr>
      <vt:lpstr>宋体</vt:lpstr>
      <vt:lpstr>微软雅黑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Office User</dc:creator>
  <cp:lastModifiedBy>家丞 田</cp:lastModifiedBy>
  <cp:revision>22</cp:revision>
  <dcterms:created xsi:type="dcterms:W3CDTF">2023-05-03T15:34:00Z</dcterms:created>
  <dcterms:modified xsi:type="dcterms:W3CDTF">2026-09-29T05:53:00Z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E64A04677F1149A094FCBA23A1125531_13</vt:lpwstr>
  </property>
  <property fmtid="{D5CDD505-2E9C-101B-9397-08002B2CF9AE}" pid="3" name="KSOProductBuildVer">
    <vt:lpwstr>2052-12.1.0.26375</vt:lpwstr>
  </property>
</Properties>
</file>