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sldIdLst>
    <p:sldId id="256" r:id="rId2"/>
    <p:sldId id="279" r:id="rId3"/>
    <p:sldId id="301" r:id="rId4"/>
    <p:sldId id="273" r:id="rId5"/>
    <p:sldId id="291" r:id="rId6"/>
    <p:sldId id="292" r:id="rId7"/>
    <p:sldId id="293" r:id="rId8"/>
    <p:sldId id="294" r:id="rId9"/>
    <p:sldId id="295" r:id="rId10"/>
    <p:sldId id="296" r:id="rId11"/>
    <p:sldId id="297" r:id="rId12"/>
    <p:sldId id="298" r:id="rId13"/>
    <p:sldId id="299" r:id="rId14"/>
    <p:sldId id="300" r:id="rId15"/>
    <p:sldId id="274" r:id="rId16"/>
    <p:sldId id="275" r:id="rId17"/>
    <p:sldId id="276" r:id="rId18"/>
    <p:sldId id="277" r:id="rId19"/>
    <p:sldId id="302" r:id="rId20"/>
    <p:sldId id="272" r:id="rId21"/>
  </p:sldIdLst>
  <p:sldSz cx="12192000" cy="6858000"/>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3730"/>
    <p:restoredTop sz="94694"/>
  </p:normalViewPr>
  <p:slideViewPr>
    <p:cSldViewPr snapToGrid="0">
      <p:cViewPr varScale="1">
        <p:scale>
          <a:sx n="89" d="100"/>
          <a:sy n="89" d="100"/>
        </p:scale>
        <p:origin x="72" y="43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p:cNvSpPr>
            <a:spLocks noGrp="1"/>
          </p:cNvSpPr>
          <p:nvPr>
            <p:ph type="ctrTitle"/>
          </p:nvPr>
        </p:nvSpPr>
        <p:spPr>
          <a:xfrm>
            <a:off x="1524000" y="1122363"/>
            <a:ext cx="9144000" cy="2387600"/>
          </a:xfrm>
        </p:spPr>
        <p:txBody>
          <a:bodyPr anchor="b"/>
          <a:lstStyle>
            <a:lvl1pPr algn="ctr">
              <a:defRPr sz="6000"/>
            </a:lvl1pPr>
          </a:lstStyle>
          <a:p>
            <a:r>
              <a:rPr kumimoji="1" lang="zh-CN" altLang="en-US"/>
              <a:t>单击此处编辑母版标题样式</a:t>
            </a:r>
          </a:p>
        </p:txBody>
      </p:sp>
      <p:sp>
        <p:nvSpPr>
          <p:cNvPr id="3" name="副标题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zh-CN" altLang="en-US"/>
              <a:t>单击此处编辑母版副标题样式</a:t>
            </a:r>
          </a:p>
        </p:txBody>
      </p:sp>
      <p:sp>
        <p:nvSpPr>
          <p:cNvPr id="4" name="日期占位符 3"/>
          <p:cNvSpPr>
            <a:spLocks noGrp="1"/>
          </p:cNvSpPr>
          <p:nvPr>
            <p:ph type="dt" sz="half" idx="10"/>
          </p:nvPr>
        </p:nvSpPr>
        <p:spPr/>
        <p:txBody>
          <a:bodyPr/>
          <a:lstStyle/>
          <a:p>
            <a:fld id="{B9676F9D-7DCF-264B-ADCB-B7A67878F215}" type="datetimeFigureOut">
              <a:rPr kumimoji="1" lang="zh-CN" altLang="en-US" smtClean="0"/>
              <a:t>2026/9/29</a:t>
            </a:fld>
            <a:endParaRPr kumimoji="1" lang="zh-CN" altLang="en-US"/>
          </a:p>
        </p:txBody>
      </p:sp>
      <p:sp>
        <p:nvSpPr>
          <p:cNvPr id="5" name="页脚占位符 4"/>
          <p:cNvSpPr>
            <a:spLocks noGrp="1"/>
          </p:cNvSpPr>
          <p:nvPr>
            <p:ph type="ftr" sz="quarter" idx="11"/>
          </p:nvPr>
        </p:nvSpPr>
        <p:spPr/>
        <p:txBody>
          <a:bodyPr/>
          <a:lstStyle/>
          <a:p>
            <a:endParaRPr kumimoji="1" lang="zh-CN" altLang="en-US"/>
          </a:p>
        </p:txBody>
      </p:sp>
      <p:sp>
        <p:nvSpPr>
          <p:cNvPr id="6" name="灯片编号占位符 5"/>
          <p:cNvSpPr>
            <a:spLocks noGrp="1"/>
          </p:cNvSpPr>
          <p:nvPr>
            <p:ph type="sldNum" sz="quarter" idx="12"/>
          </p:nvPr>
        </p:nvSpPr>
        <p:spPr/>
        <p:txBody>
          <a:bodyPr/>
          <a:lstStyle/>
          <a:p>
            <a:fld id="{29B712C0-FBCD-324F-BF1D-38904C6C270D}" type="slidenum">
              <a:rPr kumimoji="1" lang="zh-CN" altLang="en-US" smtClean="0"/>
              <a:t>‹#›</a:t>
            </a:fld>
            <a:endParaRPr kumimoji="1" lang="zh-CN" alt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kumimoji="1" lang="zh-CN" altLang="en-US"/>
              <a:t>单击此处编辑母版标题样式</a:t>
            </a:r>
          </a:p>
        </p:txBody>
      </p:sp>
      <p:sp>
        <p:nvSpPr>
          <p:cNvPr id="3" name="内容占位符 2"/>
          <p:cNvSpPr>
            <a:spLocks noGrp="1"/>
          </p:cNvSpPr>
          <p:nvPr>
            <p:ph idx="1"/>
          </p:nvPr>
        </p:nvSpPr>
        <p:spPr/>
        <p:txBody>
          <a:body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4" name="日期占位符 3"/>
          <p:cNvSpPr>
            <a:spLocks noGrp="1"/>
          </p:cNvSpPr>
          <p:nvPr>
            <p:ph type="dt" sz="half" idx="10"/>
          </p:nvPr>
        </p:nvSpPr>
        <p:spPr/>
        <p:txBody>
          <a:bodyPr/>
          <a:lstStyle/>
          <a:p>
            <a:fld id="{B9676F9D-7DCF-264B-ADCB-B7A67878F215}" type="datetimeFigureOut">
              <a:rPr kumimoji="1" lang="zh-CN" altLang="en-US" smtClean="0"/>
              <a:t>2026/9/29</a:t>
            </a:fld>
            <a:endParaRPr kumimoji="1" lang="zh-CN" altLang="en-US"/>
          </a:p>
        </p:txBody>
      </p:sp>
      <p:sp>
        <p:nvSpPr>
          <p:cNvPr id="5" name="页脚占位符 4"/>
          <p:cNvSpPr>
            <a:spLocks noGrp="1"/>
          </p:cNvSpPr>
          <p:nvPr>
            <p:ph type="ftr" sz="quarter" idx="11"/>
          </p:nvPr>
        </p:nvSpPr>
        <p:spPr/>
        <p:txBody>
          <a:bodyPr/>
          <a:lstStyle/>
          <a:p>
            <a:endParaRPr kumimoji="1" lang="zh-CN" altLang="en-US"/>
          </a:p>
        </p:txBody>
      </p:sp>
      <p:sp>
        <p:nvSpPr>
          <p:cNvPr id="6" name="灯片编号占位符 5"/>
          <p:cNvSpPr>
            <a:spLocks noGrp="1"/>
          </p:cNvSpPr>
          <p:nvPr>
            <p:ph type="sldNum" sz="quarter" idx="12"/>
          </p:nvPr>
        </p:nvSpPr>
        <p:spPr/>
        <p:txBody>
          <a:bodyPr/>
          <a:lstStyle/>
          <a:p>
            <a:fld id="{29B712C0-FBCD-324F-BF1D-38904C6C270D}" type="slidenum">
              <a:rPr kumimoji="1" lang="zh-CN" altLang="en-US" smtClean="0"/>
              <a:t>‹#›</a:t>
            </a:fld>
            <a:endParaRPr kumimoji="1" lang="zh-CN" alt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831850" y="1709738"/>
            <a:ext cx="10515600" cy="2852737"/>
          </a:xfrm>
        </p:spPr>
        <p:txBody>
          <a:bodyPr anchor="b"/>
          <a:lstStyle>
            <a:lvl1pPr>
              <a:defRPr sz="6000"/>
            </a:lvl1pPr>
          </a:lstStyle>
          <a:p>
            <a:r>
              <a:rPr kumimoji="1" lang="zh-CN" altLang="en-US"/>
              <a:t>单击此处编辑母版标题样式</a:t>
            </a:r>
          </a:p>
        </p:txBody>
      </p:sp>
      <p:sp>
        <p:nvSpPr>
          <p:cNvPr id="3" name="文本占位符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kumimoji="1" lang="zh-CN" altLang="en-US"/>
              <a:t>单击此处编辑母版文本样式</a:t>
            </a:r>
          </a:p>
        </p:txBody>
      </p:sp>
      <p:sp>
        <p:nvSpPr>
          <p:cNvPr id="4" name="日期占位符 3"/>
          <p:cNvSpPr>
            <a:spLocks noGrp="1"/>
          </p:cNvSpPr>
          <p:nvPr>
            <p:ph type="dt" sz="half" idx="10"/>
          </p:nvPr>
        </p:nvSpPr>
        <p:spPr/>
        <p:txBody>
          <a:bodyPr/>
          <a:lstStyle/>
          <a:p>
            <a:fld id="{B9676F9D-7DCF-264B-ADCB-B7A67878F215}" type="datetimeFigureOut">
              <a:rPr kumimoji="1" lang="zh-CN" altLang="en-US" smtClean="0"/>
              <a:t>2026/9/29</a:t>
            </a:fld>
            <a:endParaRPr kumimoji="1" lang="zh-CN" altLang="en-US"/>
          </a:p>
        </p:txBody>
      </p:sp>
      <p:sp>
        <p:nvSpPr>
          <p:cNvPr id="5" name="页脚占位符 4"/>
          <p:cNvSpPr>
            <a:spLocks noGrp="1"/>
          </p:cNvSpPr>
          <p:nvPr>
            <p:ph type="ftr" sz="quarter" idx="11"/>
          </p:nvPr>
        </p:nvSpPr>
        <p:spPr/>
        <p:txBody>
          <a:bodyPr/>
          <a:lstStyle/>
          <a:p>
            <a:endParaRPr kumimoji="1" lang="zh-CN" altLang="en-US"/>
          </a:p>
        </p:txBody>
      </p:sp>
      <p:sp>
        <p:nvSpPr>
          <p:cNvPr id="6" name="灯片编号占位符 5"/>
          <p:cNvSpPr>
            <a:spLocks noGrp="1"/>
          </p:cNvSpPr>
          <p:nvPr>
            <p:ph type="sldNum" sz="quarter" idx="12"/>
          </p:nvPr>
        </p:nvSpPr>
        <p:spPr/>
        <p:txBody>
          <a:bodyPr/>
          <a:lstStyle/>
          <a:p>
            <a:fld id="{29B712C0-FBCD-324F-BF1D-38904C6C270D}" type="slidenum">
              <a:rPr kumimoji="1" lang="zh-CN" altLang="en-US" smtClean="0"/>
              <a:t>‹#›</a:t>
            </a:fld>
            <a:endParaRPr kumimoji="1" lang="zh-CN" alt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kumimoji="1" lang="zh-CN" altLang="en-US"/>
              <a:t>单击此处编辑母版标题样式</a:t>
            </a:r>
          </a:p>
        </p:txBody>
      </p:sp>
      <p:sp>
        <p:nvSpPr>
          <p:cNvPr id="3" name="内容占位符 2"/>
          <p:cNvSpPr>
            <a:spLocks noGrp="1"/>
          </p:cNvSpPr>
          <p:nvPr>
            <p:ph sz="half" idx="1"/>
          </p:nvPr>
        </p:nvSpPr>
        <p:spPr>
          <a:xfrm>
            <a:off x="838200" y="1825625"/>
            <a:ext cx="5181600" cy="4351338"/>
          </a:xfrm>
        </p:spPr>
        <p:txBody>
          <a:body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4" name="内容占位符 3"/>
          <p:cNvSpPr>
            <a:spLocks noGrp="1"/>
          </p:cNvSpPr>
          <p:nvPr>
            <p:ph sz="half" idx="2"/>
          </p:nvPr>
        </p:nvSpPr>
        <p:spPr>
          <a:xfrm>
            <a:off x="6172200" y="1825625"/>
            <a:ext cx="5181600" cy="4351338"/>
          </a:xfrm>
        </p:spPr>
        <p:txBody>
          <a:body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5" name="日期占位符 4"/>
          <p:cNvSpPr>
            <a:spLocks noGrp="1"/>
          </p:cNvSpPr>
          <p:nvPr>
            <p:ph type="dt" sz="half" idx="10"/>
          </p:nvPr>
        </p:nvSpPr>
        <p:spPr/>
        <p:txBody>
          <a:bodyPr/>
          <a:lstStyle/>
          <a:p>
            <a:fld id="{B9676F9D-7DCF-264B-ADCB-B7A67878F215}" type="datetimeFigureOut">
              <a:rPr kumimoji="1" lang="zh-CN" altLang="en-US" smtClean="0"/>
              <a:t>2026/9/29</a:t>
            </a:fld>
            <a:endParaRPr kumimoji="1" lang="zh-CN" altLang="en-US"/>
          </a:p>
        </p:txBody>
      </p:sp>
      <p:sp>
        <p:nvSpPr>
          <p:cNvPr id="6" name="页脚占位符 5"/>
          <p:cNvSpPr>
            <a:spLocks noGrp="1"/>
          </p:cNvSpPr>
          <p:nvPr>
            <p:ph type="ftr" sz="quarter" idx="11"/>
          </p:nvPr>
        </p:nvSpPr>
        <p:spPr/>
        <p:txBody>
          <a:bodyPr/>
          <a:lstStyle/>
          <a:p>
            <a:endParaRPr kumimoji="1" lang="zh-CN" altLang="en-US"/>
          </a:p>
        </p:txBody>
      </p:sp>
      <p:sp>
        <p:nvSpPr>
          <p:cNvPr id="7" name="灯片编号占位符 6"/>
          <p:cNvSpPr>
            <a:spLocks noGrp="1"/>
          </p:cNvSpPr>
          <p:nvPr>
            <p:ph type="sldNum" sz="quarter" idx="12"/>
          </p:nvPr>
        </p:nvSpPr>
        <p:spPr/>
        <p:txBody>
          <a:bodyPr/>
          <a:lstStyle/>
          <a:p>
            <a:fld id="{29B712C0-FBCD-324F-BF1D-38904C6C270D}" type="slidenum">
              <a:rPr kumimoji="1" lang="zh-CN" altLang="en-US" smtClean="0"/>
              <a:t>‹#›</a:t>
            </a:fld>
            <a:endParaRPr kumimoji="1" lang="zh-CN" alt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839788" y="365125"/>
            <a:ext cx="10515600" cy="1325563"/>
          </a:xfrm>
        </p:spPr>
        <p:txBody>
          <a:bodyPr/>
          <a:lstStyle/>
          <a:p>
            <a:r>
              <a:rPr kumimoji="1" lang="zh-CN" altLang="en-US"/>
              <a:t>单击此处编辑母版标题样式</a:t>
            </a:r>
          </a:p>
        </p:txBody>
      </p:sp>
      <p:sp>
        <p:nvSpPr>
          <p:cNvPr id="3" name="文本占位符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zh-CN" altLang="en-US"/>
              <a:t>单击此处编辑母版文本样式</a:t>
            </a:r>
          </a:p>
        </p:txBody>
      </p:sp>
      <p:sp>
        <p:nvSpPr>
          <p:cNvPr id="4" name="内容占位符 3"/>
          <p:cNvSpPr>
            <a:spLocks noGrp="1"/>
          </p:cNvSpPr>
          <p:nvPr>
            <p:ph sz="half" idx="2"/>
          </p:nvPr>
        </p:nvSpPr>
        <p:spPr>
          <a:xfrm>
            <a:off x="839788" y="2505075"/>
            <a:ext cx="5157787" cy="3684588"/>
          </a:xfrm>
        </p:spPr>
        <p:txBody>
          <a:body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5" name="文本占位符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zh-CN" altLang="en-US"/>
              <a:t>单击此处编辑母版文本样式</a:t>
            </a:r>
          </a:p>
        </p:txBody>
      </p:sp>
      <p:sp>
        <p:nvSpPr>
          <p:cNvPr id="6" name="内容占位符 5"/>
          <p:cNvSpPr>
            <a:spLocks noGrp="1"/>
          </p:cNvSpPr>
          <p:nvPr>
            <p:ph sz="quarter" idx="4"/>
          </p:nvPr>
        </p:nvSpPr>
        <p:spPr>
          <a:xfrm>
            <a:off x="6172200" y="2505075"/>
            <a:ext cx="5183188" cy="3684588"/>
          </a:xfrm>
        </p:spPr>
        <p:txBody>
          <a:body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7" name="日期占位符 6"/>
          <p:cNvSpPr>
            <a:spLocks noGrp="1"/>
          </p:cNvSpPr>
          <p:nvPr>
            <p:ph type="dt" sz="half" idx="10"/>
          </p:nvPr>
        </p:nvSpPr>
        <p:spPr/>
        <p:txBody>
          <a:bodyPr/>
          <a:lstStyle/>
          <a:p>
            <a:fld id="{B9676F9D-7DCF-264B-ADCB-B7A67878F215}" type="datetimeFigureOut">
              <a:rPr kumimoji="1" lang="zh-CN" altLang="en-US" smtClean="0"/>
              <a:t>2026/9/29</a:t>
            </a:fld>
            <a:endParaRPr kumimoji="1" lang="zh-CN" altLang="en-US"/>
          </a:p>
        </p:txBody>
      </p:sp>
      <p:sp>
        <p:nvSpPr>
          <p:cNvPr id="8" name="页脚占位符 7"/>
          <p:cNvSpPr>
            <a:spLocks noGrp="1"/>
          </p:cNvSpPr>
          <p:nvPr>
            <p:ph type="ftr" sz="quarter" idx="11"/>
          </p:nvPr>
        </p:nvSpPr>
        <p:spPr/>
        <p:txBody>
          <a:bodyPr/>
          <a:lstStyle/>
          <a:p>
            <a:endParaRPr kumimoji="1" lang="zh-CN" altLang="en-US"/>
          </a:p>
        </p:txBody>
      </p:sp>
      <p:sp>
        <p:nvSpPr>
          <p:cNvPr id="9" name="灯片编号占位符 8"/>
          <p:cNvSpPr>
            <a:spLocks noGrp="1"/>
          </p:cNvSpPr>
          <p:nvPr>
            <p:ph type="sldNum" sz="quarter" idx="12"/>
          </p:nvPr>
        </p:nvSpPr>
        <p:spPr/>
        <p:txBody>
          <a:bodyPr/>
          <a:lstStyle/>
          <a:p>
            <a:fld id="{29B712C0-FBCD-324F-BF1D-38904C6C270D}" type="slidenum">
              <a:rPr kumimoji="1" lang="zh-CN" altLang="en-US" smtClean="0"/>
              <a:t>‹#›</a:t>
            </a:fld>
            <a:endParaRPr kumimoji="1" lang="zh-CN" alt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kumimoji="1" lang="zh-CN" altLang="en-US"/>
              <a:t>单击此处编辑母版标题样式</a:t>
            </a:r>
          </a:p>
        </p:txBody>
      </p:sp>
      <p:sp>
        <p:nvSpPr>
          <p:cNvPr id="3" name="日期占位符 2"/>
          <p:cNvSpPr>
            <a:spLocks noGrp="1"/>
          </p:cNvSpPr>
          <p:nvPr>
            <p:ph type="dt" sz="half" idx="10"/>
          </p:nvPr>
        </p:nvSpPr>
        <p:spPr/>
        <p:txBody>
          <a:bodyPr/>
          <a:lstStyle/>
          <a:p>
            <a:fld id="{B9676F9D-7DCF-264B-ADCB-B7A67878F215}" type="datetimeFigureOut">
              <a:rPr kumimoji="1" lang="zh-CN" altLang="en-US" smtClean="0"/>
              <a:t>2026/9/29</a:t>
            </a:fld>
            <a:endParaRPr kumimoji="1" lang="zh-CN" altLang="en-US"/>
          </a:p>
        </p:txBody>
      </p:sp>
      <p:sp>
        <p:nvSpPr>
          <p:cNvPr id="4" name="页脚占位符 3"/>
          <p:cNvSpPr>
            <a:spLocks noGrp="1"/>
          </p:cNvSpPr>
          <p:nvPr>
            <p:ph type="ftr" sz="quarter" idx="11"/>
          </p:nvPr>
        </p:nvSpPr>
        <p:spPr/>
        <p:txBody>
          <a:bodyPr/>
          <a:lstStyle/>
          <a:p>
            <a:endParaRPr kumimoji="1" lang="zh-CN" altLang="en-US"/>
          </a:p>
        </p:txBody>
      </p:sp>
      <p:sp>
        <p:nvSpPr>
          <p:cNvPr id="5" name="灯片编号占位符 4"/>
          <p:cNvSpPr>
            <a:spLocks noGrp="1"/>
          </p:cNvSpPr>
          <p:nvPr>
            <p:ph type="sldNum" sz="quarter" idx="12"/>
          </p:nvPr>
        </p:nvSpPr>
        <p:spPr/>
        <p:txBody>
          <a:bodyPr/>
          <a:lstStyle/>
          <a:p>
            <a:fld id="{29B712C0-FBCD-324F-BF1D-38904C6C270D}" type="slidenum">
              <a:rPr kumimoji="1" lang="zh-CN" altLang="en-US" smtClean="0"/>
              <a:t>‹#›</a:t>
            </a:fld>
            <a:endParaRPr kumimoji="1" lang="zh-CN" alt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a:lstStyle/>
          <a:p>
            <a:fld id="{B9676F9D-7DCF-264B-ADCB-B7A67878F215}" type="datetimeFigureOut">
              <a:rPr kumimoji="1" lang="zh-CN" altLang="en-US" smtClean="0"/>
              <a:t>2026/9/29</a:t>
            </a:fld>
            <a:endParaRPr kumimoji="1" lang="zh-CN" altLang="en-US"/>
          </a:p>
        </p:txBody>
      </p:sp>
      <p:sp>
        <p:nvSpPr>
          <p:cNvPr id="3" name="页脚占位符 2"/>
          <p:cNvSpPr>
            <a:spLocks noGrp="1"/>
          </p:cNvSpPr>
          <p:nvPr>
            <p:ph type="ftr" sz="quarter" idx="11"/>
          </p:nvPr>
        </p:nvSpPr>
        <p:spPr/>
        <p:txBody>
          <a:bodyPr/>
          <a:lstStyle/>
          <a:p>
            <a:endParaRPr kumimoji="1" lang="zh-CN" altLang="en-US"/>
          </a:p>
        </p:txBody>
      </p:sp>
      <p:sp>
        <p:nvSpPr>
          <p:cNvPr id="4" name="灯片编号占位符 3"/>
          <p:cNvSpPr>
            <a:spLocks noGrp="1"/>
          </p:cNvSpPr>
          <p:nvPr>
            <p:ph type="sldNum" sz="quarter" idx="12"/>
          </p:nvPr>
        </p:nvSpPr>
        <p:spPr/>
        <p:txBody>
          <a:bodyPr/>
          <a:lstStyle/>
          <a:p>
            <a:fld id="{29B712C0-FBCD-324F-BF1D-38904C6C270D}" type="slidenum">
              <a:rPr kumimoji="1" lang="zh-CN" altLang="en-US" smtClean="0"/>
              <a:t>‹#›</a:t>
            </a:fld>
            <a:endParaRPr kumimoji="1" lang="zh-CN" alt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839788" y="457200"/>
            <a:ext cx="3932237" cy="1600200"/>
          </a:xfrm>
        </p:spPr>
        <p:txBody>
          <a:bodyPr anchor="b"/>
          <a:lstStyle>
            <a:lvl1pPr>
              <a:defRPr sz="3200"/>
            </a:lvl1pPr>
          </a:lstStyle>
          <a:p>
            <a:r>
              <a:rPr kumimoji="1" lang="zh-CN" altLang="en-US"/>
              <a:t>单击此处编辑母版标题样式</a:t>
            </a:r>
          </a:p>
        </p:txBody>
      </p:sp>
      <p:sp>
        <p:nvSpPr>
          <p:cNvPr id="3" name="内容占位符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4" name="文本占位符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zh-CN" altLang="en-US"/>
              <a:t>单击此处编辑母版文本样式</a:t>
            </a:r>
          </a:p>
        </p:txBody>
      </p:sp>
      <p:sp>
        <p:nvSpPr>
          <p:cNvPr id="5" name="日期占位符 4"/>
          <p:cNvSpPr>
            <a:spLocks noGrp="1"/>
          </p:cNvSpPr>
          <p:nvPr>
            <p:ph type="dt" sz="half" idx="10"/>
          </p:nvPr>
        </p:nvSpPr>
        <p:spPr/>
        <p:txBody>
          <a:bodyPr/>
          <a:lstStyle/>
          <a:p>
            <a:fld id="{B9676F9D-7DCF-264B-ADCB-B7A67878F215}" type="datetimeFigureOut">
              <a:rPr kumimoji="1" lang="zh-CN" altLang="en-US" smtClean="0"/>
              <a:t>2026/9/29</a:t>
            </a:fld>
            <a:endParaRPr kumimoji="1" lang="zh-CN" altLang="en-US"/>
          </a:p>
        </p:txBody>
      </p:sp>
      <p:sp>
        <p:nvSpPr>
          <p:cNvPr id="6" name="页脚占位符 5"/>
          <p:cNvSpPr>
            <a:spLocks noGrp="1"/>
          </p:cNvSpPr>
          <p:nvPr>
            <p:ph type="ftr" sz="quarter" idx="11"/>
          </p:nvPr>
        </p:nvSpPr>
        <p:spPr/>
        <p:txBody>
          <a:bodyPr/>
          <a:lstStyle/>
          <a:p>
            <a:endParaRPr kumimoji="1" lang="zh-CN" altLang="en-US"/>
          </a:p>
        </p:txBody>
      </p:sp>
      <p:sp>
        <p:nvSpPr>
          <p:cNvPr id="7" name="灯片编号占位符 6"/>
          <p:cNvSpPr>
            <a:spLocks noGrp="1"/>
          </p:cNvSpPr>
          <p:nvPr>
            <p:ph type="sldNum" sz="quarter" idx="12"/>
          </p:nvPr>
        </p:nvSpPr>
        <p:spPr/>
        <p:txBody>
          <a:bodyPr/>
          <a:lstStyle/>
          <a:p>
            <a:fld id="{29B712C0-FBCD-324F-BF1D-38904C6C270D}" type="slidenum">
              <a:rPr kumimoji="1" lang="zh-CN" altLang="en-US" smtClean="0"/>
              <a:t>‹#›</a:t>
            </a:fld>
            <a:endParaRPr kumimoji="1" lang="zh-CN" alt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839788" y="457200"/>
            <a:ext cx="3932237" cy="1600200"/>
          </a:xfrm>
        </p:spPr>
        <p:txBody>
          <a:bodyPr anchor="b"/>
          <a:lstStyle>
            <a:lvl1pPr>
              <a:defRPr sz="3200"/>
            </a:lvl1pPr>
          </a:lstStyle>
          <a:p>
            <a:r>
              <a:rPr kumimoji="1" lang="zh-CN" altLang="en-US"/>
              <a:t>单击此处编辑母版标题样式</a:t>
            </a:r>
          </a:p>
        </p:txBody>
      </p:sp>
      <p:sp>
        <p:nvSpPr>
          <p:cNvPr id="3" name="图片占位符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zh-CN" altLang="en-US"/>
          </a:p>
        </p:txBody>
      </p:sp>
      <p:sp>
        <p:nvSpPr>
          <p:cNvPr id="4" name="文本占位符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zh-CN" altLang="en-US"/>
              <a:t>单击此处编辑母版文本样式</a:t>
            </a:r>
          </a:p>
        </p:txBody>
      </p:sp>
      <p:sp>
        <p:nvSpPr>
          <p:cNvPr id="5" name="日期占位符 4"/>
          <p:cNvSpPr>
            <a:spLocks noGrp="1"/>
          </p:cNvSpPr>
          <p:nvPr>
            <p:ph type="dt" sz="half" idx="10"/>
          </p:nvPr>
        </p:nvSpPr>
        <p:spPr/>
        <p:txBody>
          <a:bodyPr/>
          <a:lstStyle/>
          <a:p>
            <a:fld id="{B9676F9D-7DCF-264B-ADCB-B7A67878F215}" type="datetimeFigureOut">
              <a:rPr kumimoji="1" lang="zh-CN" altLang="en-US" smtClean="0"/>
              <a:t>2026/9/29</a:t>
            </a:fld>
            <a:endParaRPr kumimoji="1" lang="zh-CN" altLang="en-US"/>
          </a:p>
        </p:txBody>
      </p:sp>
      <p:sp>
        <p:nvSpPr>
          <p:cNvPr id="6" name="页脚占位符 5"/>
          <p:cNvSpPr>
            <a:spLocks noGrp="1"/>
          </p:cNvSpPr>
          <p:nvPr>
            <p:ph type="ftr" sz="quarter" idx="11"/>
          </p:nvPr>
        </p:nvSpPr>
        <p:spPr/>
        <p:txBody>
          <a:bodyPr/>
          <a:lstStyle/>
          <a:p>
            <a:endParaRPr kumimoji="1" lang="zh-CN" altLang="en-US"/>
          </a:p>
        </p:txBody>
      </p:sp>
      <p:sp>
        <p:nvSpPr>
          <p:cNvPr id="7" name="灯片编号占位符 6"/>
          <p:cNvSpPr>
            <a:spLocks noGrp="1"/>
          </p:cNvSpPr>
          <p:nvPr>
            <p:ph type="sldNum" sz="quarter" idx="12"/>
          </p:nvPr>
        </p:nvSpPr>
        <p:spPr/>
        <p:txBody>
          <a:bodyPr/>
          <a:lstStyle/>
          <a:p>
            <a:fld id="{29B712C0-FBCD-324F-BF1D-38904C6C270D}" type="slidenum">
              <a:rPr kumimoji="1" lang="zh-CN" altLang="en-US" smtClean="0"/>
              <a:t>‹#›</a:t>
            </a:fld>
            <a:endParaRPr kumimoji="1" lang="zh-CN" alt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kumimoji="1" lang="zh-CN" altLang="en-US"/>
              <a:t>单击此处编辑母版标题样式</a:t>
            </a:r>
          </a:p>
        </p:txBody>
      </p:sp>
      <p:sp>
        <p:nvSpPr>
          <p:cNvPr id="3" name="竖排文字占位符 2"/>
          <p:cNvSpPr>
            <a:spLocks noGrp="1"/>
          </p:cNvSpPr>
          <p:nvPr>
            <p:ph type="body" orient="vert" idx="1"/>
          </p:nvPr>
        </p:nvSpPr>
        <p:spPr/>
        <p:txBody>
          <a:bodyPr vert="eaVert"/>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4" name="日期占位符 3"/>
          <p:cNvSpPr>
            <a:spLocks noGrp="1"/>
          </p:cNvSpPr>
          <p:nvPr>
            <p:ph type="dt" sz="half" idx="10"/>
          </p:nvPr>
        </p:nvSpPr>
        <p:spPr/>
        <p:txBody>
          <a:bodyPr/>
          <a:lstStyle/>
          <a:p>
            <a:fld id="{B9676F9D-7DCF-264B-ADCB-B7A67878F215}" type="datetimeFigureOut">
              <a:rPr kumimoji="1" lang="zh-CN" altLang="en-US" smtClean="0"/>
              <a:t>2026/9/29</a:t>
            </a:fld>
            <a:endParaRPr kumimoji="1" lang="zh-CN" altLang="en-US"/>
          </a:p>
        </p:txBody>
      </p:sp>
      <p:sp>
        <p:nvSpPr>
          <p:cNvPr id="5" name="页脚占位符 4"/>
          <p:cNvSpPr>
            <a:spLocks noGrp="1"/>
          </p:cNvSpPr>
          <p:nvPr>
            <p:ph type="ftr" sz="quarter" idx="11"/>
          </p:nvPr>
        </p:nvSpPr>
        <p:spPr/>
        <p:txBody>
          <a:bodyPr/>
          <a:lstStyle/>
          <a:p>
            <a:endParaRPr kumimoji="1" lang="zh-CN" altLang="en-US"/>
          </a:p>
        </p:txBody>
      </p:sp>
      <p:sp>
        <p:nvSpPr>
          <p:cNvPr id="6" name="灯片编号占位符 5"/>
          <p:cNvSpPr>
            <a:spLocks noGrp="1"/>
          </p:cNvSpPr>
          <p:nvPr>
            <p:ph type="sldNum" sz="quarter" idx="12"/>
          </p:nvPr>
        </p:nvSpPr>
        <p:spPr/>
        <p:txBody>
          <a:bodyPr/>
          <a:lstStyle/>
          <a:p>
            <a:fld id="{29B712C0-FBCD-324F-BF1D-38904C6C270D}" type="slidenum">
              <a:rPr kumimoji="1" lang="zh-CN" altLang="en-US" smtClean="0"/>
              <a:t>‹#›</a:t>
            </a:fld>
            <a:endParaRPr kumimoji="1" lang="zh-CN" alt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8724900" y="365125"/>
            <a:ext cx="2628900" cy="5811838"/>
          </a:xfrm>
        </p:spPr>
        <p:txBody>
          <a:bodyPr vert="eaVert"/>
          <a:lstStyle/>
          <a:p>
            <a:r>
              <a:rPr kumimoji="1" lang="zh-CN" altLang="en-US"/>
              <a:t>单击此处编辑母版标题样式</a:t>
            </a:r>
          </a:p>
        </p:txBody>
      </p:sp>
      <p:sp>
        <p:nvSpPr>
          <p:cNvPr id="3" name="竖排文字占位符 2"/>
          <p:cNvSpPr>
            <a:spLocks noGrp="1"/>
          </p:cNvSpPr>
          <p:nvPr>
            <p:ph type="body" orient="vert" idx="1"/>
          </p:nvPr>
        </p:nvSpPr>
        <p:spPr>
          <a:xfrm>
            <a:off x="838200" y="365125"/>
            <a:ext cx="7734300" cy="5811838"/>
          </a:xfrm>
        </p:spPr>
        <p:txBody>
          <a:bodyPr vert="eaVert"/>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4" name="日期占位符 3"/>
          <p:cNvSpPr>
            <a:spLocks noGrp="1"/>
          </p:cNvSpPr>
          <p:nvPr>
            <p:ph type="dt" sz="half" idx="10"/>
          </p:nvPr>
        </p:nvSpPr>
        <p:spPr/>
        <p:txBody>
          <a:bodyPr/>
          <a:lstStyle/>
          <a:p>
            <a:fld id="{B9676F9D-7DCF-264B-ADCB-B7A67878F215}" type="datetimeFigureOut">
              <a:rPr kumimoji="1" lang="zh-CN" altLang="en-US" smtClean="0"/>
              <a:t>2026/9/29</a:t>
            </a:fld>
            <a:endParaRPr kumimoji="1" lang="zh-CN" altLang="en-US"/>
          </a:p>
        </p:txBody>
      </p:sp>
      <p:sp>
        <p:nvSpPr>
          <p:cNvPr id="5" name="页脚占位符 4"/>
          <p:cNvSpPr>
            <a:spLocks noGrp="1"/>
          </p:cNvSpPr>
          <p:nvPr>
            <p:ph type="ftr" sz="quarter" idx="11"/>
          </p:nvPr>
        </p:nvSpPr>
        <p:spPr/>
        <p:txBody>
          <a:bodyPr/>
          <a:lstStyle/>
          <a:p>
            <a:endParaRPr kumimoji="1" lang="zh-CN" altLang="en-US"/>
          </a:p>
        </p:txBody>
      </p:sp>
      <p:sp>
        <p:nvSpPr>
          <p:cNvPr id="6" name="灯片编号占位符 5"/>
          <p:cNvSpPr>
            <a:spLocks noGrp="1"/>
          </p:cNvSpPr>
          <p:nvPr>
            <p:ph type="sldNum" sz="quarter" idx="12"/>
          </p:nvPr>
        </p:nvSpPr>
        <p:spPr/>
        <p:txBody>
          <a:bodyPr/>
          <a:lstStyle/>
          <a:p>
            <a:fld id="{29B712C0-FBCD-324F-BF1D-38904C6C270D}" type="slidenum">
              <a:rPr kumimoji="1" lang="zh-CN" altLang="en-US" smtClean="0"/>
              <a:t>‹#›</a:t>
            </a:fld>
            <a:endParaRPr kumimoji="1" lang="zh-CN" alt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zh-CN" altLang="en-US"/>
              <a:t>单击此处编辑母版标题样式</a:t>
            </a:r>
          </a:p>
        </p:txBody>
      </p:sp>
      <p:sp>
        <p:nvSpPr>
          <p:cNvPr id="3" name="文本占位符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4" name="日期占位符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B9676F9D-7DCF-264B-ADCB-B7A67878F215}" type="datetimeFigureOut">
              <a:rPr kumimoji="1" lang="zh-CN" altLang="en-US" smtClean="0"/>
              <a:t>2026/9/29</a:t>
            </a:fld>
            <a:endParaRPr kumimoji="1" lang="zh-CN" altLang="en-US"/>
          </a:p>
        </p:txBody>
      </p:sp>
      <p:sp>
        <p:nvSpPr>
          <p:cNvPr id="5" name="页脚占位符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kumimoji="1" lang="zh-CN" altLang="en-US"/>
          </a:p>
        </p:txBody>
      </p:sp>
      <p:sp>
        <p:nvSpPr>
          <p:cNvPr id="6" name="灯片编号占位符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29B712C0-FBCD-324F-BF1D-38904C6C270D}" type="slidenum">
              <a:rPr kumimoji="1" lang="zh-CN" altLang="en-US" smtClean="0"/>
              <a:t>‹#›</a:t>
            </a:fld>
            <a:endParaRPr kumimoji="1" lang="zh-CN" alt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1.png"/><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2.xml"/><Relationship Id="rId5" Type="http://schemas.openxmlformats.org/officeDocument/2006/relationships/image" Target="../media/image9.png"/><Relationship Id="rId4" Type="http://schemas.openxmlformats.org/officeDocument/2006/relationships/image" Target="../media/image8.png"/></Relationships>
</file>

<file path=ppt/slides/_rels/slide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png"/><Relationship Id="rId1" Type="http://schemas.openxmlformats.org/officeDocument/2006/relationships/slideLayout" Target="../slideLayouts/slideLayout2.xml"/><Relationship Id="rId4" Type="http://schemas.openxmlformats.org/officeDocument/2006/relationships/image" Target="../media/image18.png"/></Relationships>
</file>

<file path=ppt/slides/_rels/slide16.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矩形 6"/>
          <p:cNvSpPr/>
          <p:nvPr/>
        </p:nvSpPr>
        <p:spPr>
          <a:xfrm>
            <a:off x="0" y="1829853"/>
            <a:ext cx="12192002" cy="2485813"/>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CN" altLang="en-US"/>
          </a:p>
        </p:txBody>
      </p:sp>
      <p:sp>
        <p:nvSpPr>
          <p:cNvPr id="8" name="文本框 7"/>
          <p:cNvSpPr txBox="1"/>
          <p:nvPr/>
        </p:nvSpPr>
        <p:spPr>
          <a:xfrm>
            <a:off x="659363" y="2276306"/>
            <a:ext cx="10873274" cy="2308324"/>
          </a:xfrm>
          <a:prstGeom prst="rect">
            <a:avLst/>
          </a:prstGeom>
          <a:noFill/>
        </p:spPr>
        <p:txBody>
          <a:bodyPr wrap="square" rtlCol="0">
            <a:spAutoFit/>
          </a:bodyPr>
          <a:lstStyle/>
          <a:p>
            <a:pPr algn="ctr"/>
            <a:r>
              <a:rPr kumimoji="1" lang="en-US" altLang="zh-CN" sz="4800" b="1" spc="600" dirty="0">
                <a:solidFill>
                  <a:schemeClr val="bg1"/>
                </a:solidFill>
                <a:latin typeface="微软雅黑" panose="020B0503020204020204" pitchFamily="34" charset="-122"/>
                <a:ea typeface="微软雅黑" panose="020B0503020204020204" pitchFamily="34" charset="-122"/>
              </a:rPr>
              <a:t>PAC</a:t>
            </a:r>
            <a:r>
              <a:rPr kumimoji="1" lang="zh-CN" altLang="en-US" sz="4800" b="1" spc="600" dirty="0">
                <a:solidFill>
                  <a:schemeClr val="bg1"/>
                </a:solidFill>
                <a:latin typeface="微软雅黑" panose="020B0503020204020204" pitchFamily="34" charset="-122"/>
                <a:ea typeface="微软雅黑" panose="020B0503020204020204" pitchFamily="34" charset="-122"/>
              </a:rPr>
              <a:t>：面向水下机器人鲁棒跟踪的基线控制器时序信任权重学习</a:t>
            </a:r>
          </a:p>
          <a:p>
            <a:pPr algn="ctr"/>
            <a:endParaRPr kumimoji="1" lang="zh-CN" altLang="en-US" sz="4800" b="1" spc="600" dirty="0">
              <a:solidFill>
                <a:schemeClr val="bg1"/>
              </a:solidFill>
              <a:latin typeface="微软雅黑" panose="020B0503020204020204" pitchFamily="34" charset="-122"/>
              <a:ea typeface="微软雅黑" panose="020B0503020204020204" pitchFamily="34" charset="-122"/>
            </a:endParaRPr>
          </a:p>
        </p:txBody>
      </p:sp>
      <p:sp>
        <p:nvSpPr>
          <p:cNvPr id="10" name="文本框 9"/>
          <p:cNvSpPr txBox="1"/>
          <p:nvPr/>
        </p:nvSpPr>
        <p:spPr>
          <a:xfrm>
            <a:off x="5064087" y="4869701"/>
            <a:ext cx="2063826" cy="338554"/>
          </a:xfrm>
          <a:prstGeom prst="rect">
            <a:avLst/>
          </a:prstGeom>
          <a:noFill/>
        </p:spPr>
        <p:txBody>
          <a:bodyPr wrap="square" rtlCol="0">
            <a:spAutoFit/>
          </a:bodyPr>
          <a:lstStyle/>
          <a:p>
            <a:r>
              <a:rPr kumimoji="1" lang="zh-CN" altLang="en-US" sz="1600" b="1" spc="300" dirty="0">
                <a:solidFill>
                  <a:schemeClr val="accent1"/>
                </a:solidFill>
                <a:latin typeface="微软雅黑" panose="020B0503020204020204" pitchFamily="34" charset="-122"/>
                <a:ea typeface="微软雅黑" panose="020B0503020204020204" pitchFamily="34" charset="-122"/>
              </a:rPr>
              <a:t>姓名：田家丞</a:t>
            </a:r>
          </a:p>
        </p:txBody>
      </p:sp>
      <p:sp>
        <p:nvSpPr>
          <p:cNvPr id="15" name="圆角矩形 14"/>
          <p:cNvSpPr/>
          <p:nvPr/>
        </p:nvSpPr>
        <p:spPr>
          <a:xfrm>
            <a:off x="4755396" y="4819233"/>
            <a:ext cx="2681207" cy="439430"/>
          </a:xfrm>
          <a:prstGeom prst="roundRect">
            <a:avLst>
              <a:gd name="adj" fmla="val 50000"/>
            </a:avLst>
          </a:prstGeom>
          <a:noFill/>
          <a:ln w="6350">
            <a:solidFill>
              <a:schemeClr val="accent1">
                <a:alpha val="62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CN" altLang="en-US"/>
          </a:p>
        </p:txBody>
      </p:sp>
      <p:sp>
        <p:nvSpPr>
          <p:cNvPr id="16" name="文本框 15"/>
          <p:cNvSpPr txBox="1"/>
          <p:nvPr/>
        </p:nvSpPr>
        <p:spPr>
          <a:xfrm>
            <a:off x="5064087" y="5525421"/>
            <a:ext cx="2491124" cy="338554"/>
          </a:xfrm>
          <a:prstGeom prst="rect">
            <a:avLst/>
          </a:prstGeom>
          <a:noFill/>
        </p:spPr>
        <p:txBody>
          <a:bodyPr wrap="square" rtlCol="0">
            <a:spAutoFit/>
          </a:bodyPr>
          <a:lstStyle/>
          <a:p>
            <a:r>
              <a:rPr kumimoji="1" lang="zh-CN" altLang="en-US" sz="1600" b="1" spc="300" dirty="0">
                <a:solidFill>
                  <a:schemeClr val="accent1"/>
                </a:solidFill>
                <a:latin typeface="微软雅黑" panose="020B0503020204020204" pitchFamily="34" charset="-122"/>
                <a:ea typeface="微软雅黑" panose="020B0503020204020204" pitchFamily="34" charset="-122"/>
              </a:rPr>
              <a:t>2026年9月29日</a:t>
            </a:r>
          </a:p>
        </p:txBody>
      </p:sp>
      <p:sp>
        <p:nvSpPr>
          <p:cNvPr id="17" name="圆角矩形 16"/>
          <p:cNvSpPr/>
          <p:nvPr/>
        </p:nvSpPr>
        <p:spPr>
          <a:xfrm>
            <a:off x="4755396" y="5474953"/>
            <a:ext cx="2681207" cy="439430"/>
          </a:xfrm>
          <a:prstGeom prst="roundRect">
            <a:avLst>
              <a:gd name="adj" fmla="val 50000"/>
            </a:avLst>
          </a:prstGeom>
          <a:noFill/>
          <a:ln w="6350">
            <a:solidFill>
              <a:schemeClr val="accent1">
                <a:alpha val="62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CN" altLang="en-US"/>
          </a:p>
        </p:txBody>
      </p:sp>
      <p:sp>
        <p:nvSpPr>
          <p:cNvPr id="12" name="椭圆 11"/>
          <p:cNvSpPr/>
          <p:nvPr/>
        </p:nvSpPr>
        <p:spPr>
          <a:xfrm>
            <a:off x="11750347" y="6411598"/>
            <a:ext cx="289344" cy="289344"/>
          </a:xfrm>
          <a:prstGeom prst="ellipse">
            <a:avLst/>
          </a:prstGeom>
          <a:solidFill>
            <a:schemeClr val="bg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CN" altLang="en-US">
              <a:solidFill>
                <a:schemeClr val="accent1"/>
              </a:solidFill>
            </a:endParaRPr>
          </a:p>
        </p:txBody>
      </p:sp>
      <p:sp>
        <p:nvSpPr>
          <p:cNvPr id="13" name="灯片编号占位符 18"/>
          <p:cNvSpPr>
            <a:spLocks noGrp="1"/>
          </p:cNvSpPr>
          <p:nvPr>
            <p:ph type="sldNum" sz="quarter" idx="12"/>
          </p:nvPr>
        </p:nvSpPr>
        <p:spPr>
          <a:xfrm>
            <a:off x="11619554" y="6373707"/>
            <a:ext cx="550930" cy="365125"/>
          </a:xfrm>
        </p:spPr>
        <p:txBody>
          <a:bodyPr/>
          <a:lstStyle/>
          <a:p>
            <a:pPr algn="ctr"/>
            <a:fld id="{D290E156-FAFE-5144-A047-A692DE980B3A}" type="slidenum">
              <a:rPr kumimoji="1" lang="zh-CN" altLang="en-US" smtClean="0">
                <a:solidFill>
                  <a:schemeClr val="accent1"/>
                </a:solidFill>
                <a:latin typeface="Arial" panose="020B0604020202020204" pitchFamily="34" charset="0"/>
                <a:cs typeface="Arial" panose="020B0604020202020204" pitchFamily="34" charset="0"/>
              </a:rPr>
              <a:t>1</a:t>
            </a:fld>
            <a:endParaRPr kumimoji="1" lang="zh-CN" altLang="en-US" dirty="0">
              <a:solidFill>
                <a:schemeClr val="accent1"/>
              </a:solidFill>
              <a:latin typeface="Arial" panose="020B0604020202020204" pitchFamily="34" charset="0"/>
              <a:cs typeface="Arial" panose="020B0604020202020204" pitchFamily="34" charset="0"/>
            </a:endParaRPr>
          </a:p>
        </p:txBody>
      </p:sp>
      <p:pic>
        <p:nvPicPr>
          <p:cNvPr id="4" name="图片 3"/>
          <p:cNvPicPr>
            <a:picLocks noChangeAspect="1"/>
          </p:cNvPicPr>
          <p:nvPr/>
        </p:nvPicPr>
        <p:blipFill>
          <a:blip r:embed="rId2"/>
          <a:stretch>
            <a:fillRect/>
          </a:stretch>
        </p:blipFill>
        <p:spPr>
          <a:xfrm>
            <a:off x="4636789" y="646772"/>
            <a:ext cx="2918422" cy="910748"/>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B3D924-16A0-40C4-F768-5CEB017671D3}"/>
            </a:ext>
          </a:extLst>
        </p:cNvPr>
        <p:cNvGrpSpPr/>
        <p:nvPr/>
      </p:nvGrpSpPr>
      <p:grpSpPr>
        <a:xfrm>
          <a:off x="0" y="0"/>
          <a:ext cx="0" cy="0"/>
          <a:chOff x="0" y="0"/>
          <a:chExt cx="0" cy="0"/>
        </a:xfrm>
      </p:grpSpPr>
      <p:sp>
        <p:nvSpPr>
          <p:cNvPr id="7" name="文本框 6">
            <a:extLst>
              <a:ext uri="{FF2B5EF4-FFF2-40B4-BE49-F238E27FC236}">
                <a16:creationId xmlns:a16="http://schemas.microsoft.com/office/drawing/2014/main" id="{AC562B26-6BC8-1F52-6182-B253D3DFE06A}"/>
              </a:ext>
            </a:extLst>
          </p:cNvPr>
          <p:cNvSpPr txBox="1"/>
          <p:nvPr/>
        </p:nvSpPr>
        <p:spPr>
          <a:xfrm>
            <a:off x="10461848" y="299500"/>
            <a:ext cx="1197832" cy="369332"/>
          </a:xfrm>
          <a:prstGeom prst="rect">
            <a:avLst/>
          </a:prstGeom>
          <a:noFill/>
        </p:spPr>
        <p:txBody>
          <a:bodyPr wrap="square" rtlCol="0">
            <a:spAutoFit/>
          </a:bodyPr>
          <a:lstStyle/>
          <a:p>
            <a:pPr algn="ctr"/>
            <a:r>
              <a:rPr kumimoji="1" lang="zh-CN" altLang="en-US" b="1" spc="110" dirty="0">
                <a:solidFill>
                  <a:schemeClr val="bg1"/>
                </a:solidFill>
                <a:latin typeface="微软雅黑" panose="020B0503020204020204" pitchFamily="34" charset="-122"/>
                <a:ea typeface="微软雅黑" panose="020B0503020204020204" pitchFamily="34" charset="-122"/>
              </a:rPr>
              <a:t>读研展望</a:t>
            </a:r>
          </a:p>
        </p:txBody>
      </p:sp>
      <p:sp>
        <p:nvSpPr>
          <p:cNvPr id="9" name="文本框 8">
            <a:extLst>
              <a:ext uri="{FF2B5EF4-FFF2-40B4-BE49-F238E27FC236}">
                <a16:creationId xmlns:a16="http://schemas.microsoft.com/office/drawing/2014/main" id="{0CFAA6D7-6E9A-983C-DF4C-8FFB83938285}"/>
              </a:ext>
            </a:extLst>
          </p:cNvPr>
          <p:cNvSpPr txBox="1"/>
          <p:nvPr/>
        </p:nvSpPr>
        <p:spPr>
          <a:xfrm>
            <a:off x="2875146" y="179975"/>
            <a:ext cx="1336142" cy="369332"/>
          </a:xfrm>
          <a:prstGeom prst="rect">
            <a:avLst/>
          </a:prstGeom>
          <a:noFill/>
        </p:spPr>
        <p:txBody>
          <a:bodyPr wrap="square" rtlCol="0">
            <a:spAutoFit/>
          </a:bodyPr>
          <a:lstStyle/>
          <a:p>
            <a:pPr algn="ctr"/>
            <a:r>
              <a:rPr kumimoji="1" lang="zh-CN" altLang="en-US" b="1" spc="110" dirty="0">
                <a:solidFill>
                  <a:schemeClr val="bg1"/>
                </a:solidFill>
                <a:latin typeface="微软雅黑" panose="020B0503020204020204" pitchFamily="34" charset="-122"/>
                <a:ea typeface="微软雅黑" panose="020B0503020204020204" pitchFamily="34" charset="-122"/>
              </a:rPr>
              <a:t>个人简介</a:t>
            </a:r>
          </a:p>
        </p:txBody>
      </p:sp>
      <p:sp>
        <p:nvSpPr>
          <p:cNvPr id="15" name="椭圆 14">
            <a:extLst>
              <a:ext uri="{FF2B5EF4-FFF2-40B4-BE49-F238E27FC236}">
                <a16:creationId xmlns:a16="http://schemas.microsoft.com/office/drawing/2014/main" id="{0A5F0243-6D88-0BCA-DF4F-6E53EF020048}"/>
              </a:ext>
            </a:extLst>
          </p:cNvPr>
          <p:cNvSpPr/>
          <p:nvPr/>
        </p:nvSpPr>
        <p:spPr>
          <a:xfrm>
            <a:off x="11750347" y="6411598"/>
            <a:ext cx="289344" cy="289344"/>
          </a:xfrm>
          <a:prstGeom prst="ellipse">
            <a:avLst/>
          </a:prstGeom>
          <a:solidFill>
            <a:schemeClr val="bg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CN" altLang="en-US">
              <a:solidFill>
                <a:schemeClr val="accent1"/>
              </a:solidFill>
            </a:endParaRPr>
          </a:p>
        </p:txBody>
      </p:sp>
      <p:sp>
        <p:nvSpPr>
          <p:cNvPr id="16" name="灯片编号占位符 18">
            <a:extLst>
              <a:ext uri="{FF2B5EF4-FFF2-40B4-BE49-F238E27FC236}">
                <a16:creationId xmlns:a16="http://schemas.microsoft.com/office/drawing/2014/main" id="{B9668A71-FF02-4FC5-953C-86E67E8A4B75}"/>
              </a:ext>
            </a:extLst>
          </p:cNvPr>
          <p:cNvSpPr>
            <a:spLocks noGrp="1"/>
          </p:cNvSpPr>
          <p:nvPr>
            <p:ph type="sldNum" sz="quarter" idx="12"/>
          </p:nvPr>
        </p:nvSpPr>
        <p:spPr>
          <a:xfrm>
            <a:off x="11619554" y="6373707"/>
            <a:ext cx="550930" cy="365125"/>
          </a:xfrm>
        </p:spPr>
        <p:txBody>
          <a:bodyPr/>
          <a:lstStyle/>
          <a:p>
            <a:pPr algn="ctr"/>
            <a:fld id="{D290E156-FAFE-5144-A047-A692DE980B3A}" type="slidenum">
              <a:rPr kumimoji="1" lang="zh-CN" altLang="en-US" smtClean="0">
                <a:solidFill>
                  <a:schemeClr val="accent1"/>
                </a:solidFill>
                <a:latin typeface="Arial" panose="020B0604020202020204" pitchFamily="34" charset="0"/>
                <a:cs typeface="Arial" panose="020B0604020202020204" pitchFamily="34" charset="0"/>
              </a:rPr>
              <a:t>2</a:t>
            </a:fld>
            <a:endParaRPr kumimoji="1" lang="zh-CN" altLang="en-US" dirty="0">
              <a:solidFill>
                <a:schemeClr val="accent1"/>
              </a:solidFill>
              <a:latin typeface="Arial" panose="020B0604020202020204" pitchFamily="34" charset="0"/>
              <a:cs typeface="Arial" panose="020B0604020202020204" pitchFamily="34" charset="0"/>
            </a:endParaRPr>
          </a:p>
        </p:txBody>
      </p:sp>
      <p:sp>
        <p:nvSpPr>
          <p:cNvPr id="6" name="文本框 5">
            <a:extLst>
              <a:ext uri="{FF2B5EF4-FFF2-40B4-BE49-F238E27FC236}">
                <a16:creationId xmlns:a16="http://schemas.microsoft.com/office/drawing/2014/main" id="{B11C502A-9196-6009-9183-43BF7770750D}"/>
              </a:ext>
            </a:extLst>
          </p:cNvPr>
          <p:cNvSpPr txBox="1"/>
          <p:nvPr/>
        </p:nvSpPr>
        <p:spPr>
          <a:xfrm>
            <a:off x="5032257" y="179975"/>
            <a:ext cx="1985202" cy="369332"/>
          </a:xfrm>
          <a:prstGeom prst="rect">
            <a:avLst/>
          </a:prstGeom>
          <a:noFill/>
        </p:spPr>
        <p:txBody>
          <a:bodyPr wrap="square" rtlCol="0">
            <a:spAutoFit/>
          </a:bodyPr>
          <a:lstStyle/>
          <a:p>
            <a:pPr algn="ctr"/>
            <a:r>
              <a:rPr kumimoji="1" lang="zh-CN" altLang="en-US" b="1" spc="110" dirty="0">
                <a:solidFill>
                  <a:schemeClr val="bg1"/>
                </a:solidFill>
                <a:latin typeface="微软雅黑" panose="020B0503020204020204" pitchFamily="34" charset="-122"/>
                <a:ea typeface="微软雅黑" panose="020B0503020204020204" pitchFamily="34" charset="-122"/>
              </a:rPr>
              <a:t>本科经历</a:t>
            </a:r>
          </a:p>
        </p:txBody>
      </p:sp>
      <p:sp>
        <p:nvSpPr>
          <p:cNvPr id="3" name="任意形状 2">
            <a:extLst>
              <a:ext uri="{FF2B5EF4-FFF2-40B4-BE49-F238E27FC236}">
                <a16:creationId xmlns:a16="http://schemas.microsoft.com/office/drawing/2014/main" id="{2B6BCB32-A5C8-8ADD-C4EB-B2F7165DD23A}"/>
              </a:ext>
            </a:extLst>
          </p:cNvPr>
          <p:cNvSpPr/>
          <p:nvPr/>
        </p:nvSpPr>
        <p:spPr>
          <a:xfrm>
            <a:off x="0" y="0"/>
            <a:ext cx="9896847" cy="662946"/>
          </a:xfrm>
          <a:custGeom>
            <a:avLst/>
            <a:gdLst>
              <a:gd name="connsiteX0" fmla="*/ 0 w 8681972"/>
              <a:gd name="connsiteY0" fmla="*/ 0 h 689675"/>
              <a:gd name="connsiteX1" fmla="*/ 8681972 w 8681972"/>
              <a:gd name="connsiteY1" fmla="*/ 0 h 689675"/>
              <a:gd name="connsiteX2" fmla="*/ 8461124 w 8681972"/>
              <a:gd name="connsiteY2" fmla="*/ 344837 h 689675"/>
              <a:gd name="connsiteX3" fmla="*/ 8681972 w 8681972"/>
              <a:gd name="connsiteY3" fmla="*/ 689675 h 689675"/>
              <a:gd name="connsiteX4" fmla="*/ 0 w 8681972"/>
              <a:gd name="connsiteY4" fmla="*/ 689675 h 689675"/>
              <a:gd name="connsiteX5" fmla="*/ 0 w 8681972"/>
              <a:gd name="connsiteY5" fmla="*/ 0 h 6896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681972" h="689675">
                <a:moveTo>
                  <a:pt x="0" y="0"/>
                </a:moveTo>
                <a:lnTo>
                  <a:pt x="8681972" y="0"/>
                </a:lnTo>
                <a:lnTo>
                  <a:pt x="8461124" y="344837"/>
                </a:lnTo>
                <a:lnTo>
                  <a:pt x="8681972" y="689675"/>
                </a:lnTo>
                <a:lnTo>
                  <a:pt x="0" y="689675"/>
                </a:lnTo>
                <a:lnTo>
                  <a:pt x="0" y="0"/>
                </a:lnTo>
                <a:close/>
              </a:path>
            </a:pathLst>
          </a:custGeom>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zh-CN" altLang="en-US" sz="1600"/>
          </a:p>
        </p:txBody>
      </p:sp>
      <p:sp>
        <p:nvSpPr>
          <p:cNvPr id="14" name="文本框 13">
            <a:extLst>
              <a:ext uri="{FF2B5EF4-FFF2-40B4-BE49-F238E27FC236}">
                <a16:creationId xmlns:a16="http://schemas.microsoft.com/office/drawing/2014/main" id="{08C4321B-0411-C983-20C8-CAAB4EF8CA40}"/>
              </a:ext>
            </a:extLst>
          </p:cNvPr>
          <p:cNvSpPr txBox="1"/>
          <p:nvPr/>
        </p:nvSpPr>
        <p:spPr>
          <a:xfrm>
            <a:off x="281981" y="79754"/>
            <a:ext cx="9335355" cy="523220"/>
          </a:xfrm>
          <a:prstGeom prst="rect">
            <a:avLst/>
          </a:prstGeom>
          <a:noFill/>
        </p:spPr>
        <p:txBody>
          <a:bodyPr wrap="square" rtlCol="0">
            <a:spAutoFit/>
          </a:bodyPr>
          <a:lstStyle>
            <a:defPPr>
              <a:defRPr lang="zh-CN"/>
            </a:defPPr>
            <a:lvl1pPr algn="ctr">
              <a:defRPr kumimoji="1" sz="4400" b="1" spc="300">
                <a:solidFill>
                  <a:schemeClr val="bg1"/>
                </a:solidFill>
                <a:latin typeface="微软雅黑" panose="020B0503020204020204" pitchFamily="34" charset="-122"/>
                <a:ea typeface="微软雅黑" panose="020B0503020204020204" pitchFamily="34" charset="-122"/>
              </a:defRPr>
            </a:lvl1pPr>
          </a:lstStyle>
          <a:p>
            <a:pPr algn="l"/>
            <a:r>
              <a:rPr lang="en-US" altLang="zh-CN" sz="1400" dirty="0"/>
              <a:t>Predictive Authority Control: Learning When and How Much to Trust Baseline Controllers for Robust Underwater Robot Tracking</a:t>
            </a:r>
            <a:endParaRPr lang="zh-CN" altLang="en-US" sz="1400" dirty="0"/>
          </a:p>
        </p:txBody>
      </p:sp>
      <p:pic>
        <p:nvPicPr>
          <p:cNvPr id="2" name="图片 1">
            <a:extLst>
              <a:ext uri="{FF2B5EF4-FFF2-40B4-BE49-F238E27FC236}">
                <a16:creationId xmlns:a16="http://schemas.microsoft.com/office/drawing/2014/main" id="{60315DA0-FDB2-78D3-D8F0-7DC060489062}"/>
              </a:ext>
            </a:extLst>
          </p:cNvPr>
          <p:cNvPicPr>
            <a:picLocks noChangeAspect="1"/>
          </p:cNvPicPr>
          <p:nvPr/>
        </p:nvPicPr>
        <p:blipFill>
          <a:blip r:embed="rId2"/>
          <a:stretch>
            <a:fillRect/>
          </a:stretch>
        </p:blipFill>
        <p:spPr>
          <a:xfrm>
            <a:off x="10121441" y="54734"/>
            <a:ext cx="1773578" cy="553478"/>
          </a:xfrm>
          <a:prstGeom prst="rect">
            <a:avLst/>
          </a:prstGeom>
        </p:spPr>
      </p:pic>
      <p:sp>
        <p:nvSpPr>
          <p:cNvPr id="20" name="文本框 19">
            <a:extLst>
              <a:ext uri="{FF2B5EF4-FFF2-40B4-BE49-F238E27FC236}">
                <a16:creationId xmlns:a16="http://schemas.microsoft.com/office/drawing/2014/main" id="{4049CA9E-A0C6-7292-FBD3-1EA9CA17C35C}"/>
              </a:ext>
            </a:extLst>
          </p:cNvPr>
          <p:cNvSpPr txBox="1"/>
          <p:nvPr/>
        </p:nvSpPr>
        <p:spPr>
          <a:xfrm>
            <a:off x="0" y="738435"/>
            <a:ext cx="12501349" cy="338554"/>
          </a:xfrm>
          <a:prstGeom prst="rect">
            <a:avLst/>
          </a:prstGeom>
          <a:noFill/>
        </p:spPr>
        <p:txBody>
          <a:bodyPr wrap="square" rtlCol="0">
            <a:spAutoFit/>
          </a:bodyPr>
          <a:lstStyle/>
          <a:p>
            <a:pPr marL="342900" indent="-342900">
              <a:buSzPct val="85000"/>
              <a:buFont typeface="Wingdings" panose="05000000000000000000" pitchFamily="2" charset="2"/>
              <a:buChar char="n"/>
            </a:pPr>
            <a:r>
              <a:rPr kumimoji="1" lang="zh-CN" altLang="en-US" sz="1600" b="1" spc="300" dirty="0">
                <a:solidFill>
                  <a:schemeClr val="accent1"/>
                </a:solidFill>
                <a:latin typeface="微软雅黑" panose="020B0503020204020204" pitchFamily="34" charset="-122"/>
                <a:ea typeface="微软雅黑" panose="020B0503020204020204" pitchFamily="34" charset="-122"/>
              </a:rPr>
              <a:t>背景信息</a:t>
            </a:r>
          </a:p>
        </p:txBody>
      </p:sp>
      <p:cxnSp>
        <p:nvCxnSpPr>
          <p:cNvPr id="21" name="直线连接符 12">
            <a:extLst>
              <a:ext uri="{FF2B5EF4-FFF2-40B4-BE49-F238E27FC236}">
                <a16:creationId xmlns:a16="http://schemas.microsoft.com/office/drawing/2014/main" id="{16B72F85-98C1-139A-8712-A92878639B9B}"/>
              </a:ext>
            </a:extLst>
          </p:cNvPr>
          <p:cNvCxnSpPr/>
          <p:nvPr/>
        </p:nvCxnSpPr>
        <p:spPr>
          <a:xfrm>
            <a:off x="908" y="1167007"/>
            <a:ext cx="10978564" cy="0"/>
          </a:xfrm>
          <a:prstGeom prst="line">
            <a:avLst/>
          </a:prstGeom>
        </p:spPr>
        <p:style>
          <a:lnRef idx="1">
            <a:schemeClr val="accent1"/>
          </a:lnRef>
          <a:fillRef idx="0">
            <a:schemeClr val="accent1"/>
          </a:fillRef>
          <a:effectRef idx="0">
            <a:schemeClr val="accent1"/>
          </a:effectRef>
          <a:fontRef idx="minor">
            <a:schemeClr val="tx1"/>
          </a:fontRef>
        </p:style>
      </p:cxnSp>
      <p:sp>
        <p:nvSpPr>
          <p:cNvPr id="8" name="文本框 7">
            <a:extLst>
              <a:ext uri="{FF2B5EF4-FFF2-40B4-BE49-F238E27FC236}">
                <a16:creationId xmlns:a16="http://schemas.microsoft.com/office/drawing/2014/main" id="{113F9A13-7080-5025-A203-D1148D11960B}"/>
              </a:ext>
            </a:extLst>
          </p:cNvPr>
          <p:cNvSpPr txBox="1"/>
          <p:nvPr/>
        </p:nvSpPr>
        <p:spPr>
          <a:xfrm>
            <a:off x="281981" y="1207212"/>
            <a:ext cx="11613038" cy="923330"/>
          </a:xfrm>
          <a:prstGeom prst="rect">
            <a:avLst/>
          </a:prstGeom>
          <a:noFill/>
        </p:spPr>
        <p:txBody>
          <a:bodyPr wrap="square">
            <a:spAutoFit/>
          </a:bodyPr>
          <a:lstStyle/>
          <a:p>
            <a:r>
              <a:rPr lang="zh-CN" altLang="zh-CN" sz="1800" dirty="0">
                <a:solidFill>
                  <a:srgbClr val="000000"/>
                </a:solidFill>
                <a:effectLst/>
                <a:latin typeface="Times New Roman" panose="02020603050405020304" pitchFamily="18" charset="0"/>
                <a:ea typeface="宋体" panose="02010600030101010101" pitchFamily="2" charset="-122"/>
                <a:cs typeface="Times New Roman" panose="02020603050405020304" pitchFamily="18" charset="0"/>
              </a:rPr>
              <a:t>水下航行器耦合了非线性刚体运动、附加质量、阻尼、恢复力和有界推进器。外部流动既非空间均匀也非完全已知。近期研究表明，在变化海流中的成功自主导航强烈依赖可用的流动信息。控制器因此必须平衡至少</a:t>
            </a:r>
            <a:r>
              <a:rPr lang="zh-CN" altLang="zh-CN" sz="1800" b="1" dirty="0">
                <a:solidFill>
                  <a:srgbClr val="000000"/>
                </a:solidFill>
                <a:effectLst/>
                <a:latin typeface="Times New Roman" panose="02020603050405020304" pitchFamily="18" charset="0"/>
                <a:ea typeface="宋体" panose="02010600030101010101" pitchFamily="2" charset="-122"/>
                <a:cs typeface="Times New Roman" panose="02020603050405020304" pitchFamily="18" charset="0"/>
              </a:rPr>
              <a:t>四个要求：精确的位置跟踪、稳定的姿态、有限的执行器饱和，以及足够平滑的动作以适应硬件。</a:t>
            </a:r>
            <a:endParaRPr lang="zh-CN" altLang="en-US" b="1" dirty="0"/>
          </a:p>
        </p:txBody>
      </p:sp>
      <p:sp>
        <p:nvSpPr>
          <p:cNvPr id="11" name="文本框 10">
            <a:extLst>
              <a:ext uri="{FF2B5EF4-FFF2-40B4-BE49-F238E27FC236}">
                <a16:creationId xmlns:a16="http://schemas.microsoft.com/office/drawing/2014/main" id="{70B546CE-9873-0C08-DED2-22FF0540260E}"/>
              </a:ext>
            </a:extLst>
          </p:cNvPr>
          <p:cNvSpPr txBox="1"/>
          <p:nvPr/>
        </p:nvSpPr>
        <p:spPr>
          <a:xfrm>
            <a:off x="914848" y="2541306"/>
            <a:ext cx="10362304" cy="2368084"/>
          </a:xfrm>
          <a:prstGeom prst="rect">
            <a:avLst/>
          </a:prstGeom>
          <a:noFill/>
        </p:spPr>
        <p:txBody>
          <a:bodyPr wrap="square">
            <a:spAutoFit/>
          </a:bodyPr>
          <a:lstStyle/>
          <a:p>
            <a:pPr indent="266700" algn="just">
              <a:lnSpc>
                <a:spcPct val="130000"/>
              </a:lnSpc>
              <a:spcAft>
                <a:spcPts val="600"/>
              </a:spcAft>
              <a:buNone/>
            </a:pPr>
            <a:r>
              <a:rPr lang="en-US" altLang="zh-CN" sz="1800" dirty="0">
                <a:solidFill>
                  <a:srgbClr val="FF0000"/>
                </a:solidFill>
                <a:effectLst/>
                <a:latin typeface="Times New Roman" panose="02020603050405020304" pitchFamily="18" charset="0"/>
                <a:ea typeface="宋体" panose="02010600030101010101" pitchFamily="2" charset="-122"/>
                <a:cs typeface="Times New Roman" panose="02020603050405020304" pitchFamily="18" charset="0"/>
              </a:rPr>
              <a:t>SMC </a:t>
            </a:r>
            <a:r>
              <a:rPr lang="zh-CN" altLang="zh-CN" sz="1800" dirty="0">
                <a:solidFill>
                  <a:srgbClr val="000000"/>
                </a:solidFill>
                <a:effectLst/>
                <a:latin typeface="Times New Roman" panose="02020603050405020304" pitchFamily="18" charset="0"/>
                <a:ea typeface="宋体" panose="02010600030101010101" pitchFamily="2" charset="-122"/>
                <a:cs typeface="Times New Roman" panose="02020603050405020304" pitchFamily="18" charset="0"/>
              </a:rPr>
              <a:t>在有界不确定性因为其趋近律可以在不求解在线优化问题的情况下抑制扰动</a:t>
            </a:r>
            <a:r>
              <a:rPr lang="zh-CN" altLang="en-US" sz="1800" dirty="0">
                <a:solidFill>
                  <a:srgbClr val="000000"/>
                </a:solidFill>
                <a:effectLst/>
                <a:latin typeface="Times New Roman" panose="02020603050405020304" pitchFamily="18" charset="0"/>
                <a:ea typeface="宋体" panose="02010600030101010101" pitchFamily="2" charset="-122"/>
                <a:cs typeface="Times New Roman" panose="02020603050405020304" pitchFamily="18" charset="0"/>
              </a:rPr>
              <a:t>，但</a:t>
            </a:r>
            <a:r>
              <a:rPr lang="zh-CN" altLang="zh-CN" sz="1800" dirty="0">
                <a:solidFill>
                  <a:srgbClr val="000000"/>
                </a:solidFill>
                <a:effectLst/>
                <a:latin typeface="Times New Roman" panose="02020603050405020304" pitchFamily="18" charset="0"/>
                <a:ea typeface="宋体" panose="02010600030101010101" pitchFamily="2" charset="-122"/>
                <a:cs typeface="Times New Roman" panose="02020603050405020304" pitchFamily="18" charset="0"/>
              </a:rPr>
              <a:t>不连续或高增益动作可能引起抖振、激励执行器并需要边界层调节。</a:t>
            </a:r>
            <a:endParaRPr lang="zh-CN" altLang="zh-CN" sz="1800" dirty="0">
              <a:effectLst/>
              <a:latin typeface="Times New Roman" panose="02020603050405020304" pitchFamily="18" charset="0"/>
              <a:ea typeface="宋体" panose="02010600030101010101" pitchFamily="2" charset="-122"/>
              <a:cs typeface="Times New Roman" panose="02020603050405020304" pitchFamily="18" charset="0"/>
            </a:endParaRPr>
          </a:p>
          <a:p>
            <a:pPr indent="266700" algn="just">
              <a:lnSpc>
                <a:spcPct val="130000"/>
              </a:lnSpc>
              <a:spcAft>
                <a:spcPts val="600"/>
              </a:spcAft>
              <a:buNone/>
            </a:pPr>
            <a:r>
              <a:rPr lang="en-US" altLang="zh-CN" sz="1800" dirty="0">
                <a:solidFill>
                  <a:srgbClr val="FF0000"/>
                </a:solidFill>
                <a:effectLst/>
                <a:latin typeface="Times New Roman" panose="02020603050405020304" pitchFamily="18" charset="0"/>
                <a:ea typeface="宋体" panose="02010600030101010101" pitchFamily="2" charset="-122"/>
                <a:cs typeface="Times New Roman" panose="02020603050405020304" pitchFamily="18" charset="0"/>
              </a:rPr>
              <a:t>MPC </a:t>
            </a:r>
            <a:r>
              <a:rPr lang="zh-CN" altLang="zh-CN" sz="1800" dirty="0">
                <a:solidFill>
                  <a:srgbClr val="000000"/>
                </a:solidFill>
                <a:effectLst/>
                <a:latin typeface="Times New Roman" panose="02020603050405020304" pitchFamily="18" charset="0"/>
                <a:ea typeface="宋体" panose="02010600030101010101" pitchFamily="2" charset="-122"/>
                <a:cs typeface="Times New Roman" panose="02020603050405020304" pitchFamily="18" charset="0"/>
              </a:rPr>
              <a:t>使用预测模型</a:t>
            </a:r>
            <a:r>
              <a:rPr lang="zh-CN" altLang="en-US" sz="1800" dirty="0">
                <a:solidFill>
                  <a:srgbClr val="000000"/>
                </a:solidFill>
                <a:effectLst/>
                <a:latin typeface="Times New Roman" panose="02020603050405020304" pitchFamily="18" charset="0"/>
                <a:ea typeface="宋体" panose="02010600030101010101" pitchFamily="2" charset="-122"/>
                <a:cs typeface="Times New Roman" panose="02020603050405020304" pitchFamily="18" charset="0"/>
              </a:rPr>
              <a:t>预见运动与执行器限制，但其优势依赖运行工况和预测模型的质量。</a:t>
            </a:r>
            <a:endParaRPr lang="en-US" altLang="zh-CN" sz="1800" dirty="0">
              <a:solidFill>
                <a:srgbClr val="000000"/>
              </a:solidFill>
              <a:effectLst/>
              <a:latin typeface="Times New Roman" panose="02020603050405020304" pitchFamily="18" charset="0"/>
              <a:ea typeface="宋体" panose="02010600030101010101" pitchFamily="2" charset="-122"/>
              <a:cs typeface="Times New Roman" panose="02020603050405020304" pitchFamily="18" charset="0"/>
            </a:endParaRPr>
          </a:p>
          <a:p>
            <a:pPr indent="266700" algn="just">
              <a:lnSpc>
                <a:spcPct val="130000"/>
              </a:lnSpc>
              <a:spcAft>
                <a:spcPts val="600"/>
              </a:spcAft>
              <a:buNone/>
            </a:pPr>
            <a:r>
              <a:rPr lang="zh-CN" altLang="zh-CN" dirty="0">
                <a:solidFill>
                  <a:srgbClr val="FF0000"/>
                </a:solidFill>
                <a:latin typeface="Times New Roman" panose="02020603050405020304" pitchFamily="18" charset="0"/>
                <a:ea typeface="宋体" panose="02010600030101010101" pitchFamily="2" charset="-122"/>
                <a:cs typeface="Times New Roman" panose="02020603050405020304" pitchFamily="18" charset="0"/>
              </a:rPr>
              <a:t>端到端学习</a:t>
            </a:r>
            <a:r>
              <a:rPr lang="zh-CN" altLang="zh-CN" dirty="0">
                <a:solidFill>
                  <a:srgbClr val="000000"/>
                </a:solidFill>
                <a:latin typeface="Times New Roman" panose="02020603050405020304" pitchFamily="18" charset="0"/>
                <a:ea typeface="宋体" panose="02010600030101010101" pitchFamily="2" charset="-122"/>
                <a:cs typeface="Times New Roman" panose="02020603050405020304" pitchFamily="18" charset="0"/>
              </a:rPr>
              <a:t>提供了更大的灵活性，</a:t>
            </a:r>
            <a:r>
              <a:rPr lang="zh-CN" altLang="en-US" sz="1800" dirty="0">
                <a:solidFill>
                  <a:srgbClr val="000000"/>
                </a:solidFill>
                <a:effectLst/>
                <a:latin typeface="Times New Roman" panose="02020603050405020304" pitchFamily="18" charset="0"/>
                <a:ea typeface="宋体" panose="02010600030101010101" pitchFamily="2" charset="-122"/>
                <a:cs typeface="Times New Roman" panose="02020603050405020304" pitchFamily="18" charset="0"/>
              </a:rPr>
              <a:t>直接强化学习策略可通过交互适应，但必须学习完整的执行器映射并承担巨大的验证与部署负担。</a:t>
            </a:r>
            <a:r>
              <a:rPr lang="zh-CN" altLang="zh-CN" sz="1800" dirty="0">
                <a:solidFill>
                  <a:srgbClr val="000000"/>
                </a:solidFill>
                <a:effectLst/>
                <a:latin typeface="Times New Roman" panose="02020603050405020304" pitchFamily="18" charset="0"/>
                <a:ea typeface="宋体" panose="02010600030101010101" pitchFamily="2" charset="-122"/>
                <a:cs typeface="Times New Roman" panose="02020603050405020304" pitchFamily="18" charset="0"/>
              </a:rPr>
              <a:t>安全框架可以限制部分风险，但学习到的六维动作仍然比传统控制律更难检查。</a:t>
            </a:r>
            <a:endParaRPr lang="zh-CN" altLang="zh-CN" sz="1800" dirty="0">
              <a:effectLst/>
              <a:latin typeface="Times New Roman" panose="02020603050405020304" pitchFamily="18" charset="0"/>
              <a:ea typeface="宋体" panose="02010600030101010101" pitchFamily="2" charset="-122"/>
              <a:cs typeface="Times New Roman" panose="02020603050405020304" pitchFamily="18" charset="0"/>
            </a:endParaRPr>
          </a:p>
        </p:txBody>
      </p:sp>
    </p:spTree>
    <p:extLst>
      <p:ext uri="{BB962C8B-B14F-4D97-AF65-F5344CB8AC3E}">
        <p14:creationId xmlns:p14="http://schemas.microsoft.com/office/powerpoint/2010/main" val="942094101"/>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E40379-AB2B-0C68-5CC1-17122F103BFA}"/>
            </a:ext>
          </a:extLst>
        </p:cNvPr>
        <p:cNvGrpSpPr/>
        <p:nvPr/>
      </p:nvGrpSpPr>
      <p:grpSpPr>
        <a:xfrm>
          <a:off x="0" y="0"/>
          <a:ext cx="0" cy="0"/>
          <a:chOff x="0" y="0"/>
          <a:chExt cx="0" cy="0"/>
        </a:xfrm>
      </p:grpSpPr>
      <p:sp>
        <p:nvSpPr>
          <p:cNvPr id="7" name="文本框 6">
            <a:extLst>
              <a:ext uri="{FF2B5EF4-FFF2-40B4-BE49-F238E27FC236}">
                <a16:creationId xmlns:a16="http://schemas.microsoft.com/office/drawing/2014/main" id="{13DFEFF2-7F29-41E8-861A-F32E193F4C21}"/>
              </a:ext>
            </a:extLst>
          </p:cNvPr>
          <p:cNvSpPr txBox="1"/>
          <p:nvPr/>
        </p:nvSpPr>
        <p:spPr>
          <a:xfrm>
            <a:off x="10461848" y="299500"/>
            <a:ext cx="1197832" cy="369332"/>
          </a:xfrm>
          <a:prstGeom prst="rect">
            <a:avLst/>
          </a:prstGeom>
          <a:noFill/>
        </p:spPr>
        <p:txBody>
          <a:bodyPr wrap="square" rtlCol="0">
            <a:spAutoFit/>
          </a:bodyPr>
          <a:lstStyle/>
          <a:p>
            <a:pPr algn="ctr"/>
            <a:r>
              <a:rPr kumimoji="1" lang="zh-CN" altLang="en-US" b="1" spc="110" dirty="0">
                <a:solidFill>
                  <a:schemeClr val="bg1"/>
                </a:solidFill>
                <a:latin typeface="微软雅黑" panose="020B0503020204020204" pitchFamily="34" charset="-122"/>
                <a:ea typeface="微软雅黑" panose="020B0503020204020204" pitchFamily="34" charset="-122"/>
              </a:rPr>
              <a:t>读研展望</a:t>
            </a:r>
          </a:p>
        </p:txBody>
      </p:sp>
      <p:sp>
        <p:nvSpPr>
          <p:cNvPr id="9" name="文本框 8">
            <a:extLst>
              <a:ext uri="{FF2B5EF4-FFF2-40B4-BE49-F238E27FC236}">
                <a16:creationId xmlns:a16="http://schemas.microsoft.com/office/drawing/2014/main" id="{B3F5FA57-6308-11EE-A5CD-C55B51F2234D}"/>
              </a:ext>
            </a:extLst>
          </p:cNvPr>
          <p:cNvSpPr txBox="1"/>
          <p:nvPr/>
        </p:nvSpPr>
        <p:spPr>
          <a:xfrm>
            <a:off x="2875146" y="179975"/>
            <a:ext cx="1336142" cy="369332"/>
          </a:xfrm>
          <a:prstGeom prst="rect">
            <a:avLst/>
          </a:prstGeom>
          <a:noFill/>
        </p:spPr>
        <p:txBody>
          <a:bodyPr wrap="square" rtlCol="0">
            <a:spAutoFit/>
          </a:bodyPr>
          <a:lstStyle/>
          <a:p>
            <a:pPr algn="ctr"/>
            <a:r>
              <a:rPr kumimoji="1" lang="zh-CN" altLang="en-US" b="1" spc="110" dirty="0">
                <a:solidFill>
                  <a:schemeClr val="bg1"/>
                </a:solidFill>
                <a:latin typeface="微软雅黑" panose="020B0503020204020204" pitchFamily="34" charset="-122"/>
                <a:ea typeface="微软雅黑" panose="020B0503020204020204" pitchFamily="34" charset="-122"/>
              </a:rPr>
              <a:t>个人简介</a:t>
            </a:r>
          </a:p>
        </p:txBody>
      </p:sp>
      <p:sp>
        <p:nvSpPr>
          <p:cNvPr id="15" name="椭圆 14">
            <a:extLst>
              <a:ext uri="{FF2B5EF4-FFF2-40B4-BE49-F238E27FC236}">
                <a16:creationId xmlns:a16="http://schemas.microsoft.com/office/drawing/2014/main" id="{E1DBFA03-5B60-1394-D5B6-BC1BBCDE60EE}"/>
              </a:ext>
            </a:extLst>
          </p:cNvPr>
          <p:cNvSpPr/>
          <p:nvPr/>
        </p:nvSpPr>
        <p:spPr>
          <a:xfrm>
            <a:off x="11750347" y="6411598"/>
            <a:ext cx="289344" cy="289344"/>
          </a:xfrm>
          <a:prstGeom prst="ellipse">
            <a:avLst/>
          </a:prstGeom>
          <a:solidFill>
            <a:schemeClr val="bg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CN" altLang="en-US">
              <a:solidFill>
                <a:schemeClr val="accent1"/>
              </a:solidFill>
            </a:endParaRPr>
          </a:p>
        </p:txBody>
      </p:sp>
      <p:sp>
        <p:nvSpPr>
          <p:cNvPr id="16" name="灯片编号占位符 18">
            <a:extLst>
              <a:ext uri="{FF2B5EF4-FFF2-40B4-BE49-F238E27FC236}">
                <a16:creationId xmlns:a16="http://schemas.microsoft.com/office/drawing/2014/main" id="{35F4E3CD-04AD-C12C-26B7-0F608E358E3E}"/>
              </a:ext>
            </a:extLst>
          </p:cNvPr>
          <p:cNvSpPr>
            <a:spLocks noGrp="1"/>
          </p:cNvSpPr>
          <p:nvPr>
            <p:ph type="sldNum" sz="quarter" idx="12"/>
          </p:nvPr>
        </p:nvSpPr>
        <p:spPr>
          <a:xfrm>
            <a:off x="11619554" y="6373707"/>
            <a:ext cx="550930" cy="365125"/>
          </a:xfrm>
        </p:spPr>
        <p:txBody>
          <a:bodyPr/>
          <a:lstStyle/>
          <a:p>
            <a:pPr algn="ctr"/>
            <a:fld id="{D290E156-FAFE-5144-A047-A692DE980B3A}" type="slidenum">
              <a:rPr kumimoji="1" lang="zh-CN" altLang="en-US" smtClean="0">
                <a:solidFill>
                  <a:schemeClr val="accent1"/>
                </a:solidFill>
                <a:latin typeface="Arial" panose="020B0604020202020204" pitchFamily="34" charset="0"/>
                <a:cs typeface="Arial" panose="020B0604020202020204" pitchFamily="34" charset="0"/>
              </a:rPr>
              <a:t>3</a:t>
            </a:fld>
            <a:endParaRPr kumimoji="1" lang="zh-CN" altLang="en-US" dirty="0">
              <a:solidFill>
                <a:schemeClr val="accent1"/>
              </a:solidFill>
              <a:latin typeface="Arial" panose="020B0604020202020204" pitchFamily="34" charset="0"/>
              <a:cs typeface="Arial" panose="020B0604020202020204" pitchFamily="34" charset="0"/>
            </a:endParaRPr>
          </a:p>
        </p:txBody>
      </p:sp>
      <p:sp>
        <p:nvSpPr>
          <p:cNvPr id="6" name="文本框 5">
            <a:extLst>
              <a:ext uri="{FF2B5EF4-FFF2-40B4-BE49-F238E27FC236}">
                <a16:creationId xmlns:a16="http://schemas.microsoft.com/office/drawing/2014/main" id="{B982538D-F2B4-A98A-3070-FDC8A704FE2D}"/>
              </a:ext>
            </a:extLst>
          </p:cNvPr>
          <p:cNvSpPr txBox="1"/>
          <p:nvPr/>
        </p:nvSpPr>
        <p:spPr>
          <a:xfrm>
            <a:off x="5032257" y="179975"/>
            <a:ext cx="1985202" cy="369332"/>
          </a:xfrm>
          <a:prstGeom prst="rect">
            <a:avLst/>
          </a:prstGeom>
          <a:noFill/>
        </p:spPr>
        <p:txBody>
          <a:bodyPr wrap="square" rtlCol="0">
            <a:spAutoFit/>
          </a:bodyPr>
          <a:lstStyle/>
          <a:p>
            <a:pPr algn="ctr"/>
            <a:r>
              <a:rPr kumimoji="1" lang="zh-CN" altLang="en-US" b="1" spc="110" dirty="0">
                <a:solidFill>
                  <a:schemeClr val="bg1"/>
                </a:solidFill>
                <a:latin typeface="微软雅黑" panose="020B0503020204020204" pitchFamily="34" charset="-122"/>
                <a:ea typeface="微软雅黑" panose="020B0503020204020204" pitchFamily="34" charset="-122"/>
              </a:rPr>
              <a:t>本科经历</a:t>
            </a:r>
          </a:p>
        </p:txBody>
      </p:sp>
      <p:sp>
        <p:nvSpPr>
          <p:cNvPr id="3" name="任意形状 2">
            <a:extLst>
              <a:ext uri="{FF2B5EF4-FFF2-40B4-BE49-F238E27FC236}">
                <a16:creationId xmlns:a16="http://schemas.microsoft.com/office/drawing/2014/main" id="{02B2AA1F-E1D3-7C9C-9B2D-686FD1DA8623}"/>
              </a:ext>
            </a:extLst>
          </p:cNvPr>
          <p:cNvSpPr/>
          <p:nvPr/>
        </p:nvSpPr>
        <p:spPr>
          <a:xfrm>
            <a:off x="0" y="0"/>
            <a:ext cx="9896847" cy="662946"/>
          </a:xfrm>
          <a:custGeom>
            <a:avLst/>
            <a:gdLst>
              <a:gd name="connsiteX0" fmla="*/ 0 w 8681972"/>
              <a:gd name="connsiteY0" fmla="*/ 0 h 689675"/>
              <a:gd name="connsiteX1" fmla="*/ 8681972 w 8681972"/>
              <a:gd name="connsiteY1" fmla="*/ 0 h 689675"/>
              <a:gd name="connsiteX2" fmla="*/ 8461124 w 8681972"/>
              <a:gd name="connsiteY2" fmla="*/ 344837 h 689675"/>
              <a:gd name="connsiteX3" fmla="*/ 8681972 w 8681972"/>
              <a:gd name="connsiteY3" fmla="*/ 689675 h 689675"/>
              <a:gd name="connsiteX4" fmla="*/ 0 w 8681972"/>
              <a:gd name="connsiteY4" fmla="*/ 689675 h 689675"/>
              <a:gd name="connsiteX5" fmla="*/ 0 w 8681972"/>
              <a:gd name="connsiteY5" fmla="*/ 0 h 6896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681972" h="689675">
                <a:moveTo>
                  <a:pt x="0" y="0"/>
                </a:moveTo>
                <a:lnTo>
                  <a:pt x="8681972" y="0"/>
                </a:lnTo>
                <a:lnTo>
                  <a:pt x="8461124" y="344837"/>
                </a:lnTo>
                <a:lnTo>
                  <a:pt x="8681972" y="689675"/>
                </a:lnTo>
                <a:lnTo>
                  <a:pt x="0" y="689675"/>
                </a:lnTo>
                <a:lnTo>
                  <a:pt x="0" y="0"/>
                </a:lnTo>
                <a:close/>
              </a:path>
            </a:pathLst>
          </a:custGeom>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zh-CN" altLang="en-US" sz="1600"/>
          </a:p>
        </p:txBody>
      </p:sp>
      <p:sp>
        <p:nvSpPr>
          <p:cNvPr id="14" name="文本框 13">
            <a:extLst>
              <a:ext uri="{FF2B5EF4-FFF2-40B4-BE49-F238E27FC236}">
                <a16:creationId xmlns:a16="http://schemas.microsoft.com/office/drawing/2014/main" id="{6B75E00C-2079-4A08-DDD4-924C66CCF471}"/>
              </a:ext>
            </a:extLst>
          </p:cNvPr>
          <p:cNvSpPr txBox="1"/>
          <p:nvPr/>
        </p:nvSpPr>
        <p:spPr>
          <a:xfrm>
            <a:off x="281981" y="79754"/>
            <a:ext cx="9335355" cy="523220"/>
          </a:xfrm>
          <a:prstGeom prst="rect">
            <a:avLst/>
          </a:prstGeom>
          <a:noFill/>
        </p:spPr>
        <p:txBody>
          <a:bodyPr wrap="square" rtlCol="0">
            <a:spAutoFit/>
          </a:bodyPr>
          <a:lstStyle>
            <a:defPPr>
              <a:defRPr lang="zh-CN"/>
            </a:defPPr>
            <a:lvl1pPr algn="ctr">
              <a:defRPr kumimoji="1" sz="4400" b="1" spc="300">
                <a:solidFill>
                  <a:schemeClr val="bg1"/>
                </a:solidFill>
                <a:latin typeface="微软雅黑" panose="020B0503020204020204" pitchFamily="34" charset="-122"/>
                <a:ea typeface="微软雅黑" panose="020B0503020204020204" pitchFamily="34" charset="-122"/>
              </a:defRPr>
            </a:lvl1pPr>
          </a:lstStyle>
          <a:p>
            <a:pPr algn="l"/>
            <a:r>
              <a:rPr lang="en-US" altLang="zh-CN" sz="1400" dirty="0"/>
              <a:t>Predictive Authority Control: Learning When and How Much to Trust Baseline Controllers for Robust Underwater Robot Tracking</a:t>
            </a:r>
            <a:endParaRPr lang="zh-CN" altLang="en-US" sz="1400" dirty="0"/>
          </a:p>
        </p:txBody>
      </p:sp>
      <p:pic>
        <p:nvPicPr>
          <p:cNvPr id="2" name="图片 1">
            <a:extLst>
              <a:ext uri="{FF2B5EF4-FFF2-40B4-BE49-F238E27FC236}">
                <a16:creationId xmlns:a16="http://schemas.microsoft.com/office/drawing/2014/main" id="{965E35FA-5D18-CA47-0C7E-E7CD88036EB3}"/>
              </a:ext>
            </a:extLst>
          </p:cNvPr>
          <p:cNvPicPr>
            <a:picLocks noChangeAspect="1"/>
          </p:cNvPicPr>
          <p:nvPr/>
        </p:nvPicPr>
        <p:blipFill>
          <a:blip r:embed="rId2"/>
          <a:stretch>
            <a:fillRect/>
          </a:stretch>
        </p:blipFill>
        <p:spPr>
          <a:xfrm>
            <a:off x="10121441" y="54734"/>
            <a:ext cx="1773578" cy="553478"/>
          </a:xfrm>
          <a:prstGeom prst="rect">
            <a:avLst/>
          </a:prstGeom>
        </p:spPr>
      </p:pic>
      <p:sp>
        <p:nvSpPr>
          <p:cNvPr id="20" name="文本框 19">
            <a:extLst>
              <a:ext uri="{FF2B5EF4-FFF2-40B4-BE49-F238E27FC236}">
                <a16:creationId xmlns:a16="http://schemas.microsoft.com/office/drawing/2014/main" id="{8E5CAFE4-DB02-A1C7-E103-B0D7176F212B}"/>
              </a:ext>
            </a:extLst>
          </p:cNvPr>
          <p:cNvSpPr txBox="1"/>
          <p:nvPr/>
        </p:nvSpPr>
        <p:spPr>
          <a:xfrm>
            <a:off x="0" y="738435"/>
            <a:ext cx="12501349" cy="338554"/>
          </a:xfrm>
          <a:prstGeom prst="rect">
            <a:avLst/>
          </a:prstGeom>
          <a:noFill/>
        </p:spPr>
        <p:txBody>
          <a:bodyPr wrap="square" rtlCol="0">
            <a:spAutoFit/>
          </a:bodyPr>
          <a:lstStyle/>
          <a:p>
            <a:pPr marL="342900" indent="-342900">
              <a:buSzPct val="85000"/>
              <a:buFont typeface="Wingdings" panose="05000000000000000000" pitchFamily="2" charset="2"/>
              <a:buChar char="n"/>
            </a:pPr>
            <a:r>
              <a:rPr kumimoji="1" lang="en-US" altLang="zh-CN" sz="1600" b="1" spc="300" dirty="0">
                <a:solidFill>
                  <a:schemeClr val="accent1"/>
                </a:solidFill>
                <a:latin typeface="微软雅黑" panose="020B0503020204020204" pitchFamily="34" charset="-122"/>
                <a:ea typeface="微软雅黑" panose="020B0503020204020204" pitchFamily="34" charset="-122"/>
              </a:rPr>
              <a:t>PAC</a:t>
            </a:r>
            <a:r>
              <a:rPr kumimoji="1" lang="zh-CN" altLang="en-US" sz="1600" b="1" spc="300" dirty="0">
                <a:solidFill>
                  <a:schemeClr val="accent1"/>
                </a:solidFill>
                <a:latin typeface="微软雅黑" panose="020B0503020204020204" pitchFamily="34" charset="-122"/>
                <a:ea typeface="微软雅黑" panose="020B0503020204020204" pitchFamily="34" charset="-122"/>
              </a:rPr>
              <a:t>：面向水下机器人鲁棒跟踪的基线控制器时序信任权重学习</a:t>
            </a:r>
          </a:p>
        </p:txBody>
      </p:sp>
      <p:cxnSp>
        <p:nvCxnSpPr>
          <p:cNvPr id="21" name="直线连接符 12">
            <a:extLst>
              <a:ext uri="{FF2B5EF4-FFF2-40B4-BE49-F238E27FC236}">
                <a16:creationId xmlns:a16="http://schemas.microsoft.com/office/drawing/2014/main" id="{7949D308-94BB-F26A-C1D9-CCB5FCE832EB}"/>
              </a:ext>
            </a:extLst>
          </p:cNvPr>
          <p:cNvCxnSpPr/>
          <p:nvPr/>
        </p:nvCxnSpPr>
        <p:spPr>
          <a:xfrm>
            <a:off x="908" y="1167007"/>
            <a:ext cx="10978564" cy="0"/>
          </a:xfrm>
          <a:prstGeom prst="line">
            <a:avLst/>
          </a:prstGeom>
        </p:spPr>
        <p:style>
          <a:lnRef idx="1">
            <a:schemeClr val="accent1"/>
          </a:lnRef>
          <a:fillRef idx="0">
            <a:schemeClr val="accent1"/>
          </a:fillRef>
          <a:effectRef idx="0">
            <a:schemeClr val="accent1"/>
          </a:effectRef>
          <a:fontRef idx="minor">
            <a:schemeClr val="tx1"/>
          </a:fontRef>
        </p:style>
      </p:cxnSp>
      <p:pic>
        <p:nvPicPr>
          <p:cNvPr id="22" name="Picture 21" descr="fig1_system_architecture_ai.png">
            <a:extLst>
              <a:ext uri="{FF2B5EF4-FFF2-40B4-BE49-F238E27FC236}">
                <a16:creationId xmlns:a16="http://schemas.microsoft.com/office/drawing/2014/main" id="{FD5B8724-C38C-86A2-682B-F6FFA9189279}"/>
              </a:ext>
            </a:extLst>
          </p:cNvPr>
          <p:cNvPicPr>
            <a:picLocks noChangeAspect="1"/>
          </p:cNvPicPr>
          <p:nvPr/>
        </p:nvPicPr>
        <p:blipFill>
          <a:blip r:embed="rId3"/>
          <a:stretch>
            <a:fillRect/>
          </a:stretch>
        </p:blipFill>
        <p:spPr>
          <a:xfrm>
            <a:off x="0" y="1704399"/>
            <a:ext cx="8138160" cy="4580149"/>
          </a:xfrm>
          <a:prstGeom prst="rect">
            <a:avLst/>
          </a:prstGeom>
        </p:spPr>
      </p:pic>
      <p:sp>
        <p:nvSpPr>
          <p:cNvPr id="8" name="文本框 7">
            <a:extLst>
              <a:ext uri="{FF2B5EF4-FFF2-40B4-BE49-F238E27FC236}">
                <a16:creationId xmlns:a16="http://schemas.microsoft.com/office/drawing/2014/main" id="{81626E2D-6CC9-0740-6C7C-D2219ECE843A}"/>
              </a:ext>
            </a:extLst>
          </p:cNvPr>
          <p:cNvSpPr txBox="1"/>
          <p:nvPr/>
        </p:nvSpPr>
        <p:spPr>
          <a:xfrm>
            <a:off x="8080929" y="1204899"/>
            <a:ext cx="3946395" cy="5455083"/>
          </a:xfrm>
          <a:prstGeom prst="rect">
            <a:avLst/>
          </a:prstGeom>
          <a:noFill/>
        </p:spPr>
        <p:txBody>
          <a:bodyPr wrap="square">
            <a:spAutoFit/>
          </a:bodyPr>
          <a:lstStyle/>
          <a:p>
            <a:pPr indent="266700" algn="just">
              <a:lnSpc>
                <a:spcPct val="130000"/>
              </a:lnSpc>
              <a:spcAft>
                <a:spcPts val="600"/>
              </a:spcAft>
              <a:buNone/>
            </a:pPr>
            <a:r>
              <a:rPr lang="en-US" altLang="zh-CN" sz="1800" dirty="0">
                <a:solidFill>
                  <a:srgbClr val="000000"/>
                </a:solidFill>
                <a:effectLst/>
                <a:latin typeface="Times New Roman" panose="02020603050405020304" pitchFamily="18" charset="0"/>
                <a:ea typeface="宋体" panose="02010600030101010101" pitchFamily="2" charset="-122"/>
                <a:cs typeface="Times New Roman" panose="02020603050405020304" pitchFamily="18" charset="0"/>
              </a:rPr>
              <a:t>PAC </a:t>
            </a:r>
            <a:r>
              <a:rPr lang="zh-CN" altLang="zh-CN" sz="1800" dirty="0">
                <a:solidFill>
                  <a:srgbClr val="000000"/>
                </a:solidFill>
                <a:effectLst/>
                <a:latin typeface="Times New Roman" panose="02020603050405020304" pitchFamily="18" charset="0"/>
                <a:ea typeface="宋体" panose="02010600030101010101" pitchFamily="2" charset="-122"/>
                <a:cs typeface="Times New Roman" panose="02020603050405020304" pitchFamily="18" charset="0"/>
              </a:rPr>
              <a:t>填补了这一空白。在每个</a:t>
            </a:r>
            <a:r>
              <a:rPr lang="en-US" altLang="zh-CN" sz="1800" dirty="0">
                <a:solidFill>
                  <a:srgbClr val="000000"/>
                </a:solidFill>
                <a:effectLst/>
                <a:latin typeface="Times New Roman" panose="02020603050405020304" pitchFamily="18" charset="0"/>
                <a:ea typeface="宋体" panose="02010600030101010101" pitchFamily="2" charset="-122"/>
                <a:cs typeface="Times New Roman" panose="02020603050405020304" pitchFamily="18" charset="0"/>
              </a:rPr>
              <a:t> 10 </a:t>
            </a:r>
            <a:r>
              <a:rPr lang="zh-CN" altLang="zh-CN" sz="1800" dirty="0">
                <a:solidFill>
                  <a:srgbClr val="000000"/>
                </a:solidFill>
                <a:effectLst/>
                <a:latin typeface="Times New Roman" panose="02020603050405020304" pitchFamily="18" charset="0"/>
                <a:ea typeface="宋体" panose="02010600030101010101" pitchFamily="2" charset="-122"/>
                <a:cs typeface="Times New Roman" panose="02020603050405020304" pitchFamily="18" charset="0"/>
              </a:rPr>
              <a:t>毫秒控制步，一个</a:t>
            </a:r>
            <a:r>
              <a:rPr lang="zh-CN" altLang="zh-CN" sz="1800" b="1" dirty="0">
                <a:solidFill>
                  <a:srgbClr val="000000"/>
                </a:solidFill>
                <a:effectLst/>
                <a:latin typeface="Times New Roman" panose="02020603050405020304" pitchFamily="18" charset="0"/>
                <a:ea typeface="宋体" panose="02010600030101010101" pitchFamily="2" charset="-122"/>
                <a:cs typeface="Times New Roman" panose="02020603050405020304" pitchFamily="18" charset="0"/>
              </a:rPr>
              <a:t>小型</a:t>
            </a:r>
            <a:r>
              <a:rPr lang="en-US" altLang="zh-CN" sz="1800" b="1" dirty="0">
                <a:solidFill>
                  <a:srgbClr val="000000"/>
                </a:solidFill>
                <a:effectLst/>
                <a:latin typeface="Times New Roman" panose="02020603050405020304" pitchFamily="18" charset="0"/>
                <a:ea typeface="宋体" panose="02010600030101010101" pitchFamily="2" charset="-122"/>
                <a:cs typeface="Times New Roman" panose="02020603050405020304" pitchFamily="18" charset="0"/>
              </a:rPr>
              <a:t> Transformer </a:t>
            </a:r>
            <a:r>
              <a:rPr lang="zh-CN" altLang="zh-CN" sz="1800" dirty="0">
                <a:solidFill>
                  <a:srgbClr val="000000"/>
                </a:solidFill>
                <a:effectLst/>
                <a:latin typeface="Times New Roman" panose="02020603050405020304" pitchFamily="18" charset="0"/>
                <a:ea typeface="宋体" panose="02010600030101010101" pitchFamily="2" charset="-122"/>
                <a:cs typeface="Times New Roman" panose="02020603050405020304" pitchFamily="18" charset="0"/>
              </a:rPr>
              <a:t>接收近期状态</a:t>
            </a:r>
            <a:r>
              <a:rPr lang="en-US" altLang="zh-CN" sz="1800" dirty="0">
                <a:solidFill>
                  <a:srgbClr val="000000"/>
                </a:solidFill>
                <a:effectLst/>
                <a:latin typeface="Times New Roman" panose="02020603050405020304" pitchFamily="18" charset="0"/>
                <a:ea typeface="宋体" panose="02010600030101010101" pitchFamily="2" charset="-122"/>
                <a:cs typeface="Times New Roman" panose="02020603050405020304" pitchFamily="18" charset="0"/>
              </a:rPr>
              <a:t>-</a:t>
            </a:r>
            <a:r>
              <a:rPr lang="zh-CN" altLang="zh-CN" sz="1800" dirty="0">
                <a:solidFill>
                  <a:srgbClr val="000000"/>
                </a:solidFill>
                <a:effectLst/>
                <a:latin typeface="Times New Roman" panose="02020603050405020304" pitchFamily="18" charset="0"/>
                <a:ea typeface="宋体" panose="02010600030101010101" pitchFamily="2" charset="-122"/>
                <a:cs typeface="Times New Roman" panose="02020603050405020304" pitchFamily="18" charset="0"/>
              </a:rPr>
              <a:t>控制器历史并产生一个介于零和一之间的权</a:t>
            </a:r>
            <a:r>
              <a:rPr lang="zh-CN" altLang="en-US" sz="1800" dirty="0">
                <a:solidFill>
                  <a:srgbClr val="000000"/>
                </a:solidFill>
                <a:effectLst/>
                <a:latin typeface="Times New Roman" panose="02020603050405020304" pitchFamily="18" charset="0"/>
                <a:ea typeface="宋体" panose="02010600030101010101" pitchFamily="2" charset="-122"/>
                <a:cs typeface="Times New Roman" panose="02020603050405020304" pitchFamily="18" charset="0"/>
              </a:rPr>
              <a:t>重</a:t>
            </a:r>
            <a:r>
              <a:rPr lang="zh-CN" altLang="zh-CN" sz="1800" dirty="0">
                <a:solidFill>
                  <a:srgbClr val="000000"/>
                </a:solidFill>
                <a:effectLst/>
                <a:latin typeface="Times New Roman" panose="02020603050405020304" pitchFamily="18" charset="0"/>
                <a:ea typeface="宋体" panose="02010600030101010101" pitchFamily="2" charset="-122"/>
                <a:cs typeface="Times New Roman" panose="02020603050405020304" pitchFamily="18" charset="0"/>
              </a:rPr>
              <a:t>系数。该系数混合完整的</a:t>
            </a:r>
            <a:r>
              <a:rPr lang="en-US" altLang="zh-CN" sz="1800" dirty="0">
                <a:solidFill>
                  <a:srgbClr val="000000"/>
                </a:solidFill>
                <a:effectLst/>
                <a:latin typeface="Times New Roman" panose="02020603050405020304" pitchFamily="18" charset="0"/>
                <a:ea typeface="宋体" panose="02010600030101010101" pitchFamily="2" charset="-122"/>
                <a:cs typeface="Times New Roman" panose="02020603050405020304" pitchFamily="18" charset="0"/>
              </a:rPr>
              <a:t> SMC </a:t>
            </a:r>
            <a:r>
              <a:rPr lang="zh-CN" altLang="zh-CN" sz="1800" dirty="0">
                <a:solidFill>
                  <a:srgbClr val="000000"/>
                </a:solidFill>
                <a:effectLst/>
                <a:latin typeface="Times New Roman" panose="02020603050405020304" pitchFamily="18" charset="0"/>
                <a:ea typeface="宋体" panose="02010600030101010101" pitchFamily="2" charset="-122"/>
                <a:cs typeface="Times New Roman" panose="02020603050405020304" pitchFamily="18" charset="0"/>
              </a:rPr>
              <a:t>和</a:t>
            </a:r>
            <a:r>
              <a:rPr lang="en-US" altLang="zh-CN" sz="1800" dirty="0">
                <a:solidFill>
                  <a:srgbClr val="000000"/>
                </a:solidFill>
                <a:effectLst/>
                <a:latin typeface="Times New Roman" panose="02020603050405020304" pitchFamily="18" charset="0"/>
                <a:ea typeface="宋体" panose="02010600030101010101" pitchFamily="2" charset="-122"/>
                <a:cs typeface="Times New Roman" panose="02020603050405020304" pitchFamily="18" charset="0"/>
              </a:rPr>
              <a:t> MPC </a:t>
            </a:r>
            <a:r>
              <a:rPr lang="zh-CN" altLang="zh-CN" sz="1800" dirty="0">
                <a:solidFill>
                  <a:srgbClr val="000000"/>
                </a:solidFill>
                <a:effectLst/>
                <a:latin typeface="Times New Roman" panose="02020603050405020304" pitchFamily="18" charset="0"/>
                <a:ea typeface="宋体" panose="02010600030101010101" pitchFamily="2" charset="-122"/>
                <a:cs typeface="Times New Roman" panose="02020603050405020304" pitchFamily="18" charset="0"/>
              </a:rPr>
              <a:t>指令，同时平滑和变化率限制阻止突变转移。一个</a:t>
            </a:r>
            <a:r>
              <a:rPr lang="en-US" altLang="zh-CN" sz="1800" dirty="0">
                <a:solidFill>
                  <a:srgbClr val="000000"/>
                </a:solidFill>
                <a:effectLst/>
                <a:latin typeface="Times New Roman" panose="02020603050405020304" pitchFamily="18" charset="0"/>
                <a:ea typeface="宋体" panose="02010600030101010101" pitchFamily="2" charset="-122"/>
                <a:cs typeface="Times New Roman" panose="02020603050405020304" pitchFamily="18" charset="0"/>
              </a:rPr>
              <a:t> 2,177 </a:t>
            </a:r>
            <a:r>
              <a:rPr lang="zh-CN" altLang="zh-CN" sz="1800" dirty="0">
                <a:solidFill>
                  <a:srgbClr val="000000"/>
                </a:solidFill>
                <a:effectLst/>
                <a:latin typeface="Times New Roman" panose="02020603050405020304" pitchFamily="18" charset="0"/>
                <a:ea typeface="宋体" panose="02010600030101010101" pitchFamily="2" charset="-122"/>
                <a:cs typeface="Times New Roman" panose="02020603050405020304" pitchFamily="18" charset="0"/>
              </a:rPr>
              <a:t>参数的零初始化残差头进一步以每步最多</a:t>
            </a:r>
            <a:r>
              <a:rPr lang="en-US" altLang="zh-CN" sz="1800" dirty="0">
                <a:solidFill>
                  <a:srgbClr val="000000"/>
                </a:solidFill>
                <a:effectLst/>
                <a:latin typeface="Times New Roman" panose="02020603050405020304" pitchFamily="18" charset="0"/>
                <a:ea typeface="宋体" panose="02010600030101010101" pitchFamily="2" charset="-122"/>
                <a:cs typeface="Times New Roman" panose="02020603050405020304" pitchFamily="18" charset="0"/>
              </a:rPr>
              <a:t> 0.1 </a:t>
            </a:r>
            <a:r>
              <a:rPr lang="zh-CN" altLang="zh-CN" sz="1800" dirty="0">
                <a:solidFill>
                  <a:srgbClr val="000000"/>
                </a:solidFill>
                <a:effectLst/>
                <a:latin typeface="Times New Roman" panose="02020603050405020304" pitchFamily="18" charset="0"/>
                <a:ea typeface="宋体" panose="02010600030101010101" pitchFamily="2" charset="-122"/>
                <a:cs typeface="Times New Roman" panose="02020603050405020304" pitchFamily="18" charset="0"/>
              </a:rPr>
              <a:t>的幅度修正该系数，使组合策略精确地从监督基线出发，此后只能在有界包络内修正信任。序列模型刻意远小于典型的</a:t>
            </a:r>
            <a:r>
              <a:rPr lang="en-US" altLang="zh-CN" sz="1800" dirty="0">
                <a:solidFill>
                  <a:srgbClr val="000000"/>
                </a:solidFill>
                <a:effectLst/>
                <a:latin typeface="Times New Roman" panose="02020603050405020304" pitchFamily="18" charset="0"/>
                <a:ea typeface="宋体" panose="02010600030101010101" pitchFamily="2" charset="-122"/>
                <a:cs typeface="Times New Roman" panose="02020603050405020304" pitchFamily="18" charset="0"/>
              </a:rPr>
              <a:t> Transformer </a:t>
            </a:r>
            <a:r>
              <a:rPr lang="zh-CN" altLang="zh-CN" sz="1800" dirty="0">
                <a:solidFill>
                  <a:srgbClr val="000000"/>
                </a:solidFill>
                <a:effectLst/>
                <a:latin typeface="Times New Roman" panose="02020603050405020304" pitchFamily="18" charset="0"/>
                <a:ea typeface="宋体" panose="02010600030101010101" pitchFamily="2" charset="-122"/>
                <a:cs typeface="Times New Roman" panose="02020603050405020304" pitchFamily="18" charset="0"/>
              </a:rPr>
              <a:t>策略：它包含</a:t>
            </a:r>
            <a:r>
              <a:rPr lang="en-US" altLang="zh-CN" sz="1800" dirty="0">
                <a:solidFill>
                  <a:srgbClr val="000000"/>
                </a:solidFill>
                <a:effectLst/>
                <a:latin typeface="Times New Roman" panose="02020603050405020304" pitchFamily="18" charset="0"/>
                <a:ea typeface="宋体" panose="02010600030101010101" pitchFamily="2" charset="-122"/>
                <a:cs typeface="Times New Roman" panose="02020603050405020304" pitchFamily="18" charset="0"/>
              </a:rPr>
              <a:t> </a:t>
            </a:r>
            <a:r>
              <a:rPr lang="en-US" altLang="zh-CN" sz="1800" b="1" dirty="0">
                <a:solidFill>
                  <a:srgbClr val="000000"/>
                </a:solidFill>
                <a:effectLst/>
                <a:latin typeface="Times New Roman" panose="02020603050405020304" pitchFamily="18" charset="0"/>
                <a:ea typeface="宋体" panose="02010600030101010101" pitchFamily="2" charset="-122"/>
                <a:cs typeface="Times New Roman" panose="02020603050405020304" pitchFamily="18" charset="0"/>
              </a:rPr>
              <a:t>14,113 </a:t>
            </a:r>
            <a:r>
              <a:rPr lang="zh-CN" altLang="zh-CN" sz="1800" b="1" dirty="0">
                <a:solidFill>
                  <a:srgbClr val="000000"/>
                </a:solidFill>
                <a:effectLst/>
                <a:latin typeface="Times New Roman" panose="02020603050405020304" pitchFamily="18" charset="0"/>
                <a:ea typeface="宋体" panose="02010600030101010101" pitchFamily="2" charset="-122"/>
                <a:cs typeface="Times New Roman" panose="02020603050405020304" pitchFamily="18" charset="0"/>
              </a:rPr>
              <a:t>个参数、约</a:t>
            </a:r>
            <a:r>
              <a:rPr lang="en-US" altLang="zh-CN" sz="1800" b="1" dirty="0">
                <a:solidFill>
                  <a:srgbClr val="000000"/>
                </a:solidFill>
                <a:effectLst/>
                <a:latin typeface="Times New Roman" panose="02020603050405020304" pitchFamily="18" charset="0"/>
                <a:ea typeface="宋体" panose="02010600030101010101" pitchFamily="2" charset="-122"/>
                <a:cs typeface="Times New Roman" panose="02020603050405020304" pitchFamily="18" charset="0"/>
              </a:rPr>
              <a:t> 55.1 KB </a:t>
            </a:r>
            <a:r>
              <a:rPr lang="zh-CN" altLang="zh-CN" sz="1800" dirty="0">
                <a:solidFill>
                  <a:srgbClr val="000000"/>
                </a:solidFill>
                <a:effectLst/>
                <a:latin typeface="Times New Roman" panose="02020603050405020304" pitchFamily="18" charset="0"/>
                <a:ea typeface="宋体" panose="02010600030101010101" pitchFamily="2" charset="-122"/>
                <a:cs typeface="Times New Roman" panose="02020603050405020304" pitchFamily="18" charset="0"/>
              </a:rPr>
              <a:t>的权重和每次推理约</a:t>
            </a:r>
            <a:r>
              <a:rPr lang="en-US" altLang="zh-CN" sz="1800" dirty="0">
                <a:solidFill>
                  <a:srgbClr val="000000"/>
                </a:solidFill>
                <a:effectLst/>
                <a:latin typeface="Times New Roman" panose="02020603050405020304" pitchFamily="18" charset="0"/>
                <a:ea typeface="宋体" panose="02010600030101010101" pitchFamily="2" charset="-122"/>
                <a:cs typeface="Times New Roman" panose="02020603050405020304" pitchFamily="18" charset="0"/>
              </a:rPr>
              <a:t> 0.23 </a:t>
            </a:r>
            <a:r>
              <a:rPr lang="zh-CN" altLang="zh-CN" sz="1800" dirty="0">
                <a:solidFill>
                  <a:srgbClr val="000000"/>
                </a:solidFill>
                <a:effectLst/>
                <a:latin typeface="Times New Roman" panose="02020603050405020304" pitchFamily="18" charset="0"/>
                <a:ea typeface="宋体" panose="02010600030101010101" pitchFamily="2" charset="-122"/>
                <a:cs typeface="Times New Roman" panose="02020603050405020304" pitchFamily="18" charset="0"/>
              </a:rPr>
              <a:t>百万次乘加运算。其学习输出是标量，而所有物理执行仍由显式控制器生成。</a:t>
            </a:r>
            <a:endParaRPr lang="zh-CN" altLang="zh-CN" sz="1800" dirty="0">
              <a:effectLst/>
              <a:latin typeface="Times New Roman" panose="02020603050405020304" pitchFamily="18" charset="0"/>
              <a:ea typeface="宋体" panose="02010600030101010101" pitchFamily="2" charset="-122"/>
              <a:cs typeface="Times New Roman" panose="02020603050405020304" pitchFamily="18" charset="0"/>
            </a:endParaRPr>
          </a:p>
        </p:txBody>
      </p:sp>
    </p:spTree>
    <p:extLst>
      <p:ext uri="{BB962C8B-B14F-4D97-AF65-F5344CB8AC3E}">
        <p14:creationId xmlns:p14="http://schemas.microsoft.com/office/powerpoint/2010/main" val="648001322"/>
      </p:ext>
    </p:extLst>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1A7E7E-6A62-015B-4DC4-ACEFA9428ED4}"/>
            </a:ext>
          </a:extLst>
        </p:cNvPr>
        <p:cNvGrpSpPr/>
        <p:nvPr/>
      </p:nvGrpSpPr>
      <p:grpSpPr>
        <a:xfrm>
          <a:off x="0" y="0"/>
          <a:ext cx="0" cy="0"/>
          <a:chOff x="0" y="0"/>
          <a:chExt cx="0" cy="0"/>
        </a:xfrm>
      </p:grpSpPr>
      <p:sp>
        <p:nvSpPr>
          <p:cNvPr id="7" name="文本框 6">
            <a:extLst>
              <a:ext uri="{FF2B5EF4-FFF2-40B4-BE49-F238E27FC236}">
                <a16:creationId xmlns:a16="http://schemas.microsoft.com/office/drawing/2014/main" id="{2FEA6314-D1D6-BF34-FE8D-64475CBCCF9C}"/>
              </a:ext>
            </a:extLst>
          </p:cNvPr>
          <p:cNvSpPr txBox="1"/>
          <p:nvPr/>
        </p:nvSpPr>
        <p:spPr>
          <a:xfrm>
            <a:off x="10461848" y="299500"/>
            <a:ext cx="1197832" cy="369332"/>
          </a:xfrm>
          <a:prstGeom prst="rect">
            <a:avLst/>
          </a:prstGeom>
          <a:noFill/>
        </p:spPr>
        <p:txBody>
          <a:bodyPr wrap="square" rtlCol="0">
            <a:spAutoFit/>
          </a:bodyPr>
          <a:lstStyle/>
          <a:p>
            <a:pPr algn="ctr"/>
            <a:r>
              <a:rPr kumimoji="1" lang="zh-CN" altLang="en-US" b="1" spc="110" dirty="0">
                <a:solidFill>
                  <a:schemeClr val="bg1"/>
                </a:solidFill>
                <a:latin typeface="微软雅黑" panose="020B0503020204020204" pitchFamily="34" charset="-122"/>
                <a:ea typeface="微软雅黑" panose="020B0503020204020204" pitchFamily="34" charset="-122"/>
              </a:rPr>
              <a:t>读研展望</a:t>
            </a:r>
          </a:p>
        </p:txBody>
      </p:sp>
      <p:sp>
        <p:nvSpPr>
          <p:cNvPr id="9" name="文本框 8">
            <a:extLst>
              <a:ext uri="{FF2B5EF4-FFF2-40B4-BE49-F238E27FC236}">
                <a16:creationId xmlns:a16="http://schemas.microsoft.com/office/drawing/2014/main" id="{4A93EB51-E7E3-9D32-6117-B1A630E3F434}"/>
              </a:ext>
            </a:extLst>
          </p:cNvPr>
          <p:cNvSpPr txBox="1"/>
          <p:nvPr/>
        </p:nvSpPr>
        <p:spPr>
          <a:xfrm>
            <a:off x="2875146" y="179975"/>
            <a:ext cx="1336142" cy="369332"/>
          </a:xfrm>
          <a:prstGeom prst="rect">
            <a:avLst/>
          </a:prstGeom>
          <a:noFill/>
        </p:spPr>
        <p:txBody>
          <a:bodyPr wrap="square" rtlCol="0">
            <a:spAutoFit/>
          </a:bodyPr>
          <a:lstStyle/>
          <a:p>
            <a:pPr algn="ctr"/>
            <a:r>
              <a:rPr kumimoji="1" lang="zh-CN" altLang="en-US" b="1" spc="110" dirty="0">
                <a:solidFill>
                  <a:schemeClr val="bg1"/>
                </a:solidFill>
                <a:latin typeface="微软雅黑" panose="020B0503020204020204" pitchFamily="34" charset="-122"/>
                <a:ea typeface="微软雅黑" panose="020B0503020204020204" pitchFamily="34" charset="-122"/>
              </a:rPr>
              <a:t>个人简介</a:t>
            </a:r>
          </a:p>
        </p:txBody>
      </p:sp>
      <p:sp>
        <p:nvSpPr>
          <p:cNvPr id="15" name="椭圆 14">
            <a:extLst>
              <a:ext uri="{FF2B5EF4-FFF2-40B4-BE49-F238E27FC236}">
                <a16:creationId xmlns:a16="http://schemas.microsoft.com/office/drawing/2014/main" id="{D1551740-04D7-266B-C718-4F38F889444D}"/>
              </a:ext>
            </a:extLst>
          </p:cNvPr>
          <p:cNvSpPr/>
          <p:nvPr/>
        </p:nvSpPr>
        <p:spPr>
          <a:xfrm>
            <a:off x="11750347" y="6411598"/>
            <a:ext cx="289344" cy="289344"/>
          </a:xfrm>
          <a:prstGeom prst="ellipse">
            <a:avLst/>
          </a:prstGeom>
          <a:solidFill>
            <a:schemeClr val="bg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CN" altLang="en-US">
              <a:solidFill>
                <a:schemeClr val="accent1"/>
              </a:solidFill>
            </a:endParaRPr>
          </a:p>
        </p:txBody>
      </p:sp>
      <p:sp>
        <p:nvSpPr>
          <p:cNvPr id="16" name="灯片编号占位符 18">
            <a:extLst>
              <a:ext uri="{FF2B5EF4-FFF2-40B4-BE49-F238E27FC236}">
                <a16:creationId xmlns:a16="http://schemas.microsoft.com/office/drawing/2014/main" id="{D17A71D7-C763-F1D6-C1E4-2D1CA33D9144}"/>
              </a:ext>
            </a:extLst>
          </p:cNvPr>
          <p:cNvSpPr>
            <a:spLocks noGrp="1"/>
          </p:cNvSpPr>
          <p:nvPr>
            <p:ph type="sldNum" sz="quarter" idx="12"/>
          </p:nvPr>
        </p:nvSpPr>
        <p:spPr>
          <a:xfrm>
            <a:off x="11619554" y="6373707"/>
            <a:ext cx="550930" cy="365125"/>
          </a:xfrm>
        </p:spPr>
        <p:txBody>
          <a:bodyPr/>
          <a:lstStyle/>
          <a:p>
            <a:pPr algn="ctr"/>
            <a:fld id="{D290E156-FAFE-5144-A047-A692DE980B3A}" type="slidenum">
              <a:rPr kumimoji="1" lang="zh-CN" altLang="en-US" smtClean="0">
                <a:solidFill>
                  <a:schemeClr val="accent1"/>
                </a:solidFill>
                <a:latin typeface="Arial" panose="020B0604020202020204" pitchFamily="34" charset="0"/>
                <a:cs typeface="Arial" panose="020B0604020202020204" pitchFamily="34" charset="0"/>
              </a:rPr>
              <a:t>4</a:t>
            </a:fld>
            <a:endParaRPr kumimoji="1" lang="zh-CN" altLang="en-US" dirty="0">
              <a:solidFill>
                <a:schemeClr val="accent1"/>
              </a:solidFill>
              <a:latin typeface="Arial" panose="020B0604020202020204" pitchFamily="34" charset="0"/>
              <a:cs typeface="Arial" panose="020B0604020202020204" pitchFamily="34" charset="0"/>
            </a:endParaRPr>
          </a:p>
        </p:txBody>
      </p:sp>
      <p:sp>
        <p:nvSpPr>
          <p:cNvPr id="6" name="文本框 5">
            <a:extLst>
              <a:ext uri="{FF2B5EF4-FFF2-40B4-BE49-F238E27FC236}">
                <a16:creationId xmlns:a16="http://schemas.microsoft.com/office/drawing/2014/main" id="{8CBC1D74-0142-4489-BC4D-A1398965DDDF}"/>
              </a:ext>
            </a:extLst>
          </p:cNvPr>
          <p:cNvSpPr txBox="1"/>
          <p:nvPr/>
        </p:nvSpPr>
        <p:spPr>
          <a:xfrm>
            <a:off x="5032257" y="179975"/>
            <a:ext cx="1985202" cy="369332"/>
          </a:xfrm>
          <a:prstGeom prst="rect">
            <a:avLst/>
          </a:prstGeom>
          <a:noFill/>
        </p:spPr>
        <p:txBody>
          <a:bodyPr wrap="square" rtlCol="0">
            <a:spAutoFit/>
          </a:bodyPr>
          <a:lstStyle/>
          <a:p>
            <a:pPr algn="ctr"/>
            <a:r>
              <a:rPr kumimoji="1" lang="zh-CN" altLang="en-US" b="1" spc="110" dirty="0">
                <a:solidFill>
                  <a:schemeClr val="bg1"/>
                </a:solidFill>
                <a:latin typeface="微软雅黑" panose="020B0503020204020204" pitchFamily="34" charset="-122"/>
                <a:ea typeface="微软雅黑" panose="020B0503020204020204" pitchFamily="34" charset="-122"/>
              </a:rPr>
              <a:t>本科经历</a:t>
            </a:r>
          </a:p>
        </p:txBody>
      </p:sp>
      <p:sp>
        <p:nvSpPr>
          <p:cNvPr id="3" name="任意形状 2">
            <a:extLst>
              <a:ext uri="{FF2B5EF4-FFF2-40B4-BE49-F238E27FC236}">
                <a16:creationId xmlns:a16="http://schemas.microsoft.com/office/drawing/2014/main" id="{6BFD928A-E9BB-B8B1-8FED-C8168FEB9866}"/>
              </a:ext>
            </a:extLst>
          </p:cNvPr>
          <p:cNvSpPr/>
          <p:nvPr/>
        </p:nvSpPr>
        <p:spPr>
          <a:xfrm>
            <a:off x="0" y="0"/>
            <a:ext cx="9896847" cy="662946"/>
          </a:xfrm>
          <a:custGeom>
            <a:avLst/>
            <a:gdLst>
              <a:gd name="connsiteX0" fmla="*/ 0 w 8681972"/>
              <a:gd name="connsiteY0" fmla="*/ 0 h 689675"/>
              <a:gd name="connsiteX1" fmla="*/ 8681972 w 8681972"/>
              <a:gd name="connsiteY1" fmla="*/ 0 h 689675"/>
              <a:gd name="connsiteX2" fmla="*/ 8461124 w 8681972"/>
              <a:gd name="connsiteY2" fmla="*/ 344837 h 689675"/>
              <a:gd name="connsiteX3" fmla="*/ 8681972 w 8681972"/>
              <a:gd name="connsiteY3" fmla="*/ 689675 h 689675"/>
              <a:gd name="connsiteX4" fmla="*/ 0 w 8681972"/>
              <a:gd name="connsiteY4" fmla="*/ 689675 h 689675"/>
              <a:gd name="connsiteX5" fmla="*/ 0 w 8681972"/>
              <a:gd name="connsiteY5" fmla="*/ 0 h 6896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681972" h="689675">
                <a:moveTo>
                  <a:pt x="0" y="0"/>
                </a:moveTo>
                <a:lnTo>
                  <a:pt x="8681972" y="0"/>
                </a:lnTo>
                <a:lnTo>
                  <a:pt x="8461124" y="344837"/>
                </a:lnTo>
                <a:lnTo>
                  <a:pt x="8681972" y="689675"/>
                </a:lnTo>
                <a:lnTo>
                  <a:pt x="0" y="689675"/>
                </a:lnTo>
                <a:lnTo>
                  <a:pt x="0" y="0"/>
                </a:lnTo>
                <a:close/>
              </a:path>
            </a:pathLst>
          </a:custGeom>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zh-CN" altLang="en-US" sz="1600"/>
          </a:p>
        </p:txBody>
      </p:sp>
      <p:sp>
        <p:nvSpPr>
          <p:cNvPr id="14" name="文本框 13">
            <a:extLst>
              <a:ext uri="{FF2B5EF4-FFF2-40B4-BE49-F238E27FC236}">
                <a16:creationId xmlns:a16="http://schemas.microsoft.com/office/drawing/2014/main" id="{473AEBB9-C11C-704B-628B-A5CE47250016}"/>
              </a:ext>
            </a:extLst>
          </p:cNvPr>
          <p:cNvSpPr txBox="1"/>
          <p:nvPr/>
        </p:nvSpPr>
        <p:spPr>
          <a:xfrm>
            <a:off x="281981" y="79754"/>
            <a:ext cx="9335355" cy="523220"/>
          </a:xfrm>
          <a:prstGeom prst="rect">
            <a:avLst/>
          </a:prstGeom>
          <a:noFill/>
        </p:spPr>
        <p:txBody>
          <a:bodyPr wrap="square" rtlCol="0">
            <a:spAutoFit/>
          </a:bodyPr>
          <a:lstStyle>
            <a:defPPr>
              <a:defRPr lang="zh-CN"/>
            </a:defPPr>
            <a:lvl1pPr algn="ctr">
              <a:defRPr kumimoji="1" sz="4400" b="1" spc="300">
                <a:solidFill>
                  <a:schemeClr val="bg1"/>
                </a:solidFill>
                <a:latin typeface="微软雅黑" panose="020B0503020204020204" pitchFamily="34" charset="-122"/>
                <a:ea typeface="微软雅黑" panose="020B0503020204020204" pitchFamily="34" charset="-122"/>
              </a:defRPr>
            </a:lvl1pPr>
          </a:lstStyle>
          <a:p>
            <a:pPr algn="l"/>
            <a:r>
              <a:rPr lang="en-US" altLang="zh-CN" sz="1400" dirty="0"/>
              <a:t>Predictive Authority Control: Learning When and How Much to Trust Baseline Controllers for Robust Underwater Robot Tracking</a:t>
            </a:r>
            <a:endParaRPr lang="zh-CN" altLang="en-US" sz="1400" dirty="0"/>
          </a:p>
        </p:txBody>
      </p:sp>
      <p:pic>
        <p:nvPicPr>
          <p:cNvPr id="2" name="图片 1">
            <a:extLst>
              <a:ext uri="{FF2B5EF4-FFF2-40B4-BE49-F238E27FC236}">
                <a16:creationId xmlns:a16="http://schemas.microsoft.com/office/drawing/2014/main" id="{5663262A-C245-24C5-162A-899C0D1A7CA9}"/>
              </a:ext>
            </a:extLst>
          </p:cNvPr>
          <p:cNvPicPr>
            <a:picLocks noChangeAspect="1"/>
          </p:cNvPicPr>
          <p:nvPr/>
        </p:nvPicPr>
        <p:blipFill>
          <a:blip r:embed="rId2"/>
          <a:stretch>
            <a:fillRect/>
          </a:stretch>
        </p:blipFill>
        <p:spPr>
          <a:xfrm>
            <a:off x="10121441" y="54734"/>
            <a:ext cx="1773578" cy="553478"/>
          </a:xfrm>
          <a:prstGeom prst="rect">
            <a:avLst/>
          </a:prstGeom>
        </p:spPr>
      </p:pic>
      <p:sp>
        <p:nvSpPr>
          <p:cNvPr id="20" name="文本框 19">
            <a:extLst>
              <a:ext uri="{FF2B5EF4-FFF2-40B4-BE49-F238E27FC236}">
                <a16:creationId xmlns:a16="http://schemas.microsoft.com/office/drawing/2014/main" id="{CF43D236-915B-500F-F1B7-A50422C95CB0}"/>
              </a:ext>
            </a:extLst>
          </p:cNvPr>
          <p:cNvSpPr txBox="1"/>
          <p:nvPr/>
        </p:nvSpPr>
        <p:spPr>
          <a:xfrm>
            <a:off x="0" y="738435"/>
            <a:ext cx="12501349" cy="338554"/>
          </a:xfrm>
          <a:prstGeom prst="rect">
            <a:avLst/>
          </a:prstGeom>
          <a:noFill/>
        </p:spPr>
        <p:txBody>
          <a:bodyPr wrap="square" rtlCol="0">
            <a:spAutoFit/>
          </a:bodyPr>
          <a:lstStyle/>
          <a:p>
            <a:pPr marL="342900" indent="-342900">
              <a:buSzPct val="85000"/>
              <a:buFont typeface="Wingdings" panose="05000000000000000000" pitchFamily="2" charset="2"/>
              <a:buChar char="n"/>
            </a:pPr>
            <a:r>
              <a:rPr kumimoji="1" lang="en-US" altLang="zh-CN" sz="1600" b="1" spc="300" dirty="0">
                <a:solidFill>
                  <a:schemeClr val="accent1"/>
                </a:solidFill>
                <a:latin typeface="微软雅黑" panose="020B0503020204020204" pitchFamily="34" charset="-122"/>
                <a:ea typeface="微软雅黑" panose="020B0503020204020204" pitchFamily="34" charset="-122"/>
              </a:rPr>
              <a:t>PAC</a:t>
            </a:r>
            <a:r>
              <a:rPr kumimoji="1" lang="zh-CN" altLang="en-US" sz="1600" b="1" spc="300" dirty="0">
                <a:solidFill>
                  <a:schemeClr val="accent1"/>
                </a:solidFill>
                <a:latin typeface="微软雅黑" panose="020B0503020204020204" pitchFamily="34" charset="-122"/>
                <a:ea typeface="微软雅黑" panose="020B0503020204020204" pitchFamily="34" charset="-122"/>
              </a:rPr>
              <a:t>：面向水下机器人鲁棒跟踪的基线控制器时序信任权重学习</a:t>
            </a:r>
          </a:p>
        </p:txBody>
      </p:sp>
      <p:cxnSp>
        <p:nvCxnSpPr>
          <p:cNvPr id="21" name="直线连接符 12">
            <a:extLst>
              <a:ext uri="{FF2B5EF4-FFF2-40B4-BE49-F238E27FC236}">
                <a16:creationId xmlns:a16="http://schemas.microsoft.com/office/drawing/2014/main" id="{1F0D2FAA-1E03-8BAD-5520-9DA5B0F66D77}"/>
              </a:ext>
            </a:extLst>
          </p:cNvPr>
          <p:cNvCxnSpPr/>
          <p:nvPr/>
        </p:nvCxnSpPr>
        <p:spPr>
          <a:xfrm>
            <a:off x="908" y="1167007"/>
            <a:ext cx="10978564" cy="0"/>
          </a:xfrm>
          <a:prstGeom prst="line">
            <a:avLst/>
          </a:prstGeom>
        </p:spPr>
        <p:style>
          <a:lnRef idx="1">
            <a:schemeClr val="accent1"/>
          </a:lnRef>
          <a:fillRef idx="0">
            <a:schemeClr val="accent1"/>
          </a:fillRef>
          <a:effectRef idx="0">
            <a:schemeClr val="accent1"/>
          </a:effectRef>
          <a:fontRef idx="minor">
            <a:schemeClr val="tx1"/>
          </a:fontRef>
        </p:style>
      </p:cxnSp>
      <p:sp>
        <p:nvSpPr>
          <p:cNvPr id="22" name="TextBox 21"/>
          <p:cNvSpPr txBox="1"/>
          <p:nvPr/>
        </p:nvSpPr>
        <p:spPr>
          <a:xfrm>
            <a:off x="-55902" y="1280160"/>
            <a:ext cx="12161520" cy="385234"/>
          </a:xfrm>
          <a:prstGeom prst="rect">
            <a:avLst/>
          </a:prstGeom>
          <a:noFill/>
        </p:spPr>
        <p:txBody>
          <a:bodyPr wrap="square">
            <a:spAutoFit/>
          </a:bodyPr>
          <a:lstStyle/>
          <a:p>
            <a:pPr>
              <a:lnSpc>
                <a:spcPct val="112000"/>
              </a:lnSpc>
              <a:spcAft>
                <a:spcPts val="200"/>
              </a:spcAft>
            </a:pPr>
            <a:r>
              <a:rPr sz="1800" b="1" dirty="0" err="1">
                <a:solidFill>
                  <a:srgbClr val="514D83"/>
                </a:solidFill>
                <a:latin typeface="微软雅黑"/>
              </a:rPr>
              <a:t>网络架构：Transformer</a:t>
            </a:r>
            <a:r>
              <a:rPr lang="en-US" sz="1800" b="1" dirty="0" err="1">
                <a:solidFill>
                  <a:srgbClr val="514D83"/>
                </a:solidFill>
                <a:latin typeface="微软雅黑"/>
              </a:rPr>
              <a:t>+</a:t>
            </a:r>
            <a:r>
              <a:rPr lang="en-US" altLang="zh-CN" sz="1800" b="1" dirty="0" err="1">
                <a:solidFill>
                  <a:srgbClr val="514D83"/>
                </a:solidFill>
                <a:latin typeface="微软雅黑"/>
              </a:rPr>
              <a:t>RL</a:t>
            </a:r>
            <a:r>
              <a:rPr lang="zh-CN" altLang="en-US" sz="1800" b="1" dirty="0">
                <a:solidFill>
                  <a:srgbClr val="514D83"/>
                </a:solidFill>
                <a:latin typeface="微软雅黑"/>
              </a:rPr>
              <a:t>残差头</a:t>
            </a:r>
            <a:endParaRPr sz="1800" b="1" dirty="0">
              <a:solidFill>
                <a:srgbClr val="514D83"/>
              </a:solidFill>
              <a:latin typeface="微软雅黑"/>
            </a:endParaRPr>
          </a:p>
        </p:txBody>
      </p:sp>
      <p:graphicFrame>
        <p:nvGraphicFramePr>
          <p:cNvPr id="24" name="Table 23"/>
          <p:cNvGraphicFramePr>
            <a:graphicFrameLocks noGrp="1"/>
          </p:cNvGraphicFramePr>
          <p:nvPr>
            <p:extLst>
              <p:ext uri="{D42A27DB-BD31-4B8C-83A1-F6EECF244321}">
                <p14:modId xmlns:p14="http://schemas.microsoft.com/office/powerpoint/2010/main" val="1638510688"/>
              </p:ext>
            </p:extLst>
          </p:nvPr>
        </p:nvGraphicFramePr>
        <p:xfrm>
          <a:off x="7139781" y="1327192"/>
          <a:ext cx="4453966" cy="3169920"/>
        </p:xfrm>
        <a:graphic>
          <a:graphicData uri="http://schemas.openxmlformats.org/drawingml/2006/table">
            <a:tbl>
              <a:tblPr firstRow="1" bandRow="1">
                <a:tableStyleId>{5C22544A-7EE6-4342-B048-85BDC9FD1C3A}</a:tableStyleId>
              </a:tblPr>
              <a:tblGrid>
                <a:gridCol w="1444529">
                  <a:extLst>
                    <a:ext uri="{9D8B030D-6E8A-4147-A177-3AD203B41FA5}">
                      <a16:colId xmlns:a16="http://schemas.microsoft.com/office/drawing/2014/main" val="20000"/>
                    </a:ext>
                  </a:extLst>
                </a:gridCol>
                <a:gridCol w="601888">
                  <a:extLst>
                    <a:ext uri="{9D8B030D-6E8A-4147-A177-3AD203B41FA5}">
                      <a16:colId xmlns:a16="http://schemas.microsoft.com/office/drawing/2014/main" val="20001"/>
                    </a:ext>
                  </a:extLst>
                </a:gridCol>
                <a:gridCol w="2407549">
                  <a:extLst>
                    <a:ext uri="{9D8B030D-6E8A-4147-A177-3AD203B41FA5}">
                      <a16:colId xmlns:a16="http://schemas.microsoft.com/office/drawing/2014/main" val="20002"/>
                    </a:ext>
                  </a:extLst>
                </a:gridCol>
              </a:tblGrid>
              <a:tr h="142681">
                <a:tc>
                  <a:txBody>
                    <a:bodyPr/>
                    <a:lstStyle/>
                    <a:p>
                      <a:r>
                        <a:rPr sz="1000" b="1">
                          <a:latin typeface="微软雅黑"/>
                        </a:rPr>
                        <a:t>特征组（变量名）</a:t>
                      </a:r>
                    </a:p>
                  </a:txBody>
                  <a:tcPr/>
                </a:tc>
                <a:tc>
                  <a:txBody>
                    <a:bodyPr/>
                    <a:lstStyle/>
                    <a:p>
                      <a:r>
                        <a:rPr sz="900" b="1">
                          <a:solidFill>
                            <a:srgbClr val="26262E"/>
                          </a:solidFill>
                          <a:latin typeface="微软雅黑"/>
                        </a:rPr>
                        <a:t>维数</a:t>
                      </a:r>
                    </a:p>
                  </a:txBody>
                  <a:tcPr/>
                </a:tc>
                <a:tc>
                  <a:txBody>
                    <a:bodyPr/>
                    <a:lstStyle/>
                    <a:p>
                      <a:r>
                        <a:rPr sz="900" b="1">
                          <a:solidFill>
                            <a:srgbClr val="26262E"/>
                          </a:solidFill>
                          <a:latin typeface="微软雅黑"/>
                        </a:rPr>
                        <a:t>测量什么</a:t>
                      </a:r>
                    </a:p>
                  </a:txBody>
                  <a:tcPr/>
                </a:tc>
                <a:extLst>
                  <a:ext uri="{0D108BD9-81ED-4DB2-BD59-A6C34878D82A}">
                    <a16:rowId xmlns:a16="http://schemas.microsoft.com/office/drawing/2014/main" val="10000"/>
                  </a:ext>
                </a:extLst>
              </a:tr>
              <a:tr h="220815">
                <a:tc>
                  <a:txBody>
                    <a:bodyPr/>
                    <a:lstStyle/>
                    <a:p>
                      <a:r>
                        <a:rPr sz="1000" b="0">
                          <a:latin typeface="微软雅黑"/>
                        </a:rPr>
                        <a:t>位置误差 e_pos</a:t>
                      </a:r>
                    </a:p>
                    <a:p>
                      <a:r>
                        <a:rPr sz="1000" b="0">
                          <a:latin typeface="微软雅黑"/>
                        </a:rPr>
                        <a:t>(3D x/y/z + 范数)</a:t>
                      </a:r>
                    </a:p>
                  </a:txBody>
                  <a:tcPr/>
                </a:tc>
                <a:tc>
                  <a:txBody>
                    <a:bodyPr/>
                    <a:lstStyle/>
                    <a:p>
                      <a:r>
                        <a:rPr sz="900" b="0">
                          <a:solidFill>
                            <a:srgbClr val="26262E"/>
                          </a:solidFill>
                          <a:latin typeface="微软雅黑"/>
                        </a:rPr>
                        <a:t>3+1</a:t>
                      </a:r>
                    </a:p>
                  </a:txBody>
                  <a:tcPr/>
                </a:tc>
                <a:tc>
                  <a:txBody>
                    <a:bodyPr/>
                    <a:lstStyle/>
                    <a:p>
                      <a:r>
                        <a:rPr sz="900" b="0">
                          <a:solidFill>
                            <a:srgbClr val="26262E"/>
                          </a:solidFill>
                          <a:latin typeface="微软雅黑"/>
                        </a:rPr>
                        <a:t>x/y/z 偏离目标多远</a:t>
                      </a:r>
                    </a:p>
                    <a:p>
                      <a:r>
                        <a:rPr sz="900" b="0">
                          <a:solidFill>
                            <a:srgbClr val="26262E"/>
                          </a:solidFill>
                          <a:latin typeface="微软雅黑"/>
                        </a:rPr>
                        <a:t>+ 总偏差距离</a:t>
                      </a:r>
                    </a:p>
                  </a:txBody>
                  <a:tcPr/>
                </a:tc>
                <a:extLst>
                  <a:ext uri="{0D108BD9-81ED-4DB2-BD59-A6C34878D82A}">
                    <a16:rowId xmlns:a16="http://schemas.microsoft.com/office/drawing/2014/main" val="10001"/>
                  </a:ext>
                </a:extLst>
              </a:tr>
              <a:tr h="220815">
                <a:tc>
                  <a:txBody>
                    <a:bodyPr/>
                    <a:lstStyle/>
                    <a:p>
                      <a:r>
                        <a:rPr sz="1000" b="0">
                          <a:latin typeface="微软雅黑"/>
                        </a:rPr>
                        <a:t>体速度 ν</a:t>
                      </a:r>
                    </a:p>
                    <a:p>
                      <a:r>
                        <a:rPr sz="1000" b="0">
                          <a:latin typeface="微软雅黑"/>
                        </a:rPr>
                        <a:t>(3D u/v/w + 范数)</a:t>
                      </a:r>
                    </a:p>
                  </a:txBody>
                  <a:tcPr/>
                </a:tc>
                <a:tc>
                  <a:txBody>
                    <a:bodyPr/>
                    <a:lstStyle/>
                    <a:p>
                      <a:r>
                        <a:rPr sz="900" b="0">
                          <a:solidFill>
                            <a:srgbClr val="26262E"/>
                          </a:solidFill>
                          <a:latin typeface="微软雅黑"/>
                        </a:rPr>
                        <a:t>3+1</a:t>
                      </a:r>
                    </a:p>
                  </a:txBody>
                  <a:tcPr/>
                </a:tc>
                <a:tc>
                  <a:txBody>
                    <a:bodyPr/>
                    <a:lstStyle/>
                    <a:p>
                      <a:r>
                        <a:rPr sz="900" b="0">
                          <a:solidFill>
                            <a:srgbClr val="26262E"/>
                          </a:solidFill>
                          <a:latin typeface="微软雅黑"/>
                        </a:rPr>
                        <a:t>当前前进/横移/升降速度</a:t>
                      </a:r>
                    </a:p>
                    <a:p>
                      <a:r>
                        <a:rPr sz="900" b="0">
                          <a:solidFill>
                            <a:srgbClr val="26262E"/>
                          </a:solidFill>
                          <a:latin typeface="微软雅黑"/>
                        </a:rPr>
                        <a:t>+ 总速度</a:t>
                      </a:r>
                    </a:p>
                  </a:txBody>
                  <a:tcPr/>
                </a:tc>
                <a:extLst>
                  <a:ext uri="{0D108BD9-81ED-4DB2-BD59-A6C34878D82A}">
                    <a16:rowId xmlns:a16="http://schemas.microsoft.com/office/drawing/2014/main" val="10002"/>
                  </a:ext>
                </a:extLst>
              </a:tr>
              <a:tr h="220815">
                <a:tc>
                  <a:txBody>
                    <a:bodyPr/>
                    <a:lstStyle/>
                    <a:p>
                      <a:r>
                        <a:rPr sz="1000" b="0">
                          <a:latin typeface="微软雅黑"/>
                        </a:rPr>
                        <a:t>SMC 指令 u_SMC</a:t>
                      </a:r>
                    </a:p>
                    <a:p>
                      <a:r>
                        <a:rPr sz="1000" b="0">
                          <a:latin typeface="微软雅黑"/>
                        </a:rPr>
                        <a:t>(3D推杆+范数+最大)</a:t>
                      </a:r>
                    </a:p>
                  </a:txBody>
                  <a:tcPr/>
                </a:tc>
                <a:tc>
                  <a:txBody>
                    <a:bodyPr/>
                    <a:lstStyle/>
                    <a:p>
                      <a:r>
                        <a:rPr sz="900" b="0" dirty="0">
                          <a:solidFill>
                            <a:srgbClr val="26262E"/>
                          </a:solidFill>
                          <a:latin typeface="微软雅黑"/>
                        </a:rPr>
                        <a:t>3+2</a:t>
                      </a:r>
                    </a:p>
                  </a:txBody>
                  <a:tcPr/>
                </a:tc>
                <a:tc>
                  <a:txBody>
                    <a:bodyPr/>
                    <a:lstStyle/>
                    <a:p>
                      <a:r>
                        <a:rPr sz="900" b="0" dirty="0">
                          <a:solidFill>
                            <a:srgbClr val="26262E"/>
                          </a:solidFill>
                          <a:latin typeface="微软雅黑"/>
                        </a:rPr>
                        <a:t>SMC </a:t>
                      </a:r>
                      <a:r>
                        <a:rPr sz="900" b="0" dirty="0" err="1">
                          <a:solidFill>
                            <a:srgbClr val="26262E"/>
                          </a:solidFill>
                          <a:latin typeface="微软雅黑"/>
                        </a:rPr>
                        <a:t>建议的前</a:t>
                      </a:r>
                      <a:r>
                        <a:rPr sz="900" b="0" dirty="0">
                          <a:solidFill>
                            <a:srgbClr val="26262E"/>
                          </a:solidFill>
                          <a:latin typeface="微软雅黑"/>
                        </a:rPr>
                        <a:t> 3 </a:t>
                      </a:r>
                      <a:r>
                        <a:rPr sz="900" b="0" dirty="0" err="1">
                          <a:solidFill>
                            <a:srgbClr val="26262E"/>
                          </a:solidFill>
                          <a:latin typeface="微软雅黑"/>
                        </a:rPr>
                        <a:t>个推杆值</a:t>
                      </a:r>
                      <a:endParaRPr sz="900" b="0" dirty="0">
                        <a:solidFill>
                          <a:srgbClr val="26262E"/>
                        </a:solidFill>
                        <a:latin typeface="微软雅黑"/>
                      </a:endParaRPr>
                    </a:p>
                    <a:p>
                      <a:r>
                        <a:rPr sz="900" b="0" dirty="0">
                          <a:solidFill>
                            <a:srgbClr val="26262E"/>
                          </a:solidFill>
                          <a:latin typeface="微软雅黑"/>
                        </a:rPr>
                        <a:t>+ </a:t>
                      </a:r>
                      <a:r>
                        <a:rPr sz="900" b="0" dirty="0" err="1">
                          <a:solidFill>
                            <a:srgbClr val="26262E"/>
                          </a:solidFill>
                          <a:latin typeface="微软雅黑"/>
                        </a:rPr>
                        <a:t>总力度</a:t>
                      </a:r>
                      <a:r>
                        <a:rPr sz="900" b="0" dirty="0">
                          <a:solidFill>
                            <a:srgbClr val="26262E"/>
                          </a:solidFill>
                          <a:latin typeface="微软雅黑"/>
                        </a:rPr>
                        <a:t> + </a:t>
                      </a:r>
                      <a:r>
                        <a:rPr sz="900" b="0" dirty="0" err="1">
                          <a:solidFill>
                            <a:srgbClr val="26262E"/>
                          </a:solidFill>
                          <a:latin typeface="微软雅黑"/>
                        </a:rPr>
                        <a:t>最大分量</a:t>
                      </a:r>
                      <a:endParaRPr sz="900" b="0" dirty="0">
                        <a:solidFill>
                          <a:srgbClr val="26262E"/>
                        </a:solidFill>
                        <a:latin typeface="微软雅黑"/>
                      </a:endParaRPr>
                    </a:p>
                  </a:txBody>
                  <a:tcPr/>
                </a:tc>
                <a:extLst>
                  <a:ext uri="{0D108BD9-81ED-4DB2-BD59-A6C34878D82A}">
                    <a16:rowId xmlns:a16="http://schemas.microsoft.com/office/drawing/2014/main" val="10003"/>
                  </a:ext>
                </a:extLst>
              </a:tr>
              <a:tr h="220815">
                <a:tc>
                  <a:txBody>
                    <a:bodyPr/>
                    <a:lstStyle/>
                    <a:p>
                      <a:r>
                        <a:rPr sz="1000" b="0">
                          <a:latin typeface="微软雅黑"/>
                        </a:rPr>
                        <a:t>SMC 饱和率 ρ_sat</a:t>
                      </a:r>
                    </a:p>
                    <a:p>
                      <a:r>
                        <a:rPr sz="1000" b="0">
                          <a:latin typeface="微软雅黑"/>
                        </a:rPr>
                        <a:t>(1 维)</a:t>
                      </a:r>
                    </a:p>
                  </a:txBody>
                  <a:tcPr/>
                </a:tc>
                <a:tc>
                  <a:txBody>
                    <a:bodyPr/>
                    <a:lstStyle/>
                    <a:p>
                      <a:r>
                        <a:rPr sz="900" b="0">
                          <a:solidFill>
                            <a:srgbClr val="26262E"/>
                          </a:solidFill>
                          <a:latin typeface="微软雅黑"/>
                        </a:rPr>
                        <a:t>1</a:t>
                      </a:r>
                    </a:p>
                  </a:txBody>
                  <a:tcPr/>
                </a:tc>
                <a:tc>
                  <a:txBody>
                    <a:bodyPr/>
                    <a:lstStyle/>
                    <a:p>
                      <a:r>
                        <a:rPr sz="900" b="0" dirty="0">
                          <a:solidFill>
                            <a:srgbClr val="26262E"/>
                          </a:solidFill>
                          <a:latin typeface="微软雅黑"/>
                        </a:rPr>
                        <a:t>SMC </a:t>
                      </a:r>
                      <a:r>
                        <a:rPr sz="900" b="0" dirty="0" err="1">
                          <a:solidFill>
                            <a:srgbClr val="26262E"/>
                          </a:solidFill>
                          <a:latin typeface="微软雅黑"/>
                        </a:rPr>
                        <a:t>指令接近满功率的比例</a:t>
                      </a:r>
                      <a:endParaRPr sz="900" b="0" dirty="0">
                        <a:solidFill>
                          <a:srgbClr val="26262E"/>
                        </a:solidFill>
                        <a:latin typeface="微软雅黑"/>
                      </a:endParaRPr>
                    </a:p>
                  </a:txBody>
                  <a:tcPr/>
                </a:tc>
                <a:extLst>
                  <a:ext uri="{0D108BD9-81ED-4DB2-BD59-A6C34878D82A}">
                    <a16:rowId xmlns:a16="http://schemas.microsoft.com/office/drawing/2014/main" val="10004"/>
                  </a:ext>
                </a:extLst>
              </a:tr>
              <a:tr h="220815">
                <a:tc>
                  <a:txBody>
                    <a:bodyPr/>
                    <a:lstStyle/>
                    <a:p>
                      <a:r>
                        <a:rPr sz="1000" b="0">
                          <a:latin typeface="微软雅黑"/>
                        </a:rPr>
                        <a:t>MPC 指令 u_MPC</a:t>
                      </a:r>
                    </a:p>
                    <a:p>
                      <a:r>
                        <a:rPr sz="1000" b="0">
                          <a:latin typeface="微软雅黑"/>
                        </a:rPr>
                        <a:t>(3D推杆+分歧Δu+最大)</a:t>
                      </a:r>
                    </a:p>
                  </a:txBody>
                  <a:tcPr/>
                </a:tc>
                <a:tc>
                  <a:txBody>
                    <a:bodyPr/>
                    <a:lstStyle/>
                    <a:p>
                      <a:r>
                        <a:rPr sz="900" b="0">
                          <a:solidFill>
                            <a:srgbClr val="26262E"/>
                          </a:solidFill>
                          <a:latin typeface="微软雅黑"/>
                        </a:rPr>
                        <a:t>3+2</a:t>
                      </a:r>
                    </a:p>
                  </a:txBody>
                  <a:tcPr/>
                </a:tc>
                <a:tc>
                  <a:txBody>
                    <a:bodyPr/>
                    <a:lstStyle/>
                    <a:p>
                      <a:r>
                        <a:rPr sz="900" b="0" dirty="0">
                          <a:solidFill>
                            <a:srgbClr val="26262E"/>
                          </a:solidFill>
                          <a:latin typeface="微软雅黑"/>
                        </a:rPr>
                        <a:t>MPC </a:t>
                      </a:r>
                      <a:r>
                        <a:rPr sz="900" b="0" dirty="0" err="1">
                          <a:solidFill>
                            <a:srgbClr val="26262E"/>
                          </a:solidFill>
                          <a:latin typeface="微软雅黑"/>
                        </a:rPr>
                        <a:t>建议的前</a:t>
                      </a:r>
                      <a:r>
                        <a:rPr sz="900" b="0" dirty="0">
                          <a:solidFill>
                            <a:srgbClr val="26262E"/>
                          </a:solidFill>
                          <a:latin typeface="微软雅黑"/>
                        </a:rPr>
                        <a:t> 3 </a:t>
                      </a:r>
                      <a:r>
                        <a:rPr sz="900" b="0" dirty="0" err="1">
                          <a:solidFill>
                            <a:srgbClr val="26262E"/>
                          </a:solidFill>
                          <a:latin typeface="微软雅黑"/>
                        </a:rPr>
                        <a:t>个推杆值</a:t>
                      </a:r>
                      <a:endParaRPr sz="900" b="0" dirty="0">
                        <a:solidFill>
                          <a:srgbClr val="26262E"/>
                        </a:solidFill>
                        <a:latin typeface="微软雅黑"/>
                      </a:endParaRPr>
                    </a:p>
                    <a:p>
                      <a:r>
                        <a:rPr sz="900" b="0" dirty="0">
                          <a:solidFill>
                            <a:srgbClr val="26262E"/>
                          </a:solidFill>
                          <a:latin typeface="微软雅黑"/>
                        </a:rPr>
                        <a:t>+ 与 SMC </a:t>
                      </a:r>
                      <a:r>
                        <a:rPr sz="900" b="0" dirty="0" err="1">
                          <a:solidFill>
                            <a:srgbClr val="26262E"/>
                          </a:solidFill>
                          <a:latin typeface="微软雅黑"/>
                        </a:rPr>
                        <a:t>的分歧度</a:t>
                      </a:r>
                      <a:r>
                        <a:rPr sz="900" b="0" dirty="0">
                          <a:solidFill>
                            <a:srgbClr val="26262E"/>
                          </a:solidFill>
                          <a:latin typeface="微软雅黑"/>
                        </a:rPr>
                        <a:t> + </a:t>
                      </a:r>
                      <a:r>
                        <a:rPr sz="900" b="0" dirty="0" err="1">
                          <a:solidFill>
                            <a:srgbClr val="26262E"/>
                          </a:solidFill>
                          <a:latin typeface="微软雅黑"/>
                        </a:rPr>
                        <a:t>最大分量</a:t>
                      </a:r>
                      <a:endParaRPr sz="900" b="0" dirty="0">
                        <a:solidFill>
                          <a:srgbClr val="26262E"/>
                        </a:solidFill>
                        <a:latin typeface="微软雅黑"/>
                      </a:endParaRPr>
                    </a:p>
                  </a:txBody>
                  <a:tcPr/>
                </a:tc>
                <a:extLst>
                  <a:ext uri="{0D108BD9-81ED-4DB2-BD59-A6C34878D82A}">
                    <a16:rowId xmlns:a16="http://schemas.microsoft.com/office/drawing/2014/main" val="10005"/>
                  </a:ext>
                </a:extLst>
              </a:tr>
              <a:tr h="220815">
                <a:tc>
                  <a:txBody>
                    <a:bodyPr/>
                    <a:lstStyle/>
                    <a:p>
                      <a:r>
                        <a:rPr sz="1000" b="0">
                          <a:latin typeface="微软雅黑"/>
                        </a:rPr>
                        <a:t>海流估计 v_cur</a:t>
                      </a:r>
                    </a:p>
                    <a:p>
                      <a:r>
                        <a:rPr sz="1000" b="0">
                          <a:latin typeface="微软雅黑"/>
                        </a:rPr>
                        <a:t>(2D x/y)</a:t>
                      </a:r>
                    </a:p>
                  </a:txBody>
                  <a:tcPr/>
                </a:tc>
                <a:tc>
                  <a:txBody>
                    <a:bodyPr/>
                    <a:lstStyle/>
                    <a:p>
                      <a:r>
                        <a:rPr sz="900" b="0">
                          <a:solidFill>
                            <a:srgbClr val="26262E"/>
                          </a:solidFill>
                          <a:latin typeface="微软雅黑"/>
                        </a:rPr>
                        <a:t>2</a:t>
                      </a:r>
                    </a:p>
                  </a:txBody>
                  <a:tcPr/>
                </a:tc>
                <a:tc>
                  <a:txBody>
                    <a:bodyPr/>
                    <a:lstStyle/>
                    <a:p>
                      <a:r>
                        <a:rPr sz="900" b="0">
                          <a:solidFill>
                            <a:srgbClr val="26262E"/>
                          </a:solidFill>
                          <a:latin typeface="微软雅黑"/>
                        </a:rPr>
                        <a:t>水平方向海流的 x/y 分量</a:t>
                      </a:r>
                    </a:p>
                  </a:txBody>
                  <a:tcPr/>
                </a:tc>
                <a:extLst>
                  <a:ext uri="{0D108BD9-81ED-4DB2-BD59-A6C34878D82A}">
                    <a16:rowId xmlns:a16="http://schemas.microsoft.com/office/drawing/2014/main" val="10006"/>
                  </a:ext>
                </a:extLst>
              </a:tr>
              <a:tr h="220815">
                <a:tc>
                  <a:txBody>
                    <a:bodyPr/>
                    <a:lstStyle/>
                    <a:p>
                      <a:r>
                        <a:rPr sz="1000" b="0">
                          <a:latin typeface="微软雅黑"/>
                        </a:rPr>
                        <a:t>轨迹相位 φ(t)</a:t>
                      </a:r>
                    </a:p>
                    <a:p>
                      <a:r>
                        <a:rPr sz="1000" b="0">
                          <a:latin typeface="微软雅黑"/>
                        </a:rPr>
                        <a:t>(进度+sin+cos)</a:t>
                      </a:r>
                    </a:p>
                  </a:txBody>
                  <a:tcPr/>
                </a:tc>
                <a:tc>
                  <a:txBody>
                    <a:bodyPr/>
                    <a:lstStyle/>
                    <a:p>
                      <a:r>
                        <a:rPr sz="900" b="0">
                          <a:solidFill>
                            <a:srgbClr val="26262E"/>
                          </a:solidFill>
                          <a:latin typeface="微软雅黑"/>
                        </a:rPr>
                        <a:t>3</a:t>
                      </a:r>
                    </a:p>
                  </a:txBody>
                  <a:tcPr/>
                </a:tc>
                <a:tc>
                  <a:txBody>
                    <a:bodyPr/>
                    <a:lstStyle/>
                    <a:p>
                      <a:r>
                        <a:rPr sz="900" b="0" dirty="0" err="1">
                          <a:solidFill>
                            <a:srgbClr val="26262E"/>
                          </a:solidFill>
                          <a:latin typeface="微软雅黑"/>
                        </a:rPr>
                        <a:t>当前在任务的时间进度</a:t>
                      </a:r>
                      <a:endParaRPr sz="900" b="0" dirty="0">
                        <a:solidFill>
                          <a:srgbClr val="26262E"/>
                        </a:solidFill>
                        <a:latin typeface="微软雅黑"/>
                      </a:endParaRPr>
                    </a:p>
                    <a:p>
                      <a:r>
                        <a:rPr sz="900" b="0" dirty="0">
                          <a:solidFill>
                            <a:srgbClr val="26262E"/>
                          </a:solidFill>
                          <a:latin typeface="微软雅黑"/>
                        </a:rPr>
                        <a:t>+ sin/cos </a:t>
                      </a:r>
                      <a:r>
                        <a:rPr sz="900" b="0" dirty="0" err="1">
                          <a:solidFill>
                            <a:srgbClr val="26262E"/>
                          </a:solidFill>
                          <a:latin typeface="微软雅黑"/>
                        </a:rPr>
                        <a:t>编码</a:t>
                      </a:r>
                      <a:endParaRPr sz="900" b="0" dirty="0">
                        <a:solidFill>
                          <a:srgbClr val="26262E"/>
                        </a:solidFill>
                        <a:latin typeface="微软雅黑"/>
                      </a:endParaRPr>
                    </a:p>
                  </a:txBody>
                  <a:tcPr/>
                </a:tc>
                <a:extLst>
                  <a:ext uri="{0D108BD9-81ED-4DB2-BD59-A6C34878D82A}">
                    <a16:rowId xmlns:a16="http://schemas.microsoft.com/office/drawing/2014/main" val="10007"/>
                  </a:ext>
                </a:extLst>
              </a:tr>
            </a:tbl>
          </a:graphicData>
        </a:graphic>
      </p:graphicFrame>
      <p:sp>
        <p:nvSpPr>
          <p:cNvPr id="26" name="TextBox 25"/>
          <p:cNvSpPr txBox="1"/>
          <p:nvPr/>
        </p:nvSpPr>
        <p:spPr>
          <a:xfrm>
            <a:off x="7017459" y="4679519"/>
            <a:ext cx="7248059" cy="2178481"/>
          </a:xfrm>
          <a:prstGeom prst="rect">
            <a:avLst/>
          </a:prstGeom>
          <a:noFill/>
        </p:spPr>
        <p:txBody>
          <a:bodyPr wrap="square">
            <a:spAutoFit/>
          </a:bodyPr>
          <a:lstStyle/>
          <a:p>
            <a:pPr>
              <a:lnSpc>
                <a:spcPct val="112000"/>
              </a:lnSpc>
              <a:spcAft>
                <a:spcPts val="200"/>
              </a:spcAft>
            </a:pPr>
            <a:r>
              <a:rPr sz="1300" b="1" dirty="0" err="1">
                <a:solidFill>
                  <a:srgbClr val="E8730C"/>
                </a:solidFill>
                <a:latin typeface="微软雅黑"/>
              </a:rPr>
              <a:t>编码过程</a:t>
            </a:r>
            <a:endParaRPr sz="1300" b="1" dirty="0">
              <a:solidFill>
                <a:srgbClr val="E8730C"/>
              </a:solidFill>
              <a:latin typeface="微软雅黑"/>
            </a:endParaRPr>
          </a:p>
          <a:p>
            <a:pPr>
              <a:lnSpc>
                <a:spcPct val="112000"/>
              </a:lnSpc>
              <a:spcAft>
                <a:spcPts val="200"/>
              </a:spcAft>
            </a:pPr>
            <a:r>
              <a:rPr sz="1200" b="0" dirty="0">
                <a:latin typeface="微软雅黑"/>
              </a:rPr>
              <a:t>① 24 </a:t>
            </a:r>
            <a:r>
              <a:rPr sz="1200" b="0" dirty="0" err="1">
                <a:latin typeface="微软雅黑"/>
              </a:rPr>
              <a:t>维特征</a:t>
            </a:r>
            <a:r>
              <a:rPr sz="1200" b="0" dirty="0">
                <a:latin typeface="微软雅黑"/>
              </a:rPr>
              <a:t> → </a:t>
            </a:r>
            <a:r>
              <a:rPr sz="1200" b="0" dirty="0" err="1">
                <a:latin typeface="微软雅黑"/>
              </a:rPr>
              <a:t>线性投影到</a:t>
            </a:r>
            <a:r>
              <a:rPr sz="1200" b="0" dirty="0">
                <a:latin typeface="微软雅黑"/>
              </a:rPr>
              <a:t> 32 </a:t>
            </a:r>
            <a:r>
              <a:rPr sz="1200" b="0" dirty="0" err="1">
                <a:latin typeface="微软雅黑"/>
              </a:rPr>
              <a:t>维（找最有信息量的组合</a:t>
            </a:r>
            <a:r>
              <a:rPr sz="1200" b="0" dirty="0">
                <a:latin typeface="微软雅黑"/>
              </a:rPr>
              <a:t>）</a:t>
            </a:r>
          </a:p>
          <a:p>
            <a:pPr>
              <a:lnSpc>
                <a:spcPct val="112000"/>
              </a:lnSpc>
              <a:spcAft>
                <a:spcPts val="200"/>
              </a:spcAft>
            </a:pPr>
            <a:r>
              <a:rPr sz="1200" b="0" dirty="0">
                <a:latin typeface="微软雅黑"/>
              </a:rPr>
              <a:t>② </a:t>
            </a:r>
            <a:r>
              <a:rPr sz="1200" b="0" dirty="0" err="1">
                <a:latin typeface="微软雅黑"/>
              </a:rPr>
              <a:t>加位置编码（告诉模型这是第几步</a:t>
            </a:r>
            <a:r>
              <a:rPr sz="1200" b="0" dirty="0">
                <a:latin typeface="微软雅黑"/>
              </a:rPr>
              <a:t>）</a:t>
            </a:r>
          </a:p>
          <a:p>
            <a:pPr>
              <a:lnSpc>
                <a:spcPct val="112000"/>
              </a:lnSpc>
              <a:spcAft>
                <a:spcPts val="200"/>
              </a:spcAft>
            </a:pPr>
            <a:r>
              <a:rPr sz="1200" b="0" dirty="0">
                <a:latin typeface="微软雅黑"/>
              </a:rPr>
              <a:t>③ 1 层 Transformer 编码器（4 </a:t>
            </a:r>
            <a:r>
              <a:rPr sz="1200" b="0" dirty="0" err="1">
                <a:latin typeface="微软雅黑"/>
              </a:rPr>
              <a:t>头注意力</a:t>
            </a:r>
            <a:r>
              <a:rPr sz="1200" b="0" dirty="0">
                <a:latin typeface="微软雅黑"/>
              </a:rPr>
              <a:t> + 128 </a:t>
            </a:r>
            <a:r>
              <a:rPr sz="1200" b="0" dirty="0" err="1">
                <a:latin typeface="微软雅黑"/>
              </a:rPr>
              <a:t>维前馈</a:t>
            </a:r>
            <a:r>
              <a:rPr sz="1200" b="0" dirty="0">
                <a:latin typeface="微软雅黑"/>
              </a:rPr>
              <a:t>）</a:t>
            </a:r>
          </a:p>
          <a:p>
            <a:pPr>
              <a:lnSpc>
                <a:spcPct val="112000"/>
              </a:lnSpc>
              <a:spcAft>
                <a:spcPts val="200"/>
              </a:spcAft>
            </a:pPr>
            <a:r>
              <a:rPr sz="1200" b="0" dirty="0">
                <a:latin typeface="微软雅黑"/>
              </a:rPr>
              <a:t>  · </a:t>
            </a:r>
            <a:r>
              <a:rPr sz="1200" b="0" dirty="0" err="1">
                <a:latin typeface="微软雅黑"/>
              </a:rPr>
              <a:t>注意力：自动学习哪些历史时刻最相关</a:t>
            </a:r>
            <a:endParaRPr sz="1200" b="0" dirty="0">
              <a:latin typeface="微软雅黑"/>
            </a:endParaRPr>
          </a:p>
          <a:p>
            <a:pPr>
              <a:lnSpc>
                <a:spcPct val="112000"/>
              </a:lnSpc>
              <a:spcAft>
                <a:spcPts val="200"/>
              </a:spcAft>
            </a:pPr>
            <a:r>
              <a:rPr sz="1200" b="0" dirty="0">
                <a:latin typeface="微软雅黑"/>
              </a:rPr>
              <a:t>  · </a:t>
            </a:r>
            <a:r>
              <a:rPr sz="1200" b="0" dirty="0" err="1">
                <a:latin typeface="微软雅黑"/>
              </a:rPr>
              <a:t>输出：一个</a:t>
            </a:r>
            <a:r>
              <a:rPr sz="1200" b="0" dirty="0">
                <a:latin typeface="微软雅黑"/>
              </a:rPr>
              <a:t> 0~1 </a:t>
            </a:r>
            <a:r>
              <a:rPr sz="1200" b="0" dirty="0" err="1">
                <a:latin typeface="微软雅黑"/>
              </a:rPr>
              <a:t>的数</a:t>
            </a:r>
            <a:r>
              <a:rPr sz="1200" b="0" dirty="0">
                <a:latin typeface="微软雅黑"/>
              </a:rPr>
              <a:t> α̂（</a:t>
            </a:r>
            <a:r>
              <a:rPr sz="1200" b="0" dirty="0" err="1">
                <a:latin typeface="微软雅黑"/>
              </a:rPr>
              <a:t>当前该信</a:t>
            </a:r>
            <a:r>
              <a:rPr sz="1200" b="0" dirty="0">
                <a:latin typeface="微软雅黑"/>
              </a:rPr>
              <a:t> MPC </a:t>
            </a:r>
            <a:r>
              <a:rPr sz="1200" b="0" dirty="0" err="1">
                <a:latin typeface="微软雅黑"/>
              </a:rPr>
              <a:t>多少</a:t>
            </a:r>
            <a:r>
              <a:rPr sz="1200" b="0" dirty="0">
                <a:latin typeface="微软雅黑"/>
              </a:rPr>
              <a:t>）</a:t>
            </a:r>
          </a:p>
          <a:p>
            <a:pPr>
              <a:lnSpc>
                <a:spcPct val="112000"/>
              </a:lnSpc>
              <a:spcAft>
                <a:spcPts val="200"/>
              </a:spcAft>
            </a:pPr>
            <a:r>
              <a:rPr sz="1300" b="1" dirty="0" err="1">
                <a:solidFill>
                  <a:srgbClr val="3F7E72"/>
                </a:solidFill>
                <a:latin typeface="微软雅黑"/>
              </a:rPr>
              <a:t>网络规模</a:t>
            </a:r>
            <a:endParaRPr sz="1300" b="1" dirty="0">
              <a:solidFill>
                <a:srgbClr val="3F7E72"/>
              </a:solidFill>
              <a:latin typeface="微软雅黑"/>
            </a:endParaRPr>
          </a:p>
          <a:p>
            <a:pPr>
              <a:lnSpc>
                <a:spcPct val="112000"/>
              </a:lnSpc>
              <a:spcAft>
                <a:spcPts val="200"/>
              </a:spcAft>
            </a:pPr>
            <a:r>
              <a:rPr sz="1200" b="0" dirty="0" err="1">
                <a:latin typeface="微软雅黑"/>
              </a:rPr>
              <a:t>编码器</a:t>
            </a:r>
            <a:r>
              <a:rPr sz="1200" b="0" dirty="0">
                <a:latin typeface="微软雅黑"/>
              </a:rPr>
              <a:t> 14,113 </a:t>
            </a:r>
            <a:r>
              <a:rPr sz="1200" b="0" dirty="0" err="1">
                <a:latin typeface="微软雅黑"/>
              </a:rPr>
              <a:t>参数</a:t>
            </a:r>
            <a:r>
              <a:rPr sz="1200" b="0" dirty="0">
                <a:latin typeface="微软雅黑"/>
              </a:rPr>
              <a:t>（≈55 KB）· </a:t>
            </a:r>
            <a:r>
              <a:rPr sz="1200" b="0" dirty="0" err="1">
                <a:latin typeface="微软雅黑"/>
              </a:rPr>
              <a:t>推理</a:t>
            </a:r>
            <a:r>
              <a:rPr sz="1200" b="0" dirty="0">
                <a:latin typeface="微软雅黑"/>
              </a:rPr>
              <a:t> 0.23 MMACs/步</a:t>
            </a:r>
          </a:p>
          <a:p>
            <a:pPr>
              <a:lnSpc>
                <a:spcPct val="112000"/>
              </a:lnSpc>
              <a:spcAft>
                <a:spcPts val="200"/>
              </a:spcAft>
            </a:pPr>
            <a:r>
              <a:rPr sz="1200" b="0" dirty="0" err="1">
                <a:latin typeface="微软雅黑"/>
              </a:rPr>
              <a:t>残差头</a:t>
            </a:r>
            <a:r>
              <a:rPr sz="1200" b="0" dirty="0">
                <a:latin typeface="微软雅黑"/>
              </a:rPr>
              <a:t> 2,177 </a:t>
            </a:r>
            <a:r>
              <a:rPr sz="1200" b="0" dirty="0" err="1">
                <a:latin typeface="微软雅黑"/>
              </a:rPr>
              <a:t>参数</a:t>
            </a:r>
            <a:r>
              <a:rPr sz="1200" b="0" dirty="0">
                <a:latin typeface="微软雅黑"/>
              </a:rPr>
              <a:t> · </a:t>
            </a:r>
            <a:r>
              <a:rPr sz="1200" b="0" dirty="0" err="1">
                <a:latin typeface="微软雅黑"/>
              </a:rPr>
              <a:t>仅输出</a:t>
            </a:r>
            <a:r>
              <a:rPr sz="1200" b="0" dirty="0">
                <a:latin typeface="微软雅黑"/>
              </a:rPr>
              <a:t> Δα∈[−0.1,+0.1]</a:t>
            </a:r>
            <a:r>
              <a:rPr sz="1200" b="1" dirty="0">
                <a:solidFill>
                  <a:srgbClr val="3F7E72"/>
                </a:solidFill>
                <a:latin typeface="微软雅黑"/>
              </a:rPr>
              <a:t>→ </a:t>
            </a:r>
            <a:r>
              <a:rPr sz="1200" b="1" dirty="0" err="1">
                <a:solidFill>
                  <a:srgbClr val="3F7E72"/>
                </a:solidFill>
                <a:latin typeface="微软雅黑"/>
              </a:rPr>
              <a:t>边缘设备可实时运行</a:t>
            </a:r>
            <a:endParaRPr sz="1200" b="1" dirty="0">
              <a:solidFill>
                <a:srgbClr val="3F7E72"/>
              </a:solidFill>
              <a:latin typeface="微软雅黑"/>
            </a:endParaRPr>
          </a:p>
        </p:txBody>
      </p:sp>
      <p:pic>
        <p:nvPicPr>
          <p:cNvPr id="27" name="Picture 26" descr="image.png"/>
          <p:cNvPicPr>
            <a:picLocks noChangeAspect="1"/>
          </p:cNvPicPr>
          <p:nvPr/>
        </p:nvPicPr>
        <p:blipFill>
          <a:blip r:embed="rId3"/>
          <a:srcRect l="48332"/>
          <a:stretch>
            <a:fillRect/>
          </a:stretch>
        </p:blipFill>
        <p:spPr>
          <a:xfrm>
            <a:off x="1922525" y="6039795"/>
            <a:ext cx="3109732" cy="765276"/>
          </a:xfrm>
          <a:prstGeom prst="rect">
            <a:avLst/>
          </a:prstGeom>
        </p:spPr>
      </p:pic>
      <p:pic>
        <p:nvPicPr>
          <p:cNvPr id="4" name="Picture 2">
            <a:extLst>
              <a:ext uri="{FF2B5EF4-FFF2-40B4-BE49-F238E27FC236}">
                <a16:creationId xmlns:a16="http://schemas.microsoft.com/office/drawing/2014/main" id="{161F57CA-E589-AC67-AEE0-68DF07A56FF6}"/>
              </a:ext>
            </a:extLst>
          </p:cNvPr>
          <p:cNvPicPr>
            <a:picLocks noChangeAspect="1"/>
          </p:cNvPicPr>
          <p:nvPr/>
        </p:nvPicPr>
        <p:blipFill>
          <a:blip r:embed="rId4"/>
          <a:stretch>
            <a:fillRect/>
          </a:stretch>
        </p:blipFill>
        <p:spPr>
          <a:xfrm>
            <a:off x="-60900" y="1644194"/>
            <a:ext cx="7164422" cy="4031567"/>
          </a:xfrm>
          <a:prstGeom prst="rect">
            <a:avLst/>
          </a:prstGeom>
        </p:spPr>
      </p:pic>
      <p:sp>
        <p:nvSpPr>
          <p:cNvPr id="28" name="TextBox 27"/>
          <p:cNvSpPr txBox="1"/>
          <p:nvPr/>
        </p:nvSpPr>
        <p:spPr>
          <a:xfrm>
            <a:off x="425894" y="5466677"/>
            <a:ext cx="5120640" cy="731520"/>
          </a:xfrm>
          <a:prstGeom prst="rect">
            <a:avLst/>
          </a:prstGeom>
          <a:noFill/>
        </p:spPr>
        <p:txBody>
          <a:bodyPr wrap="square">
            <a:spAutoFit/>
          </a:bodyPr>
          <a:lstStyle/>
          <a:p>
            <a:pPr>
              <a:lnSpc>
                <a:spcPct val="112000"/>
              </a:lnSpc>
              <a:spcAft>
                <a:spcPts val="200"/>
              </a:spcAft>
            </a:pPr>
            <a:r>
              <a:rPr sz="1300" b="1" dirty="0" err="1">
                <a:solidFill>
                  <a:srgbClr val="514D83"/>
                </a:solidFill>
                <a:latin typeface="微软雅黑"/>
              </a:rPr>
              <a:t>两阶段流程</a:t>
            </a:r>
            <a:r>
              <a:rPr sz="1300" b="1" dirty="0">
                <a:solidFill>
                  <a:srgbClr val="514D83"/>
                </a:solidFill>
                <a:latin typeface="微软雅黑"/>
              </a:rPr>
              <a:t>：</a:t>
            </a:r>
          </a:p>
          <a:p>
            <a:pPr>
              <a:lnSpc>
                <a:spcPct val="112000"/>
              </a:lnSpc>
              <a:spcAft>
                <a:spcPts val="200"/>
              </a:spcAft>
            </a:pPr>
            <a:r>
              <a:rPr sz="1200" b="0" dirty="0">
                <a:latin typeface="微软雅黑"/>
              </a:rPr>
              <a:t>阶段1 用 oracle 标签模仿学习（18,900 </a:t>
            </a:r>
            <a:r>
              <a:rPr sz="1200" b="0" dirty="0" err="1">
                <a:latin typeface="微软雅黑"/>
              </a:rPr>
              <a:t>样本</a:t>
            </a:r>
            <a:r>
              <a:rPr sz="1200" b="0" dirty="0">
                <a:latin typeface="微软雅黑"/>
              </a:rPr>
              <a:t>）→ </a:t>
            </a:r>
            <a:r>
              <a:rPr sz="1200" b="0" dirty="0" err="1">
                <a:latin typeface="微软雅黑"/>
              </a:rPr>
              <a:t>冻结</a:t>
            </a:r>
            <a:r>
              <a:rPr sz="1200" b="0" dirty="0">
                <a:latin typeface="微软雅黑"/>
              </a:rPr>
              <a:t> → 阶段2 </a:t>
            </a:r>
            <a:r>
              <a:rPr sz="1200" b="0" dirty="0" err="1">
                <a:latin typeface="微软雅黑"/>
              </a:rPr>
              <a:t>只训练残差头</a:t>
            </a:r>
            <a:endParaRPr sz="1200" b="0" dirty="0">
              <a:latin typeface="微软雅黑"/>
            </a:endParaRPr>
          </a:p>
        </p:txBody>
      </p:sp>
    </p:spTree>
    <p:extLst>
      <p:ext uri="{BB962C8B-B14F-4D97-AF65-F5344CB8AC3E}">
        <p14:creationId xmlns:p14="http://schemas.microsoft.com/office/powerpoint/2010/main" val="396000281"/>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ADDB1F-1454-76D7-508C-DC365B9BD0E3}"/>
            </a:ext>
          </a:extLst>
        </p:cNvPr>
        <p:cNvGrpSpPr/>
        <p:nvPr/>
      </p:nvGrpSpPr>
      <p:grpSpPr>
        <a:xfrm>
          <a:off x="0" y="0"/>
          <a:ext cx="0" cy="0"/>
          <a:chOff x="0" y="0"/>
          <a:chExt cx="0" cy="0"/>
        </a:xfrm>
      </p:grpSpPr>
      <p:sp>
        <p:nvSpPr>
          <p:cNvPr id="7" name="文本框 6">
            <a:extLst>
              <a:ext uri="{FF2B5EF4-FFF2-40B4-BE49-F238E27FC236}">
                <a16:creationId xmlns:a16="http://schemas.microsoft.com/office/drawing/2014/main" id="{483E8A99-4A7D-584A-DD27-BDE5A7A38AE8}"/>
              </a:ext>
            </a:extLst>
          </p:cNvPr>
          <p:cNvSpPr txBox="1"/>
          <p:nvPr/>
        </p:nvSpPr>
        <p:spPr>
          <a:xfrm>
            <a:off x="10461848" y="299500"/>
            <a:ext cx="1197832" cy="369332"/>
          </a:xfrm>
          <a:prstGeom prst="rect">
            <a:avLst/>
          </a:prstGeom>
          <a:noFill/>
        </p:spPr>
        <p:txBody>
          <a:bodyPr wrap="square" rtlCol="0">
            <a:spAutoFit/>
          </a:bodyPr>
          <a:lstStyle/>
          <a:p>
            <a:pPr algn="ctr"/>
            <a:r>
              <a:rPr kumimoji="1" lang="zh-CN" altLang="en-US" b="1" spc="110" dirty="0">
                <a:solidFill>
                  <a:schemeClr val="bg1"/>
                </a:solidFill>
                <a:latin typeface="微软雅黑" panose="020B0503020204020204" pitchFamily="34" charset="-122"/>
                <a:ea typeface="微软雅黑" panose="020B0503020204020204" pitchFamily="34" charset="-122"/>
              </a:rPr>
              <a:t>读研展望</a:t>
            </a:r>
          </a:p>
        </p:txBody>
      </p:sp>
      <p:sp>
        <p:nvSpPr>
          <p:cNvPr id="9" name="文本框 8">
            <a:extLst>
              <a:ext uri="{FF2B5EF4-FFF2-40B4-BE49-F238E27FC236}">
                <a16:creationId xmlns:a16="http://schemas.microsoft.com/office/drawing/2014/main" id="{8F55F6D8-ACA3-EF6A-7602-F60727CB7576}"/>
              </a:ext>
            </a:extLst>
          </p:cNvPr>
          <p:cNvSpPr txBox="1"/>
          <p:nvPr/>
        </p:nvSpPr>
        <p:spPr>
          <a:xfrm>
            <a:off x="2875146" y="179975"/>
            <a:ext cx="1336142" cy="369332"/>
          </a:xfrm>
          <a:prstGeom prst="rect">
            <a:avLst/>
          </a:prstGeom>
          <a:noFill/>
        </p:spPr>
        <p:txBody>
          <a:bodyPr wrap="square" rtlCol="0">
            <a:spAutoFit/>
          </a:bodyPr>
          <a:lstStyle/>
          <a:p>
            <a:pPr algn="ctr"/>
            <a:r>
              <a:rPr kumimoji="1" lang="zh-CN" altLang="en-US" b="1" spc="110" dirty="0">
                <a:solidFill>
                  <a:schemeClr val="bg1"/>
                </a:solidFill>
                <a:latin typeface="微软雅黑" panose="020B0503020204020204" pitchFamily="34" charset="-122"/>
                <a:ea typeface="微软雅黑" panose="020B0503020204020204" pitchFamily="34" charset="-122"/>
              </a:rPr>
              <a:t>个人简介</a:t>
            </a:r>
          </a:p>
        </p:txBody>
      </p:sp>
      <p:sp>
        <p:nvSpPr>
          <p:cNvPr id="15" name="椭圆 14">
            <a:extLst>
              <a:ext uri="{FF2B5EF4-FFF2-40B4-BE49-F238E27FC236}">
                <a16:creationId xmlns:a16="http://schemas.microsoft.com/office/drawing/2014/main" id="{8B22AD19-87BE-56CC-1D89-965E16429654}"/>
              </a:ext>
            </a:extLst>
          </p:cNvPr>
          <p:cNvSpPr/>
          <p:nvPr/>
        </p:nvSpPr>
        <p:spPr>
          <a:xfrm>
            <a:off x="11750347" y="6411598"/>
            <a:ext cx="289344" cy="289344"/>
          </a:xfrm>
          <a:prstGeom prst="ellipse">
            <a:avLst/>
          </a:prstGeom>
          <a:solidFill>
            <a:schemeClr val="bg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CN" altLang="en-US">
              <a:solidFill>
                <a:schemeClr val="accent1"/>
              </a:solidFill>
            </a:endParaRPr>
          </a:p>
        </p:txBody>
      </p:sp>
      <p:sp>
        <p:nvSpPr>
          <p:cNvPr id="16" name="灯片编号占位符 18">
            <a:extLst>
              <a:ext uri="{FF2B5EF4-FFF2-40B4-BE49-F238E27FC236}">
                <a16:creationId xmlns:a16="http://schemas.microsoft.com/office/drawing/2014/main" id="{2024D672-3500-62EC-1B74-4E9AB5A17871}"/>
              </a:ext>
            </a:extLst>
          </p:cNvPr>
          <p:cNvSpPr>
            <a:spLocks noGrp="1"/>
          </p:cNvSpPr>
          <p:nvPr>
            <p:ph type="sldNum" sz="quarter" idx="12"/>
          </p:nvPr>
        </p:nvSpPr>
        <p:spPr>
          <a:xfrm>
            <a:off x="11619554" y="6373707"/>
            <a:ext cx="550930" cy="365125"/>
          </a:xfrm>
        </p:spPr>
        <p:txBody>
          <a:bodyPr/>
          <a:lstStyle/>
          <a:p>
            <a:pPr algn="ctr"/>
            <a:fld id="{D290E156-FAFE-5144-A047-A692DE980B3A}" type="slidenum">
              <a:rPr kumimoji="1" lang="zh-CN" altLang="en-US" smtClean="0">
                <a:solidFill>
                  <a:schemeClr val="accent1"/>
                </a:solidFill>
                <a:latin typeface="Arial" panose="020B0604020202020204" pitchFamily="34" charset="0"/>
                <a:cs typeface="Arial" panose="020B0604020202020204" pitchFamily="34" charset="0"/>
              </a:rPr>
              <a:t>5</a:t>
            </a:fld>
            <a:endParaRPr kumimoji="1" lang="zh-CN" altLang="en-US" dirty="0">
              <a:solidFill>
                <a:schemeClr val="accent1"/>
              </a:solidFill>
              <a:latin typeface="Arial" panose="020B0604020202020204" pitchFamily="34" charset="0"/>
              <a:cs typeface="Arial" panose="020B0604020202020204" pitchFamily="34" charset="0"/>
            </a:endParaRPr>
          </a:p>
        </p:txBody>
      </p:sp>
      <p:sp>
        <p:nvSpPr>
          <p:cNvPr id="6" name="文本框 5">
            <a:extLst>
              <a:ext uri="{FF2B5EF4-FFF2-40B4-BE49-F238E27FC236}">
                <a16:creationId xmlns:a16="http://schemas.microsoft.com/office/drawing/2014/main" id="{C56E9E7C-2E29-BAE2-7F00-56C06ADAFE1F}"/>
              </a:ext>
            </a:extLst>
          </p:cNvPr>
          <p:cNvSpPr txBox="1"/>
          <p:nvPr/>
        </p:nvSpPr>
        <p:spPr>
          <a:xfrm>
            <a:off x="5032257" y="179975"/>
            <a:ext cx="1985202" cy="369332"/>
          </a:xfrm>
          <a:prstGeom prst="rect">
            <a:avLst/>
          </a:prstGeom>
          <a:noFill/>
        </p:spPr>
        <p:txBody>
          <a:bodyPr wrap="square" rtlCol="0">
            <a:spAutoFit/>
          </a:bodyPr>
          <a:lstStyle/>
          <a:p>
            <a:pPr algn="ctr"/>
            <a:r>
              <a:rPr kumimoji="1" lang="zh-CN" altLang="en-US" b="1" spc="110" dirty="0">
                <a:solidFill>
                  <a:schemeClr val="bg1"/>
                </a:solidFill>
                <a:latin typeface="微软雅黑" panose="020B0503020204020204" pitchFamily="34" charset="-122"/>
                <a:ea typeface="微软雅黑" panose="020B0503020204020204" pitchFamily="34" charset="-122"/>
              </a:rPr>
              <a:t>本科经历</a:t>
            </a:r>
          </a:p>
        </p:txBody>
      </p:sp>
      <p:sp>
        <p:nvSpPr>
          <p:cNvPr id="3" name="任意形状 2">
            <a:extLst>
              <a:ext uri="{FF2B5EF4-FFF2-40B4-BE49-F238E27FC236}">
                <a16:creationId xmlns:a16="http://schemas.microsoft.com/office/drawing/2014/main" id="{2F954335-5A7C-9581-E91A-4DBD1F9A93FA}"/>
              </a:ext>
            </a:extLst>
          </p:cNvPr>
          <p:cNvSpPr/>
          <p:nvPr/>
        </p:nvSpPr>
        <p:spPr>
          <a:xfrm>
            <a:off x="0" y="0"/>
            <a:ext cx="9896847" cy="662946"/>
          </a:xfrm>
          <a:custGeom>
            <a:avLst/>
            <a:gdLst>
              <a:gd name="connsiteX0" fmla="*/ 0 w 8681972"/>
              <a:gd name="connsiteY0" fmla="*/ 0 h 689675"/>
              <a:gd name="connsiteX1" fmla="*/ 8681972 w 8681972"/>
              <a:gd name="connsiteY1" fmla="*/ 0 h 689675"/>
              <a:gd name="connsiteX2" fmla="*/ 8461124 w 8681972"/>
              <a:gd name="connsiteY2" fmla="*/ 344837 h 689675"/>
              <a:gd name="connsiteX3" fmla="*/ 8681972 w 8681972"/>
              <a:gd name="connsiteY3" fmla="*/ 689675 h 689675"/>
              <a:gd name="connsiteX4" fmla="*/ 0 w 8681972"/>
              <a:gd name="connsiteY4" fmla="*/ 689675 h 689675"/>
              <a:gd name="connsiteX5" fmla="*/ 0 w 8681972"/>
              <a:gd name="connsiteY5" fmla="*/ 0 h 6896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681972" h="689675">
                <a:moveTo>
                  <a:pt x="0" y="0"/>
                </a:moveTo>
                <a:lnTo>
                  <a:pt x="8681972" y="0"/>
                </a:lnTo>
                <a:lnTo>
                  <a:pt x="8461124" y="344837"/>
                </a:lnTo>
                <a:lnTo>
                  <a:pt x="8681972" y="689675"/>
                </a:lnTo>
                <a:lnTo>
                  <a:pt x="0" y="689675"/>
                </a:lnTo>
                <a:lnTo>
                  <a:pt x="0" y="0"/>
                </a:lnTo>
                <a:close/>
              </a:path>
            </a:pathLst>
          </a:custGeom>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zh-CN" altLang="en-US" sz="1600"/>
          </a:p>
        </p:txBody>
      </p:sp>
      <p:sp>
        <p:nvSpPr>
          <p:cNvPr id="14" name="文本框 13">
            <a:extLst>
              <a:ext uri="{FF2B5EF4-FFF2-40B4-BE49-F238E27FC236}">
                <a16:creationId xmlns:a16="http://schemas.microsoft.com/office/drawing/2014/main" id="{16FCEA6E-8081-71AB-BEF0-AB280B3F2582}"/>
              </a:ext>
            </a:extLst>
          </p:cNvPr>
          <p:cNvSpPr txBox="1"/>
          <p:nvPr/>
        </p:nvSpPr>
        <p:spPr>
          <a:xfrm>
            <a:off x="281981" y="79754"/>
            <a:ext cx="9335355" cy="523220"/>
          </a:xfrm>
          <a:prstGeom prst="rect">
            <a:avLst/>
          </a:prstGeom>
          <a:noFill/>
        </p:spPr>
        <p:txBody>
          <a:bodyPr wrap="square" rtlCol="0">
            <a:spAutoFit/>
          </a:bodyPr>
          <a:lstStyle>
            <a:defPPr>
              <a:defRPr lang="zh-CN"/>
            </a:defPPr>
            <a:lvl1pPr algn="ctr">
              <a:defRPr kumimoji="1" sz="4400" b="1" spc="300">
                <a:solidFill>
                  <a:schemeClr val="bg1"/>
                </a:solidFill>
                <a:latin typeface="微软雅黑" panose="020B0503020204020204" pitchFamily="34" charset="-122"/>
                <a:ea typeface="微软雅黑" panose="020B0503020204020204" pitchFamily="34" charset="-122"/>
              </a:defRPr>
            </a:lvl1pPr>
          </a:lstStyle>
          <a:p>
            <a:pPr algn="l"/>
            <a:r>
              <a:rPr lang="en-US" altLang="zh-CN" sz="1400" dirty="0"/>
              <a:t>Predictive Authority Control: Learning When and How Much to Trust Baseline Controllers for Robust Underwater Robot Tracking</a:t>
            </a:r>
            <a:endParaRPr lang="zh-CN" altLang="en-US" sz="1400" dirty="0"/>
          </a:p>
        </p:txBody>
      </p:sp>
      <p:pic>
        <p:nvPicPr>
          <p:cNvPr id="2" name="图片 1">
            <a:extLst>
              <a:ext uri="{FF2B5EF4-FFF2-40B4-BE49-F238E27FC236}">
                <a16:creationId xmlns:a16="http://schemas.microsoft.com/office/drawing/2014/main" id="{03390450-5D73-C97F-16BE-96E1999E3F25}"/>
              </a:ext>
            </a:extLst>
          </p:cNvPr>
          <p:cNvPicPr>
            <a:picLocks noChangeAspect="1"/>
          </p:cNvPicPr>
          <p:nvPr/>
        </p:nvPicPr>
        <p:blipFill>
          <a:blip r:embed="rId2"/>
          <a:stretch>
            <a:fillRect/>
          </a:stretch>
        </p:blipFill>
        <p:spPr>
          <a:xfrm>
            <a:off x="10121441" y="54734"/>
            <a:ext cx="1773578" cy="553478"/>
          </a:xfrm>
          <a:prstGeom prst="rect">
            <a:avLst/>
          </a:prstGeom>
        </p:spPr>
      </p:pic>
      <p:sp>
        <p:nvSpPr>
          <p:cNvPr id="20" name="文本框 19">
            <a:extLst>
              <a:ext uri="{FF2B5EF4-FFF2-40B4-BE49-F238E27FC236}">
                <a16:creationId xmlns:a16="http://schemas.microsoft.com/office/drawing/2014/main" id="{D76A1191-183C-5C32-5C01-7D8998D7EB3F}"/>
              </a:ext>
            </a:extLst>
          </p:cNvPr>
          <p:cNvSpPr txBox="1"/>
          <p:nvPr/>
        </p:nvSpPr>
        <p:spPr>
          <a:xfrm>
            <a:off x="0" y="738435"/>
            <a:ext cx="12501349" cy="338554"/>
          </a:xfrm>
          <a:prstGeom prst="rect">
            <a:avLst/>
          </a:prstGeom>
          <a:noFill/>
        </p:spPr>
        <p:txBody>
          <a:bodyPr wrap="square" rtlCol="0">
            <a:spAutoFit/>
          </a:bodyPr>
          <a:lstStyle/>
          <a:p>
            <a:pPr marL="342900" indent="-342900">
              <a:buSzPct val="85000"/>
              <a:buFont typeface="Wingdings" panose="05000000000000000000" pitchFamily="2" charset="2"/>
              <a:buChar char="n"/>
            </a:pPr>
            <a:r>
              <a:rPr kumimoji="1" lang="en-US" altLang="zh-CN" sz="1600" b="1" spc="300" dirty="0">
                <a:solidFill>
                  <a:schemeClr val="accent1"/>
                </a:solidFill>
                <a:latin typeface="微软雅黑" panose="020B0503020204020204" pitchFamily="34" charset="-122"/>
                <a:ea typeface="微软雅黑" panose="020B0503020204020204" pitchFamily="34" charset="-122"/>
              </a:rPr>
              <a:t>PAC</a:t>
            </a:r>
            <a:r>
              <a:rPr kumimoji="1" lang="zh-CN" altLang="en-US" sz="1600" b="1" spc="300" dirty="0">
                <a:solidFill>
                  <a:schemeClr val="accent1"/>
                </a:solidFill>
                <a:latin typeface="微软雅黑" panose="020B0503020204020204" pitchFamily="34" charset="-122"/>
                <a:ea typeface="微软雅黑" panose="020B0503020204020204" pitchFamily="34" charset="-122"/>
              </a:rPr>
              <a:t>：面向水下机器人鲁棒跟踪的基线控制器时序信任权重学习</a:t>
            </a:r>
          </a:p>
        </p:txBody>
      </p:sp>
      <p:cxnSp>
        <p:nvCxnSpPr>
          <p:cNvPr id="21" name="直线连接符 12">
            <a:extLst>
              <a:ext uri="{FF2B5EF4-FFF2-40B4-BE49-F238E27FC236}">
                <a16:creationId xmlns:a16="http://schemas.microsoft.com/office/drawing/2014/main" id="{ED2852A3-080F-9C47-ED12-871732E1F808}"/>
              </a:ext>
            </a:extLst>
          </p:cNvPr>
          <p:cNvCxnSpPr/>
          <p:nvPr/>
        </p:nvCxnSpPr>
        <p:spPr>
          <a:xfrm>
            <a:off x="908" y="1167007"/>
            <a:ext cx="10978564" cy="0"/>
          </a:xfrm>
          <a:prstGeom prst="line">
            <a:avLst/>
          </a:prstGeom>
        </p:spPr>
        <p:style>
          <a:lnRef idx="1">
            <a:schemeClr val="accent1"/>
          </a:lnRef>
          <a:fillRef idx="0">
            <a:schemeClr val="accent1"/>
          </a:fillRef>
          <a:effectRef idx="0">
            <a:schemeClr val="accent1"/>
          </a:effectRef>
          <a:fontRef idx="minor">
            <a:schemeClr val="tx1"/>
          </a:fontRef>
        </p:style>
      </p:cxnSp>
      <p:sp>
        <p:nvSpPr>
          <p:cNvPr id="22" name="TextBox 21"/>
          <p:cNvSpPr txBox="1"/>
          <p:nvPr/>
        </p:nvSpPr>
        <p:spPr>
          <a:xfrm>
            <a:off x="0" y="1280160"/>
            <a:ext cx="12161520" cy="379976"/>
          </a:xfrm>
          <a:prstGeom prst="rect">
            <a:avLst/>
          </a:prstGeom>
          <a:noFill/>
        </p:spPr>
        <p:txBody>
          <a:bodyPr wrap="square">
            <a:spAutoFit/>
          </a:bodyPr>
          <a:lstStyle/>
          <a:p>
            <a:pPr>
              <a:lnSpc>
                <a:spcPct val="112000"/>
              </a:lnSpc>
              <a:spcAft>
                <a:spcPts val="200"/>
              </a:spcAft>
            </a:pPr>
            <a:r>
              <a:rPr sz="1800" b="1" dirty="0" err="1">
                <a:solidFill>
                  <a:srgbClr val="514D83"/>
                </a:solidFill>
                <a:latin typeface="微软雅黑"/>
              </a:rPr>
              <a:t>训练设置：奖励函数与超参数</a:t>
            </a:r>
            <a:endParaRPr sz="1800" b="1" dirty="0">
              <a:solidFill>
                <a:srgbClr val="514D83"/>
              </a:solidFill>
              <a:latin typeface="微软雅黑"/>
            </a:endParaRPr>
          </a:p>
        </p:txBody>
      </p:sp>
      <p:pic>
        <p:nvPicPr>
          <p:cNvPr id="23" name="Picture 22" descr="image.png"/>
          <p:cNvPicPr>
            <a:picLocks noChangeAspect="1"/>
          </p:cNvPicPr>
          <p:nvPr/>
        </p:nvPicPr>
        <p:blipFill>
          <a:blip r:embed="rId3"/>
          <a:stretch>
            <a:fillRect/>
          </a:stretch>
        </p:blipFill>
        <p:spPr>
          <a:xfrm>
            <a:off x="274320" y="1783080"/>
            <a:ext cx="5943600" cy="597052"/>
          </a:xfrm>
          <a:prstGeom prst="rect">
            <a:avLst/>
          </a:prstGeom>
        </p:spPr>
      </p:pic>
      <p:graphicFrame>
        <p:nvGraphicFramePr>
          <p:cNvPr id="24" name="Table 23"/>
          <p:cNvGraphicFramePr>
            <a:graphicFrameLocks noGrp="1"/>
          </p:cNvGraphicFramePr>
          <p:nvPr>
            <p:extLst>
              <p:ext uri="{D42A27DB-BD31-4B8C-83A1-F6EECF244321}">
                <p14:modId xmlns:p14="http://schemas.microsoft.com/office/powerpoint/2010/main" val="3233669239"/>
              </p:ext>
            </p:extLst>
          </p:nvPr>
        </p:nvGraphicFramePr>
        <p:xfrm>
          <a:off x="274320" y="2538804"/>
          <a:ext cx="5943600" cy="3425952"/>
        </p:xfrm>
        <a:graphic>
          <a:graphicData uri="http://schemas.openxmlformats.org/drawingml/2006/table">
            <a:tbl>
              <a:tblPr firstRow="1" bandRow="1">
                <a:tableStyleId>{5C22544A-7EE6-4342-B048-85BDC9FD1C3A}</a:tableStyleId>
              </a:tblPr>
              <a:tblGrid>
                <a:gridCol w="114300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gridCol w="685800">
                  <a:extLst>
                    <a:ext uri="{9D8B030D-6E8A-4147-A177-3AD203B41FA5}">
                      <a16:colId xmlns:a16="http://schemas.microsoft.com/office/drawing/2014/main" val="20002"/>
                    </a:ext>
                  </a:extLst>
                </a:gridCol>
                <a:gridCol w="1828800">
                  <a:extLst>
                    <a:ext uri="{9D8B030D-6E8A-4147-A177-3AD203B41FA5}">
                      <a16:colId xmlns:a16="http://schemas.microsoft.com/office/drawing/2014/main" val="20003"/>
                    </a:ext>
                  </a:extLst>
                </a:gridCol>
              </a:tblGrid>
              <a:tr h="256032">
                <a:tc>
                  <a:txBody>
                    <a:bodyPr/>
                    <a:lstStyle/>
                    <a:p>
                      <a:r>
                        <a:rPr sz="1000" b="1">
                          <a:latin typeface="微软雅黑"/>
                        </a:rPr>
                        <a:t>项（变量名）</a:t>
                      </a:r>
                    </a:p>
                  </a:txBody>
                  <a:tcPr/>
                </a:tc>
                <a:tc>
                  <a:txBody>
                    <a:bodyPr/>
                    <a:lstStyle/>
                    <a:p>
                      <a:r>
                        <a:rPr lang="zh-CN" altLang="en-US" sz="900" b="1" dirty="0">
                          <a:solidFill>
                            <a:srgbClr val="26262E"/>
                          </a:solidFill>
                          <a:latin typeface="微软雅黑"/>
                        </a:rPr>
                        <a:t>意义</a:t>
                      </a:r>
                      <a:endParaRPr sz="900" b="1" dirty="0">
                        <a:solidFill>
                          <a:srgbClr val="26262E"/>
                        </a:solidFill>
                        <a:latin typeface="微软雅黑"/>
                      </a:endParaRPr>
                    </a:p>
                  </a:txBody>
                  <a:tcPr/>
                </a:tc>
                <a:tc>
                  <a:txBody>
                    <a:bodyPr/>
                    <a:lstStyle/>
                    <a:p>
                      <a:r>
                        <a:rPr sz="900" b="1">
                          <a:solidFill>
                            <a:srgbClr val="26262E"/>
                          </a:solidFill>
                          <a:latin typeface="微软雅黑"/>
                        </a:rPr>
                        <a:t>权重</a:t>
                      </a:r>
                    </a:p>
                  </a:txBody>
                  <a:tcPr/>
                </a:tc>
                <a:tc>
                  <a:txBody>
                    <a:bodyPr/>
                    <a:lstStyle/>
                    <a:p>
                      <a:r>
                        <a:rPr sz="900" b="1">
                          <a:solidFill>
                            <a:srgbClr val="26262E"/>
                          </a:solidFill>
                          <a:latin typeface="微软雅黑"/>
                        </a:rPr>
                        <a:t>设计意图</a:t>
                      </a:r>
                    </a:p>
                  </a:txBody>
                  <a:tcPr/>
                </a:tc>
                <a:extLst>
                  <a:ext uri="{0D108BD9-81ED-4DB2-BD59-A6C34878D82A}">
                    <a16:rowId xmlns:a16="http://schemas.microsoft.com/office/drawing/2014/main" val="10000"/>
                  </a:ext>
                </a:extLst>
              </a:tr>
              <a:tr h="256032">
                <a:tc>
                  <a:txBody>
                    <a:bodyPr/>
                    <a:lstStyle/>
                    <a:p>
                      <a:r>
                        <a:rPr sz="1000" b="0">
                          <a:latin typeface="微软雅黑"/>
                        </a:rPr>
                        <a:t>w_e·e_pos</a:t>
                      </a:r>
                    </a:p>
                    <a:p>
                      <a:r>
                        <a:rPr sz="1000" b="0">
                          <a:latin typeface="微软雅黑"/>
                        </a:rPr>
                        <a:t>(位置误差权重)</a:t>
                      </a:r>
                    </a:p>
                  </a:txBody>
                  <a:tcPr/>
                </a:tc>
                <a:tc>
                  <a:txBody>
                    <a:bodyPr/>
                    <a:lstStyle/>
                    <a:p>
                      <a:r>
                        <a:rPr sz="900" b="0">
                          <a:solidFill>
                            <a:srgbClr val="26262E"/>
                          </a:solidFill>
                          <a:latin typeface="微软雅黑"/>
                        </a:rPr>
                        <a:t>偏离目标越远扣越多分</a:t>
                      </a:r>
                    </a:p>
                  </a:txBody>
                  <a:tcPr/>
                </a:tc>
                <a:tc>
                  <a:txBody>
                    <a:bodyPr/>
                    <a:lstStyle/>
                    <a:p>
                      <a:r>
                        <a:rPr sz="900" b="0">
                          <a:solidFill>
                            <a:srgbClr val="26262E"/>
                          </a:solidFill>
                          <a:latin typeface="微软雅黑"/>
                        </a:rPr>
                        <a:t>1.0</a:t>
                      </a:r>
                    </a:p>
                  </a:txBody>
                  <a:tcPr/>
                </a:tc>
                <a:tc>
                  <a:txBody>
                    <a:bodyPr/>
                    <a:lstStyle/>
                    <a:p>
                      <a:r>
                        <a:rPr sz="900" b="0">
                          <a:solidFill>
                            <a:srgbClr val="26262E"/>
                          </a:solidFill>
                          <a:latin typeface="微软雅黑"/>
                        </a:rPr>
                        <a:t>最主要的目标</a:t>
                      </a:r>
                    </a:p>
                  </a:txBody>
                  <a:tcPr/>
                </a:tc>
                <a:extLst>
                  <a:ext uri="{0D108BD9-81ED-4DB2-BD59-A6C34878D82A}">
                    <a16:rowId xmlns:a16="http://schemas.microsoft.com/office/drawing/2014/main" val="10001"/>
                  </a:ext>
                </a:extLst>
              </a:tr>
              <a:tr h="256032">
                <a:tc>
                  <a:txBody>
                    <a:bodyPr/>
                    <a:lstStyle/>
                    <a:p>
                      <a:r>
                        <a:rPr sz="1000" b="0">
                          <a:latin typeface="微软雅黑"/>
                        </a:rPr>
                        <a:t>w_h·e_head</a:t>
                      </a:r>
                    </a:p>
                    <a:p>
                      <a:r>
                        <a:rPr sz="1000" b="0">
                          <a:latin typeface="微软雅黑"/>
                        </a:rPr>
                        <a:t>(艏向误差权重)</a:t>
                      </a:r>
                    </a:p>
                  </a:txBody>
                  <a:tcPr/>
                </a:tc>
                <a:tc>
                  <a:txBody>
                    <a:bodyPr/>
                    <a:lstStyle/>
                    <a:p>
                      <a:r>
                        <a:rPr sz="900" b="0">
                          <a:solidFill>
                            <a:srgbClr val="26262E"/>
                          </a:solidFill>
                          <a:latin typeface="微软雅黑"/>
                        </a:rPr>
                        <a:t>船头歪了扣一点分</a:t>
                      </a:r>
                    </a:p>
                  </a:txBody>
                  <a:tcPr/>
                </a:tc>
                <a:tc>
                  <a:txBody>
                    <a:bodyPr/>
                    <a:lstStyle/>
                    <a:p>
                      <a:r>
                        <a:rPr sz="900" b="0">
                          <a:solidFill>
                            <a:srgbClr val="26262E"/>
                          </a:solidFill>
                          <a:latin typeface="微软雅黑"/>
                        </a:rPr>
                        <a:t>0.3</a:t>
                      </a:r>
                    </a:p>
                  </a:txBody>
                  <a:tcPr/>
                </a:tc>
                <a:tc>
                  <a:txBody>
                    <a:bodyPr/>
                    <a:lstStyle/>
                    <a:p>
                      <a:r>
                        <a:rPr sz="900" b="0">
                          <a:solidFill>
                            <a:srgbClr val="26262E"/>
                          </a:solidFill>
                          <a:latin typeface="微软雅黑"/>
                        </a:rPr>
                        <a:t>姿态不如位置重要</a:t>
                      </a:r>
                    </a:p>
                  </a:txBody>
                  <a:tcPr/>
                </a:tc>
                <a:extLst>
                  <a:ext uri="{0D108BD9-81ED-4DB2-BD59-A6C34878D82A}">
                    <a16:rowId xmlns:a16="http://schemas.microsoft.com/office/drawing/2014/main" val="10002"/>
                  </a:ext>
                </a:extLst>
              </a:tr>
              <a:tr h="256032">
                <a:tc>
                  <a:txBody>
                    <a:bodyPr/>
                    <a:lstStyle/>
                    <a:p>
                      <a:r>
                        <a:rPr sz="1000" b="0">
                          <a:latin typeface="微软雅黑"/>
                        </a:rPr>
                        <a:t>w_u·‖u‖²</a:t>
                      </a:r>
                    </a:p>
                    <a:p>
                      <a:r>
                        <a:rPr sz="1000" b="0">
                          <a:latin typeface="微软雅黑"/>
                        </a:rPr>
                        <a:t>(控制量权重)</a:t>
                      </a:r>
                    </a:p>
                  </a:txBody>
                  <a:tcPr/>
                </a:tc>
                <a:tc>
                  <a:txBody>
                    <a:bodyPr/>
                    <a:lstStyle/>
                    <a:p>
                      <a:r>
                        <a:rPr sz="900" b="0">
                          <a:solidFill>
                            <a:srgbClr val="26262E"/>
                          </a:solidFill>
                          <a:latin typeface="微软雅黑"/>
                        </a:rPr>
                        <a:t>推杆用力越大轻微扣分</a:t>
                      </a:r>
                    </a:p>
                  </a:txBody>
                  <a:tcPr/>
                </a:tc>
                <a:tc>
                  <a:txBody>
                    <a:bodyPr/>
                    <a:lstStyle/>
                    <a:p>
                      <a:r>
                        <a:rPr sz="900" b="0">
                          <a:solidFill>
                            <a:srgbClr val="26262E"/>
                          </a:solidFill>
                          <a:latin typeface="微软雅黑"/>
                        </a:rPr>
                        <a:t>0.01</a:t>
                      </a:r>
                    </a:p>
                  </a:txBody>
                  <a:tcPr/>
                </a:tc>
                <a:tc>
                  <a:txBody>
                    <a:bodyPr/>
                    <a:lstStyle/>
                    <a:p>
                      <a:r>
                        <a:rPr sz="900" b="0">
                          <a:solidFill>
                            <a:srgbClr val="26262E"/>
                          </a:solidFill>
                          <a:latin typeface="微软雅黑"/>
                        </a:rPr>
                        <a:t>鼓励省力</a:t>
                      </a:r>
                    </a:p>
                  </a:txBody>
                  <a:tcPr/>
                </a:tc>
                <a:extLst>
                  <a:ext uri="{0D108BD9-81ED-4DB2-BD59-A6C34878D82A}">
                    <a16:rowId xmlns:a16="http://schemas.microsoft.com/office/drawing/2014/main" val="10003"/>
                  </a:ext>
                </a:extLst>
              </a:tr>
              <a:tr h="256032">
                <a:tc>
                  <a:txBody>
                    <a:bodyPr/>
                    <a:lstStyle/>
                    <a:p>
                      <a:r>
                        <a:rPr sz="1000" b="0">
                          <a:latin typeface="微软雅黑"/>
                        </a:rPr>
                        <a:t>w_Δu·‖Δu‖²</a:t>
                      </a:r>
                    </a:p>
                    <a:p>
                      <a:r>
                        <a:rPr sz="1000" b="0">
                          <a:latin typeface="微软雅黑"/>
                        </a:rPr>
                        <a:t>(变化率权重)</a:t>
                      </a:r>
                    </a:p>
                  </a:txBody>
                  <a:tcPr/>
                </a:tc>
                <a:tc>
                  <a:txBody>
                    <a:bodyPr/>
                    <a:lstStyle/>
                    <a:p>
                      <a:r>
                        <a:rPr sz="900" b="0">
                          <a:solidFill>
                            <a:srgbClr val="26262E"/>
                          </a:solidFill>
                          <a:latin typeface="微软雅黑"/>
                        </a:rPr>
                        <a:t>推杆抖动扣一点分</a:t>
                      </a:r>
                    </a:p>
                  </a:txBody>
                  <a:tcPr/>
                </a:tc>
                <a:tc>
                  <a:txBody>
                    <a:bodyPr/>
                    <a:lstStyle/>
                    <a:p>
                      <a:r>
                        <a:rPr sz="900" b="0">
                          <a:solidFill>
                            <a:srgbClr val="26262E"/>
                          </a:solidFill>
                          <a:latin typeface="微软雅黑"/>
                        </a:rPr>
                        <a:t>0.01</a:t>
                      </a:r>
                    </a:p>
                  </a:txBody>
                  <a:tcPr/>
                </a:tc>
                <a:tc>
                  <a:txBody>
                    <a:bodyPr/>
                    <a:lstStyle/>
                    <a:p>
                      <a:r>
                        <a:rPr sz="900" b="0">
                          <a:solidFill>
                            <a:srgbClr val="26262E"/>
                          </a:solidFill>
                          <a:latin typeface="微软雅黑"/>
                        </a:rPr>
                        <a:t>鼓励平滑动作</a:t>
                      </a:r>
                    </a:p>
                  </a:txBody>
                  <a:tcPr/>
                </a:tc>
                <a:extLst>
                  <a:ext uri="{0D108BD9-81ED-4DB2-BD59-A6C34878D82A}">
                    <a16:rowId xmlns:a16="http://schemas.microsoft.com/office/drawing/2014/main" val="10004"/>
                  </a:ext>
                </a:extLst>
              </a:tr>
              <a:tr h="256032">
                <a:tc>
                  <a:txBody>
                    <a:bodyPr/>
                    <a:lstStyle/>
                    <a:p>
                      <a:r>
                        <a:rPr sz="1000" b="0">
                          <a:latin typeface="微软雅黑"/>
                        </a:rPr>
                        <a:t>w_Δα·|Δα|</a:t>
                      </a:r>
                    </a:p>
                    <a:p>
                      <a:r>
                        <a:rPr sz="1000" b="0">
                          <a:latin typeface="微软雅黑"/>
                        </a:rPr>
                        <a:t>(权限修正惩罚)</a:t>
                      </a:r>
                    </a:p>
                  </a:txBody>
                  <a:tcPr/>
                </a:tc>
                <a:tc>
                  <a:txBody>
                    <a:bodyPr/>
                    <a:lstStyle/>
                    <a:p>
                      <a:r>
                        <a:rPr sz="900" b="0" dirty="0" err="1">
                          <a:solidFill>
                            <a:srgbClr val="26262E"/>
                          </a:solidFill>
                          <a:latin typeface="微软雅黑"/>
                        </a:rPr>
                        <a:t>改主意太猛扣一点分</a:t>
                      </a:r>
                      <a:endParaRPr sz="900" b="0" dirty="0">
                        <a:solidFill>
                          <a:srgbClr val="26262E"/>
                        </a:solidFill>
                        <a:latin typeface="微软雅黑"/>
                      </a:endParaRPr>
                    </a:p>
                  </a:txBody>
                  <a:tcPr/>
                </a:tc>
                <a:tc>
                  <a:txBody>
                    <a:bodyPr/>
                    <a:lstStyle/>
                    <a:p>
                      <a:r>
                        <a:rPr sz="900" b="0">
                          <a:solidFill>
                            <a:srgbClr val="26262E"/>
                          </a:solidFill>
                          <a:latin typeface="微软雅黑"/>
                        </a:rPr>
                        <a:t>0.05</a:t>
                      </a:r>
                    </a:p>
                  </a:txBody>
                  <a:tcPr/>
                </a:tc>
                <a:tc>
                  <a:txBody>
                    <a:bodyPr/>
                    <a:lstStyle/>
                    <a:p>
                      <a:r>
                        <a:rPr sz="900" b="0">
                          <a:solidFill>
                            <a:srgbClr val="26262E"/>
                          </a:solidFill>
                          <a:latin typeface="微软雅黑"/>
                        </a:rPr>
                        <a:t>别频繁翻转信任</a:t>
                      </a:r>
                    </a:p>
                  </a:txBody>
                  <a:tcPr/>
                </a:tc>
                <a:extLst>
                  <a:ext uri="{0D108BD9-81ED-4DB2-BD59-A6C34878D82A}">
                    <a16:rowId xmlns:a16="http://schemas.microsoft.com/office/drawing/2014/main" val="10005"/>
                  </a:ext>
                </a:extLst>
              </a:tr>
              <a:tr h="256032">
                <a:tc>
                  <a:txBody>
                    <a:bodyPr/>
                    <a:lstStyle/>
                    <a:p>
                      <a:r>
                        <a:rPr sz="1000" b="0">
                          <a:latin typeface="微软雅黑"/>
                        </a:rPr>
                        <a:t>w_sat·ρ_sat</a:t>
                      </a:r>
                    </a:p>
                    <a:p>
                      <a:r>
                        <a:rPr sz="1000" b="0">
                          <a:latin typeface="微软雅黑"/>
                        </a:rPr>
                        <a:t>(饱和惩罚)</a:t>
                      </a:r>
                    </a:p>
                  </a:txBody>
                  <a:tcPr/>
                </a:tc>
                <a:tc>
                  <a:txBody>
                    <a:bodyPr/>
                    <a:lstStyle/>
                    <a:p>
                      <a:r>
                        <a:rPr sz="900" b="0">
                          <a:solidFill>
                            <a:srgbClr val="26262E"/>
                          </a:solidFill>
                          <a:latin typeface="微软雅黑"/>
                        </a:rPr>
                        <a:t>推杆接近满功率扣分</a:t>
                      </a:r>
                    </a:p>
                  </a:txBody>
                  <a:tcPr/>
                </a:tc>
                <a:tc>
                  <a:txBody>
                    <a:bodyPr/>
                    <a:lstStyle/>
                    <a:p>
                      <a:r>
                        <a:rPr sz="900" b="0">
                          <a:solidFill>
                            <a:srgbClr val="26262E"/>
                          </a:solidFill>
                          <a:latin typeface="微软雅黑"/>
                        </a:rPr>
                        <a:t>0.1</a:t>
                      </a:r>
                    </a:p>
                  </a:txBody>
                  <a:tcPr/>
                </a:tc>
                <a:tc>
                  <a:txBody>
                    <a:bodyPr/>
                    <a:lstStyle/>
                    <a:p>
                      <a:r>
                        <a:rPr sz="900" b="0">
                          <a:solidFill>
                            <a:srgbClr val="26262E"/>
                          </a:solidFill>
                          <a:latin typeface="微软雅黑"/>
                        </a:rPr>
                        <a:t>留余量防饱和</a:t>
                      </a:r>
                    </a:p>
                  </a:txBody>
                  <a:tcPr/>
                </a:tc>
                <a:extLst>
                  <a:ext uri="{0D108BD9-81ED-4DB2-BD59-A6C34878D82A}">
                    <a16:rowId xmlns:a16="http://schemas.microsoft.com/office/drawing/2014/main" val="10006"/>
                  </a:ext>
                </a:extLst>
              </a:tr>
              <a:tr h="256032">
                <a:tc>
                  <a:txBody>
                    <a:bodyPr/>
                    <a:lstStyle/>
                    <a:p>
                      <a:r>
                        <a:rPr sz="1000" b="0">
                          <a:latin typeface="微软雅黑"/>
                        </a:rPr>
                        <a:t>w_dl·ρ_dl</a:t>
                      </a:r>
                    </a:p>
                    <a:p>
                      <a:r>
                        <a:rPr sz="1000" b="0">
                          <a:latin typeface="微软雅黑"/>
                        </a:rPr>
                        <a:t>(超时惩罚)</a:t>
                      </a:r>
                    </a:p>
                  </a:txBody>
                  <a:tcPr/>
                </a:tc>
                <a:tc>
                  <a:txBody>
                    <a:bodyPr/>
                    <a:lstStyle/>
                    <a:p>
                      <a:r>
                        <a:rPr sz="900" b="0">
                          <a:solidFill>
                            <a:srgbClr val="26262E"/>
                          </a:solidFill>
                          <a:latin typeface="微软雅黑"/>
                        </a:rPr>
                        <a:t>MPC 算超时了扣一点</a:t>
                      </a:r>
                    </a:p>
                  </a:txBody>
                  <a:tcPr/>
                </a:tc>
                <a:tc>
                  <a:txBody>
                    <a:bodyPr/>
                    <a:lstStyle/>
                    <a:p>
                      <a:r>
                        <a:rPr sz="900" b="0">
                          <a:solidFill>
                            <a:srgbClr val="26262E"/>
                          </a:solidFill>
                          <a:latin typeface="微软雅黑"/>
                        </a:rPr>
                        <a:t>0.02</a:t>
                      </a:r>
                    </a:p>
                  </a:txBody>
                  <a:tcPr/>
                </a:tc>
                <a:tc>
                  <a:txBody>
                    <a:bodyPr/>
                    <a:lstStyle/>
                    <a:p>
                      <a:r>
                        <a:rPr sz="900" b="0">
                          <a:solidFill>
                            <a:srgbClr val="26262E"/>
                          </a:solidFill>
                          <a:latin typeface="微软雅黑"/>
                        </a:rPr>
                        <a:t>仅记录不改调度</a:t>
                      </a:r>
                    </a:p>
                  </a:txBody>
                  <a:tcPr/>
                </a:tc>
                <a:extLst>
                  <a:ext uri="{0D108BD9-81ED-4DB2-BD59-A6C34878D82A}">
                    <a16:rowId xmlns:a16="http://schemas.microsoft.com/office/drawing/2014/main" val="10007"/>
                  </a:ext>
                </a:extLst>
              </a:tr>
              <a:tr h="256032">
                <a:tc>
                  <a:txBody>
                    <a:bodyPr/>
                    <a:lstStyle/>
                    <a:p>
                      <a:r>
                        <a:rPr sz="1000" b="0">
                          <a:latin typeface="微软雅黑"/>
                        </a:rPr>
                        <a:t>w_c·ρ_con</a:t>
                      </a:r>
                    </a:p>
                    <a:p>
                      <a:r>
                        <a:rPr sz="1000" b="0">
                          <a:latin typeface="微软雅黑"/>
                        </a:rPr>
                        <a:t>(约束违反罚)</a:t>
                      </a:r>
                    </a:p>
                  </a:txBody>
                  <a:tcPr/>
                </a:tc>
                <a:tc>
                  <a:txBody>
                    <a:bodyPr/>
                    <a:lstStyle/>
                    <a:p>
                      <a:r>
                        <a:rPr sz="900" b="0" dirty="0" err="1">
                          <a:solidFill>
                            <a:srgbClr val="26262E"/>
                          </a:solidFill>
                          <a:latin typeface="微软雅黑"/>
                        </a:rPr>
                        <a:t>越界了重罚</a:t>
                      </a:r>
                      <a:r>
                        <a:rPr sz="900" b="0" dirty="0">
                          <a:solidFill>
                            <a:srgbClr val="26262E"/>
                          </a:solidFill>
                          <a:latin typeface="微软雅黑"/>
                        </a:rPr>
                        <a:t>！</a:t>
                      </a:r>
                    </a:p>
                  </a:txBody>
                  <a:tcPr/>
                </a:tc>
                <a:tc>
                  <a:txBody>
                    <a:bodyPr/>
                    <a:lstStyle/>
                    <a:p>
                      <a:r>
                        <a:rPr sz="900" b="0">
                          <a:solidFill>
                            <a:srgbClr val="26262E"/>
                          </a:solidFill>
                          <a:latin typeface="微软雅黑"/>
                        </a:rPr>
                        <a:t>10.0</a:t>
                      </a:r>
                    </a:p>
                  </a:txBody>
                  <a:tcPr/>
                </a:tc>
                <a:tc>
                  <a:txBody>
                    <a:bodyPr/>
                    <a:lstStyle/>
                    <a:p>
                      <a:r>
                        <a:rPr sz="900" b="0" dirty="0" err="1">
                          <a:solidFill>
                            <a:srgbClr val="26262E"/>
                          </a:solidFill>
                          <a:latin typeface="微软雅黑"/>
                        </a:rPr>
                        <a:t>安全</a:t>
                      </a:r>
                      <a:r>
                        <a:rPr sz="900" b="0" dirty="0">
                          <a:solidFill>
                            <a:srgbClr val="26262E"/>
                          </a:solidFill>
                          <a:latin typeface="微软雅黑"/>
                        </a:rPr>
                        <a:t> &gt;&gt; </a:t>
                      </a:r>
                      <a:r>
                        <a:rPr sz="900" b="0" dirty="0" err="1">
                          <a:solidFill>
                            <a:srgbClr val="26262E"/>
                          </a:solidFill>
                          <a:latin typeface="微软雅黑"/>
                        </a:rPr>
                        <a:t>性能</a:t>
                      </a:r>
                      <a:endParaRPr sz="900" b="0" dirty="0">
                        <a:solidFill>
                          <a:srgbClr val="26262E"/>
                        </a:solidFill>
                        <a:latin typeface="微软雅黑"/>
                      </a:endParaRPr>
                    </a:p>
                  </a:txBody>
                  <a:tcPr/>
                </a:tc>
                <a:extLst>
                  <a:ext uri="{0D108BD9-81ED-4DB2-BD59-A6C34878D82A}">
                    <a16:rowId xmlns:a16="http://schemas.microsoft.com/office/drawing/2014/main" val="10008"/>
                  </a:ext>
                </a:extLst>
              </a:tr>
            </a:tbl>
          </a:graphicData>
        </a:graphic>
      </p:graphicFrame>
      <p:sp>
        <p:nvSpPr>
          <p:cNvPr id="26" name="TextBox 25"/>
          <p:cNvSpPr txBox="1"/>
          <p:nvPr/>
        </p:nvSpPr>
        <p:spPr>
          <a:xfrm>
            <a:off x="6583680" y="1159133"/>
            <a:ext cx="5120640" cy="365760"/>
          </a:xfrm>
          <a:prstGeom prst="rect">
            <a:avLst/>
          </a:prstGeom>
          <a:noFill/>
        </p:spPr>
        <p:txBody>
          <a:bodyPr wrap="square">
            <a:spAutoFit/>
          </a:bodyPr>
          <a:lstStyle/>
          <a:p>
            <a:pPr>
              <a:lnSpc>
                <a:spcPct val="112000"/>
              </a:lnSpc>
              <a:spcAft>
                <a:spcPts val="200"/>
              </a:spcAft>
            </a:pPr>
            <a:r>
              <a:rPr sz="1400" b="1" dirty="0">
                <a:solidFill>
                  <a:srgbClr val="514D83"/>
                </a:solidFill>
                <a:latin typeface="微软雅黑"/>
              </a:rPr>
              <a:t>TD3 </a:t>
            </a:r>
            <a:r>
              <a:rPr sz="1400" b="1" dirty="0" err="1">
                <a:solidFill>
                  <a:srgbClr val="514D83"/>
                </a:solidFill>
                <a:latin typeface="微软雅黑"/>
              </a:rPr>
              <a:t>超参数（每个都解释了为什么</a:t>
            </a:r>
            <a:r>
              <a:rPr sz="1400" b="1" dirty="0">
                <a:solidFill>
                  <a:srgbClr val="514D83"/>
                </a:solidFill>
                <a:latin typeface="微软雅黑"/>
              </a:rPr>
              <a:t>）</a:t>
            </a:r>
          </a:p>
        </p:txBody>
      </p:sp>
      <p:graphicFrame>
        <p:nvGraphicFramePr>
          <p:cNvPr id="27" name="Table 26"/>
          <p:cNvGraphicFramePr>
            <a:graphicFrameLocks noGrp="1"/>
          </p:cNvGraphicFramePr>
          <p:nvPr>
            <p:extLst>
              <p:ext uri="{D42A27DB-BD31-4B8C-83A1-F6EECF244321}">
                <p14:modId xmlns:p14="http://schemas.microsoft.com/office/powerpoint/2010/main" val="2662159715"/>
              </p:ext>
            </p:extLst>
          </p:nvPr>
        </p:nvGraphicFramePr>
        <p:xfrm>
          <a:off x="6583680" y="1662053"/>
          <a:ext cx="5120640" cy="5212080"/>
        </p:xfrm>
        <a:graphic>
          <a:graphicData uri="http://schemas.openxmlformats.org/drawingml/2006/table">
            <a:tbl>
              <a:tblPr firstRow="1" bandRow="1">
                <a:tableStyleId>{5C22544A-7EE6-4342-B048-85BDC9FD1C3A}</a:tableStyleId>
              </a:tblPr>
              <a:tblGrid>
                <a:gridCol w="910336">
                  <a:extLst>
                    <a:ext uri="{9D8B030D-6E8A-4147-A177-3AD203B41FA5}">
                      <a16:colId xmlns:a16="http://schemas.microsoft.com/office/drawing/2014/main" val="20000"/>
                    </a:ext>
                  </a:extLst>
                </a:gridCol>
                <a:gridCol w="796544">
                  <a:extLst>
                    <a:ext uri="{9D8B030D-6E8A-4147-A177-3AD203B41FA5}">
                      <a16:colId xmlns:a16="http://schemas.microsoft.com/office/drawing/2014/main" val="20001"/>
                    </a:ext>
                  </a:extLst>
                </a:gridCol>
                <a:gridCol w="3413760">
                  <a:extLst>
                    <a:ext uri="{9D8B030D-6E8A-4147-A177-3AD203B41FA5}">
                      <a16:colId xmlns:a16="http://schemas.microsoft.com/office/drawing/2014/main" val="20002"/>
                    </a:ext>
                  </a:extLst>
                </a:gridCol>
              </a:tblGrid>
              <a:tr h="256032">
                <a:tc>
                  <a:txBody>
                    <a:bodyPr/>
                    <a:lstStyle/>
                    <a:p>
                      <a:r>
                        <a:rPr sz="1000" b="1">
                          <a:latin typeface="微软雅黑"/>
                        </a:rPr>
                        <a:t>参数（中文名）</a:t>
                      </a:r>
                    </a:p>
                  </a:txBody>
                  <a:tcPr/>
                </a:tc>
                <a:tc>
                  <a:txBody>
                    <a:bodyPr/>
                    <a:lstStyle/>
                    <a:p>
                      <a:r>
                        <a:rPr sz="900" b="1">
                          <a:solidFill>
                            <a:srgbClr val="26262E"/>
                          </a:solidFill>
                          <a:latin typeface="微软雅黑"/>
                        </a:rPr>
                        <a:t>值</a:t>
                      </a:r>
                    </a:p>
                  </a:txBody>
                  <a:tcPr/>
                </a:tc>
                <a:tc>
                  <a:txBody>
                    <a:bodyPr/>
                    <a:lstStyle/>
                    <a:p>
                      <a:r>
                        <a:rPr sz="900" b="1">
                          <a:solidFill>
                            <a:srgbClr val="26262E"/>
                          </a:solidFill>
                          <a:latin typeface="微软雅黑"/>
                        </a:rPr>
                        <a:t>大白话</a:t>
                      </a:r>
                    </a:p>
                  </a:txBody>
                  <a:tcPr/>
                </a:tc>
                <a:extLst>
                  <a:ext uri="{0D108BD9-81ED-4DB2-BD59-A6C34878D82A}">
                    <a16:rowId xmlns:a16="http://schemas.microsoft.com/office/drawing/2014/main" val="10000"/>
                  </a:ext>
                </a:extLst>
              </a:tr>
              <a:tr h="256032">
                <a:tc>
                  <a:txBody>
                    <a:bodyPr/>
                    <a:lstStyle/>
                    <a:p>
                      <a:r>
                        <a:rPr sz="1000" b="0">
                          <a:latin typeface="微软雅黑"/>
                        </a:rPr>
                        <a:t>δ_max</a:t>
                      </a:r>
                    </a:p>
                    <a:p>
                      <a:r>
                        <a:rPr sz="1000" b="0">
                          <a:latin typeface="微软雅黑"/>
                        </a:rPr>
                        <a:t>(残差上界)</a:t>
                      </a:r>
                    </a:p>
                  </a:txBody>
                  <a:tcPr/>
                </a:tc>
                <a:tc>
                  <a:txBody>
                    <a:bodyPr/>
                    <a:lstStyle/>
                    <a:p>
                      <a:r>
                        <a:rPr sz="900" b="0">
                          <a:solidFill>
                            <a:srgbClr val="26262E"/>
                          </a:solidFill>
                          <a:latin typeface="微软雅黑"/>
                        </a:rPr>
                        <a:t>0.1</a:t>
                      </a:r>
                    </a:p>
                  </a:txBody>
                  <a:tcPr/>
                </a:tc>
                <a:tc>
                  <a:txBody>
                    <a:bodyPr/>
                    <a:lstStyle/>
                    <a:p>
                      <a:r>
                        <a:rPr sz="900" b="0">
                          <a:solidFill>
                            <a:srgbClr val="26262E"/>
                          </a:solidFill>
                          <a:latin typeface="微软雅黑"/>
                        </a:rPr>
                        <a:t>每步最多把 α 拨动 10%</a:t>
                      </a:r>
                    </a:p>
                  </a:txBody>
                  <a:tcPr/>
                </a:tc>
                <a:extLst>
                  <a:ext uri="{0D108BD9-81ED-4DB2-BD59-A6C34878D82A}">
                    <a16:rowId xmlns:a16="http://schemas.microsoft.com/office/drawing/2014/main" val="10001"/>
                  </a:ext>
                </a:extLst>
              </a:tr>
              <a:tr h="256032">
                <a:tc>
                  <a:txBody>
                    <a:bodyPr/>
                    <a:lstStyle/>
                    <a:p>
                      <a:r>
                        <a:rPr sz="1000" b="0">
                          <a:latin typeface="微软雅黑"/>
                        </a:rPr>
                        <a:t>α_lr</a:t>
                      </a:r>
                    </a:p>
                    <a:p>
                      <a:r>
                        <a:rPr sz="1000" b="0">
                          <a:latin typeface="微软雅黑"/>
                        </a:rPr>
                        <a:t>(策略学习率)</a:t>
                      </a:r>
                    </a:p>
                  </a:txBody>
                  <a:tcPr/>
                </a:tc>
                <a:tc>
                  <a:txBody>
                    <a:bodyPr/>
                    <a:lstStyle/>
                    <a:p>
                      <a:r>
                        <a:rPr sz="900" b="0">
                          <a:solidFill>
                            <a:srgbClr val="26262E"/>
                          </a:solidFill>
                          <a:latin typeface="微软雅黑"/>
                        </a:rPr>
                        <a:t>1e-4</a:t>
                      </a:r>
                    </a:p>
                  </a:txBody>
                  <a:tcPr/>
                </a:tc>
                <a:tc>
                  <a:txBody>
                    <a:bodyPr/>
                    <a:lstStyle/>
                    <a:p>
                      <a:r>
                        <a:rPr sz="900" b="0">
                          <a:solidFill>
                            <a:srgbClr val="26262E"/>
                          </a:solidFill>
                          <a:latin typeface="微软雅黑"/>
                        </a:rPr>
                        <a:t>策略学慢一点，稳</a:t>
                      </a:r>
                    </a:p>
                  </a:txBody>
                  <a:tcPr/>
                </a:tc>
                <a:extLst>
                  <a:ext uri="{0D108BD9-81ED-4DB2-BD59-A6C34878D82A}">
                    <a16:rowId xmlns:a16="http://schemas.microsoft.com/office/drawing/2014/main" val="10002"/>
                  </a:ext>
                </a:extLst>
              </a:tr>
              <a:tr h="256032">
                <a:tc>
                  <a:txBody>
                    <a:bodyPr/>
                    <a:lstStyle/>
                    <a:p>
                      <a:r>
                        <a:rPr sz="1000" b="0">
                          <a:latin typeface="微软雅黑"/>
                        </a:rPr>
                        <a:t>c_lr</a:t>
                      </a:r>
                    </a:p>
                    <a:p>
                      <a:r>
                        <a:rPr sz="1000" b="0">
                          <a:latin typeface="微软雅黑"/>
                        </a:rPr>
                        <a:t>(评论家学习率)</a:t>
                      </a:r>
                    </a:p>
                  </a:txBody>
                  <a:tcPr/>
                </a:tc>
                <a:tc>
                  <a:txBody>
                    <a:bodyPr/>
                    <a:lstStyle/>
                    <a:p>
                      <a:r>
                        <a:rPr sz="900" b="0">
                          <a:solidFill>
                            <a:srgbClr val="26262E"/>
                          </a:solidFill>
                          <a:latin typeface="微软雅黑"/>
                        </a:rPr>
                        <a:t>1e-3</a:t>
                      </a:r>
                    </a:p>
                  </a:txBody>
                  <a:tcPr/>
                </a:tc>
                <a:tc>
                  <a:txBody>
                    <a:bodyPr/>
                    <a:lstStyle/>
                    <a:p>
                      <a:r>
                        <a:rPr sz="900" b="0">
                          <a:solidFill>
                            <a:srgbClr val="26262E"/>
                          </a:solidFill>
                          <a:latin typeface="微软雅黑"/>
                        </a:rPr>
                        <a:t>评价家学快一点，先看清再教</a:t>
                      </a:r>
                    </a:p>
                  </a:txBody>
                  <a:tcPr/>
                </a:tc>
                <a:extLst>
                  <a:ext uri="{0D108BD9-81ED-4DB2-BD59-A6C34878D82A}">
                    <a16:rowId xmlns:a16="http://schemas.microsoft.com/office/drawing/2014/main" val="10003"/>
                  </a:ext>
                </a:extLst>
              </a:tr>
              <a:tr h="256032">
                <a:tc>
                  <a:txBody>
                    <a:bodyPr/>
                    <a:lstStyle/>
                    <a:p>
                      <a:r>
                        <a:rPr sz="1000" b="0">
                          <a:latin typeface="微软雅黑"/>
                        </a:rPr>
                        <a:t>γ</a:t>
                      </a:r>
                    </a:p>
                    <a:p>
                      <a:r>
                        <a:rPr sz="1000" b="0">
                          <a:latin typeface="微软雅黑"/>
                        </a:rPr>
                        <a:t>(折扣因子)</a:t>
                      </a:r>
                    </a:p>
                  </a:txBody>
                  <a:tcPr/>
                </a:tc>
                <a:tc>
                  <a:txBody>
                    <a:bodyPr/>
                    <a:lstStyle/>
                    <a:p>
                      <a:r>
                        <a:rPr sz="900" b="0">
                          <a:solidFill>
                            <a:srgbClr val="26262E"/>
                          </a:solidFill>
                          <a:latin typeface="微软雅黑"/>
                        </a:rPr>
                        <a:t>0.99</a:t>
                      </a:r>
                    </a:p>
                  </a:txBody>
                  <a:tcPr/>
                </a:tc>
                <a:tc>
                  <a:txBody>
                    <a:bodyPr/>
                    <a:lstStyle/>
                    <a:p>
                      <a:r>
                        <a:rPr sz="900" b="0">
                          <a:solidFill>
                            <a:srgbClr val="26262E"/>
                          </a:solidFill>
                          <a:latin typeface="微软雅黑"/>
                        </a:rPr>
                        <a:t>关心长期（未来 1 步≈现在 99%）</a:t>
                      </a:r>
                    </a:p>
                  </a:txBody>
                  <a:tcPr/>
                </a:tc>
                <a:extLst>
                  <a:ext uri="{0D108BD9-81ED-4DB2-BD59-A6C34878D82A}">
                    <a16:rowId xmlns:a16="http://schemas.microsoft.com/office/drawing/2014/main" val="10004"/>
                  </a:ext>
                </a:extLst>
              </a:tr>
              <a:tr h="256032">
                <a:tc>
                  <a:txBody>
                    <a:bodyPr/>
                    <a:lstStyle/>
                    <a:p>
                      <a:r>
                        <a:rPr sz="1000" b="0">
                          <a:latin typeface="微软雅黑"/>
                        </a:rPr>
                        <a:t>τ</a:t>
                      </a:r>
                    </a:p>
                    <a:p>
                      <a:r>
                        <a:rPr sz="1000" b="0">
                          <a:latin typeface="微软雅黑"/>
                        </a:rPr>
                        <a:t>(软更新率)</a:t>
                      </a:r>
                    </a:p>
                  </a:txBody>
                  <a:tcPr/>
                </a:tc>
                <a:tc>
                  <a:txBody>
                    <a:bodyPr/>
                    <a:lstStyle/>
                    <a:p>
                      <a:r>
                        <a:rPr sz="900" b="0">
                          <a:solidFill>
                            <a:srgbClr val="26262E"/>
                          </a:solidFill>
                          <a:latin typeface="微软雅黑"/>
                        </a:rPr>
                        <a:t>0.005</a:t>
                      </a:r>
                    </a:p>
                  </a:txBody>
                  <a:tcPr/>
                </a:tc>
                <a:tc>
                  <a:txBody>
                    <a:bodyPr/>
                    <a:lstStyle/>
                    <a:p>
                      <a:r>
                        <a:rPr sz="900" b="0">
                          <a:solidFill>
                            <a:srgbClr val="26262E"/>
                          </a:solidFill>
                          <a:latin typeface="微软雅黑"/>
                        </a:rPr>
                        <a:t>目标网络慢慢跟，防训练震荡</a:t>
                      </a:r>
                    </a:p>
                  </a:txBody>
                  <a:tcPr/>
                </a:tc>
                <a:extLst>
                  <a:ext uri="{0D108BD9-81ED-4DB2-BD59-A6C34878D82A}">
                    <a16:rowId xmlns:a16="http://schemas.microsoft.com/office/drawing/2014/main" val="10005"/>
                  </a:ext>
                </a:extLst>
              </a:tr>
              <a:tr h="256032">
                <a:tc>
                  <a:txBody>
                    <a:bodyPr/>
                    <a:lstStyle/>
                    <a:p>
                      <a:r>
                        <a:rPr sz="1000" b="0">
                          <a:latin typeface="微软雅黑"/>
                        </a:rPr>
                        <a:t>d</a:t>
                      </a:r>
                    </a:p>
                    <a:p>
                      <a:r>
                        <a:rPr sz="1000" b="0">
                          <a:latin typeface="微软雅黑"/>
                        </a:rPr>
                        <a:t>(策略延迟)</a:t>
                      </a:r>
                    </a:p>
                  </a:txBody>
                  <a:tcPr/>
                </a:tc>
                <a:tc>
                  <a:txBody>
                    <a:bodyPr/>
                    <a:lstStyle/>
                    <a:p>
                      <a:r>
                        <a:rPr sz="900" b="0">
                          <a:solidFill>
                            <a:srgbClr val="26262E"/>
                          </a:solidFill>
                          <a:latin typeface="微软雅黑"/>
                        </a:rPr>
                        <a:t>2</a:t>
                      </a:r>
                    </a:p>
                  </a:txBody>
                  <a:tcPr/>
                </a:tc>
                <a:tc>
                  <a:txBody>
                    <a:bodyPr/>
                    <a:lstStyle/>
                    <a:p>
                      <a:r>
                        <a:rPr sz="900" b="0">
                          <a:solidFill>
                            <a:srgbClr val="26262E"/>
                          </a:solidFill>
                          <a:latin typeface="微软雅黑"/>
                        </a:rPr>
                        <a:t>每 2 步才更新策略，先想清楚</a:t>
                      </a:r>
                    </a:p>
                  </a:txBody>
                  <a:tcPr/>
                </a:tc>
                <a:extLst>
                  <a:ext uri="{0D108BD9-81ED-4DB2-BD59-A6C34878D82A}">
                    <a16:rowId xmlns:a16="http://schemas.microsoft.com/office/drawing/2014/main" val="10006"/>
                  </a:ext>
                </a:extLst>
              </a:tr>
              <a:tr h="256032">
                <a:tc>
                  <a:txBody>
                    <a:bodyPr/>
                    <a:lstStyle/>
                    <a:p>
                      <a:r>
                        <a:rPr sz="1000" b="0">
                          <a:latin typeface="微软雅黑"/>
                        </a:rPr>
                        <a:t>σ_t/c_t</a:t>
                      </a:r>
                    </a:p>
                    <a:p>
                      <a:r>
                        <a:rPr sz="1000" b="0">
                          <a:latin typeface="微软雅黑"/>
                        </a:rPr>
                        <a:t>(目标噪声/裁剪)</a:t>
                      </a:r>
                    </a:p>
                  </a:txBody>
                  <a:tcPr/>
                </a:tc>
                <a:tc>
                  <a:txBody>
                    <a:bodyPr/>
                    <a:lstStyle/>
                    <a:p>
                      <a:r>
                        <a:rPr sz="900" b="0">
                          <a:solidFill>
                            <a:srgbClr val="26262E"/>
                          </a:solidFill>
                          <a:latin typeface="微软雅黑"/>
                        </a:rPr>
                        <a:t>0.2/0.5</a:t>
                      </a:r>
                    </a:p>
                  </a:txBody>
                  <a:tcPr/>
                </a:tc>
                <a:tc>
                  <a:txBody>
                    <a:bodyPr/>
                    <a:lstStyle/>
                    <a:p>
                      <a:r>
                        <a:rPr sz="900" b="0">
                          <a:solidFill>
                            <a:srgbClr val="26262E"/>
                          </a:solidFill>
                          <a:latin typeface="微软雅黑"/>
                        </a:rPr>
                        <a:t>给目标加小噪声+裁剪，防过拟合</a:t>
                      </a:r>
                    </a:p>
                  </a:txBody>
                  <a:tcPr/>
                </a:tc>
                <a:extLst>
                  <a:ext uri="{0D108BD9-81ED-4DB2-BD59-A6C34878D82A}">
                    <a16:rowId xmlns:a16="http://schemas.microsoft.com/office/drawing/2014/main" val="10007"/>
                  </a:ext>
                </a:extLst>
              </a:tr>
              <a:tr h="256032">
                <a:tc>
                  <a:txBody>
                    <a:bodyPr/>
                    <a:lstStyle/>
                    <a:p>
                      <a:r>
                        <a:rPr sz="1000" b="0">
                          <a:latin typeface="微软雅黑"/>
                        </a:rPr>
                        <a:t>σ_e</a:t>
                      </a:r>
                    </a:p>
                    <a:p>
                      <a:r>
                        <a:rPr sz="1000" b="0">
                          <a:latin typeface="微软雅黑"/>
                        </a:rPr>
                        <a:t>(探索噪声)</a:t>
                      </a:r>
                    </a:p>
                  </a:txBody>
                  <a:tcPr/>
                </a:tc>
                <a:tc>
                  <a:txBody>
                    <a:bodyPr/>
                    <a:lstStyle/>
                    <a:p>
                      <a:r>
                        <a:rPr sz="900" b="0">
                          <a:solidFill>
                            <a:srgbClr val="26262E"/>
                          </a:solidFill>
                          <a:latin typeface="微软雅黑"/>
                        </a:rPr>
                        <a:t>0.1</a:t>
                      </a:r>
                    </a:p>
                  </a:txBody>
                  <a:tcPr/>
                </a:tc>
                <a:tc>
                  <a:txBody>
                    <a:bodyPr/>
                    <a:lstStyle/>
                    <a:p>
                      <a:r>
                        <a:rPr sz="900" b="0">
                          <a:solidFill>
                            <a:srgbClr val="26262E"/>
                          </a:solidFill>
                          <a:latin typeface="微软雅黑"/>
                        </a:rPr>
                        <a:t>探索时轻微随机试错</a:t>
                      </a:r>
                    </a:p>
                  </a:txBody>
                  <a:tcPr/>
                </a:tc>
                <a:extLst>
                  <a:ext uri="{0D108BD9-81ED-4DB2-BD59-A6C34878D82A}">
                    <a16:rowId xmlns:a16="http://schemas.microsoft.com/office/drawing/2014/main" val="10008"/>
                  </a:ext>
                </a:extLst>
              </a:tr>
              <a:tr h="256032">
                <a:tc>
                  <a:txBody>
                    <a:bodyPr/>
                    <a:lstStyle/>
                    <a:p>
                      <a:r>
                        <a:rPr sz="1000" b="0">
                          <a:latin typeface="微软雅黑"/>
                        </a:rPr>
                        <a:t>B</a:t>
                      </a:r>
                    </a:p>
                    <a:p>
                      <a:r>
                        <a:rPr sz="1000" b="0">
                          <a:latin typeface="微软雅黑"/>
                        </a:rPr>
                        <a:t>(批大小)</a:t>
                      </a:r>
                    </a:p>
                  </a:txBody>
                  <a:tcPr/>
                </a:tc>
                <a:tc>
                  <a:txBody>
                    <a:bodyPr/>
                    <a:lstStyle/>
                    <a:p>
                      <a:r>
                        <a:rPr sz="900" b="0">
                          <a:solidFill>
                            <a:srgbClr val="26262E"/>
                          </a:solidFill>
                          <a:latin typeface="微软雅黑"/>
                        </a:rPr>
                        <a:t>256</a:t>
                      </a:r>
                    </a:p>
                  </a:txBody>
                  <a:tcPr/>
                </a:tc>
                <a:tc>
                  <a:txBody>
                    <a:bodyPr/>
                    <a:lstStyle/>
                    <a:p>
                      <a:r>
                        <a:rPr sz="900" b="0">
                          <a:solidFill>
                            <a:srgbClr val="26262E"/>
                          </a:solidFill>
                          <a:latin typeface="微软雅黑"/>
                        </a:rPr>
                        <a:t>每次从记忆库抽 256 条经验</a:t>
                      </a:r>
                    </a:p>
                  </a:txBody>
                  <a:tcPr/>
                </a:tc>
                <a:extLst>
                  <a:ext uri="{0D108BD9-81ED-4DB2-BD59-A6C34878D82A}">
                    <a16:rowId xmlns:a16="http://schemas.microsoft.com/office/drawing/2014/main" val="10009"/>
                  </a:ext>
                </a:extLst>
              </a:tr>
              <a:tr h="256032">
                <a:tc>
                  <a:txBody>
                    <a:bodyPr/>
                    <a:lstStyle/>
                    <a:p>
                      <a:r>
                        <a:rPr sz="1000" b="0">
                          <a:latin typeface="微软雅黑"/>
                        </a:rPr>
                        <a:t>N_warm</a:t>
                      </a:r>
                    </a:p>
                    <a:p>
                      <a:r>
                        <a:rPr sz="1000" b="0">
                          <a:latin typeface="微软雅黑"/>
                        </a:rPr>
                        <a:t>(热启动数)</a:t>
                      </a:r>
                    </a:p>
                  </a:txBody>
                  <a:tcPr/>
                </a:tc>
                <a:tc>
                  <a:txBody>
                    <a:bodyPr/>
                    <a:lstStyle/>
                    <a:p>
                      <a:r>
                        <a:rPr sz="900" b="0">
                          <a:solidFill>
                            <a:srgbClr val="26262E"/>
                          </a:solidFill>
                          <a:latin typeface="微软雅黑"/>
                        </a:rPr>
                        <a:t>2×10⁵</a:t>
                      </a:r>
                    </a:p>
                  </a:txBody>
                  <a:tcPr/>
                </a:tc>
                <a:tc>
                  <a:txBody>
                    <a:bodyPr/>
                    <a:lstStyle/>
                    <a:p>
                      <a:r>
                        <a:rPr sz="900" b="0">
                          <a:solidFill>
                            <a:srgbClr val="26262E"/>
                          </a:solidFill>
                          <a:latin typeface="微软雅黑"/>
                        </a:rPr>
                        <a:t>先看 20 万条旧经验再上手</a:t>
                      </a:r>
                    </a:p>
                  </a:txBody>
                  <a:tcPr/>
                </a:tc>
                <a:extLst>
                  <a:ext uri="{0D108BD9-81ED-4DB2-BD59-A6C34878D82A}">
                    <a16:rowId xmlns:a16="http://schemas.microsoft.com/office/drawing/2014/main" val="10010"/>
                  </a:ext>
                </a:extLst>
              </a:tr>
              <a:tr h="256032">
                <a:tc>
                  <a:txBody>
                    <a:bodyPr/>
                    <a:lstStyle/>
                    <a:p>
                      <a:r>
                        <a:rPr sz="1000" b="0">
                          <a:latin typeface="微软雅黑"/>
                        </a:rPr>
                        <a:t>λ</a:t>
                      </a:r>
                    </a:p>
                    <a:p>
                      <a:r>
                        <a:rPr sz="1000" b="0">
                          <a:latin typeface="微软雅黑"/>
                        </a:rPr>
                        <a:t>(行为正则系数)</a:t>
                      </a:r>
                    </a:p>
                  </a:txBody>
                  <a:tcPr/>
                </a:tc>
                <a:tc>
                  <a:txBody>
                    <a:bodyPr/>
                    <a:lstStyle/>
                    <a:p>
                      <a:r>
                        <a:rPr sz="900" b="0">
                          <a:solidFill>
                            <a:srgbClr val="26262E"/>
                          </a:solidFill>
                          <a:latin typeface="微软雅黑"/>
                        </a:rPr>
                        <a:t>0.01</a:t>
                      </a:r>
                    </a:p>
                  </a:txBody>
                  <a:tcPr/>
                </a:tc>
                <a:tc>
                  <a:txBody>
                    <a:bodyPr/>
                    <a:lstStyle/>
                    <a:p>
                      <a:r>
                        <a:rPr sz="900" b="0">
                          <a:solidFill>
                            <a:srgbClr val="26262E"/>
                          </a:solidFill>
                          <a:latin typeface="微软雅黑"/>
                        </a:rPr>
                        <a:t>别偏离老师（监督基线）太远</a:t>
                      </a:r>
                    </a:p>
                  </a:txBody>
                  <a:tcPr/>
                </a:tc>
                <a:extLst>
                  <a:ext uri="{0D108BD9-81ED-4DB2-BD59-A6C34878D82A}">
                    <a16:rowId xmlns:a16="http://schemas.microsoft.com/office/drawing/2014/main" val="10011"/>
                  </a:ext>
                </a:extLst>
              </a:tr>
            </a:tbl>
          </a:graphicData>
        </a:graphic>
      </p:graphicFrame>
      <p:pic>
        <p:nvPicPr>
          <p:cNvPr id="29" name="Picture 28" descr="image.png"/>
          <p:cNvPicPr>
            <a:picLocks noChangeAspect="1"/>
          </p:cNvPicPr>
          <p:nvPr/>
        </p:nvPicPr>
        <p:blipFill>
          <a:blip r:embed="rId4"/>
          <a:stretch>
            <a:fillRect/>
          </a:stretch>
        </p:blipFill>
        <p:spPr>
          <a:xfrm>
            <a:off x="274320" y="6025896"/>
            <a:ext cx="4572000" cy="581328"/>
          </a:xfrm>
          <a:prstGeom prst="rect">
            <a:avLst/>
          </a:prstGeom>
        </p:spPr>
      </p:pic>
    </p:spTree>
    <p:extLst>
      <p:ext uri="{BB962C8B-B14F-4D97-AF65-F5344CB8AC3E}">
        <p14:creationId xmlns:p14="http://schemas.microsoft.com/office/powerpoint/2010/main" val="2639805905"/>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F6955C-D47C-34B6-8A34-9DDB2EFCD5DE}"/>
            </a:ext>
          </a:extLst>
        </p:cNvPr>
        <p:cNvGrpSpPr/>
        <p:nvPr/>
      </p:nvGrpSpPr>
      <p:grpSpPr>
        <a:xfrm>
          <a:off x="0" y="0"/>
          <a:ext cx="0" cy="0"/>
          <a:chOff x="0" y="0"/>
          <a:chExt cx="0" cy="0"/>
        </a:xfrm>
      </p:grpSpPr>
      <p:sp>
        <p:nvSpPr>
          <p:cNvPr id="7" name="文本框 6">
            <a:extLst>
              <a:ext uri="{FF2B5EF4-FFF2-40B4-BE49-F238E27FC236}">
                <a16:creationId xmlns:a16="http://schemas.microsoft.com/office/drawing/2014/main" id="{C9B22A7A-C348-98A1-576D-13ECA5DBA6F8}"/>
              </a:ext>
            </a:extLst>
          </p:cNvPr>
          <p:cNvSpPr txBox="1"/>
          <p:nvPr/>
        </p:nvSpPr>
        <p:spPr>
          <a:xfrm>
            <a:off x="10461848" y="299500"/>
            <a:ext cx="1197832" cy="369332"/>
          </a:xfrm>
          <a:prstGeom prst="rect">
            <a:avLst/>
          </a:prstGeom>
          <a:noFill/>
        </p:spPr>
        <p:txBody>
          <a:bodyPr wrap="square" rtlCol="0">
            <a:spAutoFit/>
          </a:bodyPr>
          <a:lstStyle/>
          <a:p>
            <a:pPr algn="ctr"/>
            <a:r>
              <a:rPr kumimoji="1" lang="zh-CN" altLang="en-US" b="1" spc="110" dirty="0">
                <a:solidFill>
                  <a:schemeClr val="bg1"/>
                </a:solidFill>
                <a:latin typeface="微软雅黑" panose="020B0503020204020204" pitchFamily="34" charset="-122"/>
                <a:ea typeface="微软雅黑" panose="020B0503020204020204" pitchFamily="34" charset="-122"/>
              </a:rPr>
              <a:t>读研展望</a:t>
            </a:r>
          </a:p>
        </p:txBody>
      </p:sp>
      <p:sp>
        <p:nvSpPr>
          <p:cNvPr id="9" name="文本框 8">
            <a:extLst>
              <a:ext uri="{FF2B5EF4-FFF2-40B4-BE49-F238E27FC236}">
                <a16:creationId xmlns:a16="http://schemas.microsoft.com/office/drawing/2014/main" id="{E3D22710-F48F-83BD-5165-DFF79B5EBC03}"/>
              </a:ext>
            </a:extLst>
          </p:cNvPr>
          <p:cNvSpPr txBox="1"/>
          <p:nvPr/>
        </p:nvSpPr>
        <p:spPr>
          <a:xfrm>
            <a:off x="2875146" y="179975"/>
            <a:ext cx="1336142" cy="369332"/>
          </a:xfrm>
          <a:prstGeom prst="rect">
            <a:avLst/>
          </a:prstGeom>
          <a:noFill/>
        </p:spPr>
        <p:txBody>
          <a:bodyPr wrap="square" rtlCol="0">
            <a:spAutoFit/>
          </a:bodyPr>
          <a:lstStyle/>
          <a:p>
            <a:pPr algn="ctr"/>
            <a:r>
              <a:rPr kumimoji="1" lang="zh-CN" altLang="en-US" b="1" spc="110" dirty="0">
                <a:solidFill>
                  <a:schemeClr val="bg1"/>
                </a:solidFill>
                <a:latin typeface="微软雅黑" panose="020B0503020204020204" pitchFamily="34" charset="-122"/>
                <a:ea typeface="微软雅黑" panose="020B0503020204020204" pitchFamily="34" charset="-122"/>
              </a:rPr>
              <a:t>个人简介</a:t>
            </a:r>
          </a:p>
        </p:txBody>
      </p:sp>
      <p:sp>
        <p:nvSpPr>
          <p:cNvPr id="15" name="椭圆 14">
            <a:extLst>
              <a:ext uri="{FF2B5EF4-FFF2-40B4-BE49-F238E27FC236}">
                <a16:creationId xmlns:a16="http://schemas.microsoft.com/office/drawing/2014/main" id="{47603519-F863-6680-5613-67F3B09991CE}"/>
              </a:ext>
            </a:extLst>
          </p:cNvPr>
          <p:cNvSpPr/>
          <p:nvPr/>
        </p:nvSpPr>
        <p:spPr>
          <a:xfrm>
            <a:off x="11750347" y="6411598"/>
            <a:ext cx="289344" cy="289344"/>
          </a:xfrm>
          <a:prstGeom prst="ellipse">
            <a:avLst/>
          </a:prstGeom>
          <a:solidFill>
            <a:schemeClr val="bg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CN" altLang="en-US">
              <a:solidFill>
                <a:schemeClr val="accent1"/>
              </a:solidFill>
            </a:endParaRPr>
          </a:p>
        </p:txBody>
      </p:sp>
      <p:sp>
        <p:nvSpPr>
          <p:cNvPr id="16" name="灯片编号占位符 18">
            <a:extLst>
              <a:ext uri="{FF2B5EF4-FFF2-40B4-BE49-F238E27FC236}">
                <a16:creationId xmlns:a16="http://schemas.microsoft.com/office/drawing/2014/main" id="{A68B2FDD-1F67-15BE-AB84-8D3654D72D26}"/>
              </a:ext>
            </a:extLst>
          </p:cNvPr>
          <p:cNvSpPr>
            <a:spLocks noGrp="1"/>
          </p:cNvSpPr>
          <p:nvPr>
            <p:ph type="sldNum" sz="quarter" idx="12"/>
          </p:nvPr>
        </p:nvSpPr>
        <p:spPr>
          <a:xfrm>
            <a:off x="11619554" y="6373707"/>
            <a:ext cx="550930" cy="365125"/>
          </a:xfrm>
        </p:spPr>
        <p:txBody>
          <a:bodyPr/>
          <a:lstStyle/>
          <a:p>
            <a:pPr algn="ctr"/>
            <a:fld id="{D290E156-FAFE-5144-A047-A692DE980B3A}" type="slidenum">
              <a:rPr kumimoji="1" lang="zh-CN" altLang="en-US" smtClean="0">
                <a:solidFill>
                  <a:schemeClr val="accent1"/>
                </a:solidFill>
                <a:latin typeface="Arial" panose="020B0604020202020204" pitchFamily="34" charset="0"/>
                <a:cs typeface="Arial" panose="020B0604020202020204" pitchFamily="34" charset="0"/>
              </a:rPr>
              <a:t>6</a:t>
            </a:fld>
            <a:endParaRPr kumimoji="1" lang="zh-CN" altLang="en-US" dirty="0">
              <a:solidFill>
                <a:schemeClr val="accent1"/>
              </a:solidFill>
              <a:latin typeface="Arial" panose="020B0604020202020204" pitchFamily="34" charset="0"/>
              <a:cs typeface="Arial" panose="020B0604020202020204" pitchFamily="34" charset="0"/>
            </a:endParaRPr>
          </a:p>
        </p:txBody>
      </p:sp>
      <p:sp>
        <p:nvSpPr>
          <p:cNvPr id="6" name="文本框 5">
            <a:extLst>
              <a:ext uri="{FF2B5EF4-FFF2-40B4-BE49-F238E27FC236}">
                <a16:creationId xmlns:a16="http://schemas.microsoft.com/office/drawing/2014/main" id="{4713D3E4-2A0A-334E-1A4E-8CFFD6956192}"/>
              </a:ext>
            </a:extLst>
          </p:cNvPr>
          <p:cNvSpPr txBox="1"/>
          <p:nvPr/>
        </p:nvSpPr>
        <p:spPr>
          <a:xfrm>
            <a:off x="5032257" y="179975"/>
            <a:ext cx="1985202" cy="369332"/>
          </a:xfrm>
          <a:prstGeom prst="rect">
            <a:avLst/>
          </a:prstGeom>
          <a:noFill/>
        </p:spPr>
        <p:txBody>
          <a:bodyPr wrap="square" rtlCol="0">
            <a:spAutoFit/>
          </a:bodyPr>
          <a:lstStyle/>
          <a:p>
            <a:pPr algn="ctr"/>
            <a:r>
              <a:rPr kumimoji="1" lang="zh-CN" altLang="en-US" b="1" spc="110" dirty="0">
                <a:solidFill>
                  <a:schemeClr val="bg1"/>
                </a:solidFill>
                <a:latin typeface="微软雅黑" panose="020B0503020204020204" pitchFamily="34" charset="-122"/>
                <a:ea typeface="微软雅黑" panose="020B0503020204020204" pitchFamily="34" charset="-122"/>
              </a:rPr>
              <a:t>本科经历</a:t>
            </a:r>
          </a:p>
        </p:txBody>
      </p:sp>
      <p:sp>
        <p:nvSpPr>
          <p:cNvPr id="3" name="任意形状 2">
            <a:extLst>
              <a:ext uri="{FF2B5EF4-FFF2-40B4-BE49-F238E27FC236}">
                <a16:creationId xmlns:a16="http://schemas.microsoft.com/office/drawing/2014/main" id="{D0B08B9A-BF96-77DB-11B9-1ED74EC3936D}"/>
              </a:ext>
            </a:extLst>
          </p:cNvPr>
          <p:cNvSpPr/>
          <p:nvPr/>
        </p:nvSpPr>
        <p:spPr>
          <a:xfrm>
            <a:off x="0" y="0"/>
            <a:ext cx="9896847" cy="662946"/>
          </a:xfrm>
          <a:custGeom>
            <a:avLst/>
            <a:gdLst>
              <a:gd name="connsiteX0" fmla="*/ 0 w 8681972"/>
              <a:gd name="connsiteY0" fmla="*/ 0 h 689675"/>
              <a:gd name="connsiteX1" fmla="*/ 8681972 w 8681972"/>
              <a:gd name="connsiteY1" fmla="*/ 0 h 689675"/>
              <a:gd name="connsiteX2" fmla="*/ 8461124 w 8681972"/>
              <a:gd name="connsiteY2" fmla="*/ 344837 h 689675"/>
              <a:gd name="connsiteX3" fmla="*/ 8681972 w 8681972"/>
              <a:gd name="connsiteY3" fmla="*/ 689675 h 689675"/>
              <a:gd name="connsiteX4" fmla="*/ 0 w 8681972"/>
              <a:gd name="connsiteY4" fmla="*/ 689675 h 689675"/>
              <a:gd name="connsiteX5" fmla="*/ 0 w 8681972"/>
              <a:gd name="connsiteY5" fmla="*/ 0 h 6896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681972" h="689675">
                <a:moveTo>
                  <a:pt x="0" y="0"/>
                </a:moveTo>
                <a:lnTo>
                  <a:pt x="8681972" y="0"/>
                </a:lnTo>
                <a:lnTo>
                  <a:pt x="8461124" y="344837"/>
                </a:lnTo>
                <a:lnTo>
                  <a:pt x="8681972" y="689675"/>
                </a:lnTo>
                <a:lnTo>
                  <a:pt x="0" y="689675"/>
                </a:lnTo>
                <a:lnTo>
                  <a:pt x="0" y="0"/>
                </a:lnTo>
                <a:close/>
              </a:path>
            </a:pathLst>
          </a:custGeom>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zh-CN" altLang="en-US" sz="1600"/>
          </a:p>
        </p:txBody>
      </p:sp>
      <p:sp>
        <p:nvSpPr>
          <p:cNvPr id="14" name="文本框 13">
            <a:extLst>
              <a:ext uri="{FF2B5EF4-FFF2-40B4-BE49-F238E27FC236}">
                <a16:creationId xmlns:a16="http://schemas.microsoft.com/office/drawing/2014/main" id="{CC7B61B0-DEA3-DA84-1A42-ADE5F9DC7A79}"/>
              </a:ext>
            </a:extLst>
          </p:cNvPr>
          <p:cNvSpPr txBox="1"/>
          <p:nvPr/>
        </p:nvSpPr>
        <p:spPr>
          <a:xfrm>
            <a:off x="281981" y="79754"/>
            <a:ext cx="9335355" cy="523220"/>
          </a:xfrm>
          <a:prstGeom prst="rect">
            <a:avLst/>
          </a:prstGeom>
          <a:noFill/>
        </p:spPr>
        <p:txBody>
          <a:bodyPr wrap="square" rtlCol="0">
            <a:spAutoFit/>
          </a:bodyPr>
          <a:lstStyle>
            <a:defPPr>
              <a:defRPr lang="zh-CN"/>
            </a:defPPr>
            <a:lvl1pPr algn="ctr">
              <a:defRPr kumimoji="1" sz="4400" b="1" spc="300">
                <a:solidFill>
                  <a:schemeClr val="bg1"/>
                </a:solidFill>
                <a:latin typeface="微软雅黑" panose="020B0503020204020204" pitchFamily="34" charset="-122"/>
                <a:ea typeface="微软雅黑" panose="020B0503020204020204" pitchFamily="34" charset="-122"/>
              </a:defRPr>
            </a:lvl1pPr>
          </a:lstStyle>
          <a:p>
            <a:pPr algn="l"/>
            <a:r>
              <a:rPr lang="en-US" altLang="zh-CN" sz="1400" dirty="0"/>
              <a:t>Predictive Authority Control: Learning When and How Much to Trust Baseline Controllers for Robust Underwater Robot Tracking</a:t>
            </a:r>
            <a:endParaRPr lang="zh-CN" altLang="en-US" sz="1400" dirty="0"/>
          </a:p>
        </p:txBody>
      </p:sp>
      <p:pic>
        <p:nvPicPr>
          <p:cNvPr id="2" name="图片 1">
            <a:extLst>
              <a:ext uri="{FF2B5EF4-FFF2-40B4-BE49-F238E27FC236}">
                <a16:creationId xmlns:a16="http://schemas.microsoft.com/office/drawing/2014/main" id="{C54A126C-62F3-4B1D-729B-35DA2D2588D5}"/>
              </a:ext>
            </a:extLst>
          </p:cNvPr>
          <p:cNvPicPr>
            <a:picLocks noChangeAspect="1"/>
          </p:cNvPicPr>
          <p:nvPr/>
        </p:nvPicPr>
        <p:blipFill>
          <a:blip r:embed="rId2"/>
          <a:stretch>
            <a:fillRect/>
          </a:stretch>
        </p:blipFill>
        <p:spPr>
          <a:xfrm>
            <a:off x="10121441" y="54734"/>
            <a:ext cx="1773578" cy="553478"/>
          </a:xfrm>
          <a:prstGeom prst="rect">
            <a:avLst/>
          </a:prstGeom>
        </p:spPr>
      </p:pic>
      <p:sp>
        <p:nvSpPr>
          <p:cNvPr id="20" name="文本框 19">
            <a:extLst>
              <a:ext uri="{FF2B5EF4-FFF2-40B4-BE49-F238E27FC236}">
                <a16:creationId xmlns:a16="http://schemas.microsoft.com/office/drawing/2014/main" id="{77DB4353-8B45-26D6-5401-EBD120F8C82F}"/>
              </a:ext>
            </a:extLst>
          </p:cNvPr>
          <p:cNvSpPr txBox="1"/>
          <p:nvPr/>
        </p:nvSpPr>
        <p:spPr>
          <a:xfrm>
            <a:off x="0" y="738435"/>
            <a:ext cx="12501349" cy="338554"/>
          </a:xfrm>
          <a:prstGeom prst="rect">
            <a:avLst/>
          </a:prstGeom>
          <a:noFill/>
        </p:spPr>
        <p:txBody>
          <a:bodyPr wrap="square" rtlCol="0">
            <a:spAutoFit/>
          </a:bodyPr>
          <a:lstStyle/>
          <a:p>
            <a:pPr marL="342900" indent="-342900">
              <a:buSzPct val="85000"/>
              <a:buFont typeface="Wingdings" panose="05000000000000000000" pitchFamily="2" charset="2"/>
              <a:buChar char="n"/>
            </a:pPr>
            <a:r>
              <a:rPr kumimoji="1" lang="en-US" altLang="zh-CN" sz="1600" b="1" spc="300" dirty="0">
                <a:solidFill>
                  <a:schemeClr val="accent1"/>
                </a:solidFill>
                <a:latin typeface="微软雅黑" panose="020B0503020204020204" pitchFamily="34" charset="-122"/>
                <a:ea typeface="微软雅黑" panose="020B0503020204020204" pitchFamily="34" charset="-122"/>
              </a:rPr>
              <a:t>PAC</a:t>
            </a:r>
            <a:r>
              <a:rPr kumimoji="1" lang="zh-CN" altLang="en-US" sz="1600" b="1" spc="300" dirty="0">
                <a:solidFill>
                  <a:schemeClr val="accent1"/>
                </a:solidFill>
                <a:latin typeface="微软雅黑" panose="020B0503020204020204" pitchFamily="34" charset="-122"/>
                <a:ea typeface="微软雅黑" panose="020B0503020204020204" pitchFamily="34" charset="-122"/>
              </a:rPr>
              <a:t>：面向水下机器人鲁棒跟踪的基线控制器时序信任权重学习</a:t>
            </a:r>
          </a:p>
        </p:txBody>
      </p:sp>
      <p:cxnSp>
        <p:nvCxnSpPr>
          <p:cNvPr id="21" name="直线连接符 12">
            <a:extLst>
              <a:ext uri="{FF2B5EF4-FFF2-40B4-BE49-F238E27FC236}">
                <a16:creationId xmlns:a16="http://schemas.microsoft.com/office/drawing/2014/main" id="{E9D16FAE-4161-CA28-51EB-317C1AD98A1B}"/>
              </a:ext>
            </a:extLst>
          </p:cNvPr>
          <p:cNvCxnSpPr/>
          <p:nvPr/>
        </p:nvCxnSpPr>
        <p:spPr>
          <a:xfrm>
            <a:off x="908" y="1167007"/>
            <a:ext cx="10978564" cy="0"/>
          </a:xfrm>
          <a:prstGeom prst="line">
            <a:avLst/>
          </a:prstGeom>
        </p:spPr>
        <p:style>
          <a:lnRef idx="1">
            <a:schemeClr val="accent1"/>
          </a:lnRef>
          <a:fillRef idx="0">
            <a:schemeClr val="accent1"/>
          </a:fillRef>
          <a:effectRef idx="0">
            <a:schemeClr val="accent1"/>
          </a:effectRef>
          <a:fontRef idx="minor">
            <a:schemeClr val="tx1"/>
          </a:fontRef>
        </p:style>
      </p:cxnSp>
      <p:sp>
        <p:nvSpPr>
          <p:cNvPr id="4" name="TextBox 10">
            <a:extLst>
              <a:ext uri="{FF2B5EF4-FFF2-40B4-BE49-F238E27FC236}">
                <a16:creationId xmlns:a16="http://schemas.microsoft.com/office/drawing/2014/main" id="{BB9F3673-141C-5C16-CD64-2B0E8A90CBDD}"/>
              </a:ext>
            </a:extLst>
          </p:cNvPr>
          <p:cNvSpPr txBox="1"/>
          <p:nvPr/>
        </p:nvSpPr>
        <p:spPr>
          <a:xfrm>
            <a:off x="274320" y="1234440"/>
            <a:ext cx="11612880" cy="457200"/>
          </a:xfrm>
          <a:prstGeom prst="rect">
            <a:avLst/>
          </a:prstGeom>
          <a:noFill/>
        </p:spPr>
        <p:txBody>
          <a:bodyPr wrap="square">
            <a:spAutoFit/>
          </a:bodyPr>
          <a:lstStyle/>
          <a:p>
            <a:pPr>
              <a:lnSpc>
                <a:spcPct val="115000"/>
              </a:lnSpc>
              <a:spcAft>
                <a:spcPts val="300"/>
              </a:spcAft>
            </a:pPr>
            <a:r>
              <a:rPr sz="1800" b="1">
                <a:solidFill>
                  <a:srgbClr val="514D83"/>
                </a:solidFill>
                <a:latin typeface="微软雅黑"/>
              </a:rPr>
              <a:t>10 族扰动全景</a:t>
            </a:r>
          </a:p>
        </p:txBody>
      </p:sp>
      <p:graphicFrame>
        <p:nvGraphicFramePr>
          <p:cNvPr id="12" name="Table 11">
            <a:extLst>
              <a:ext uri="{FF2B5EF4-FFF2-40B4-BE49-F238E27FC236}">
                <a16:creationId xmlns:a16="http://schemas.microsoft.com/office/drawing/2014/main" id="{6F66D29C-80AA-93DB-53B7-4E4B9F5D16EF}"/>
              </a:ext>
            </a:extLst>
          </p:cNvPr>
          <p:cNvGraphicFramePr>
            <a:graphicFrameLocks noGrp="1"/>
          </p:cNvGraphicFramePr>
          <p:nvPr/>
        </p:nvGraphicFramePr>
        <p:xfrm>
          <a:off x="274320" y="1737360"/>
          <a:ext cx="11612878" cy="3749040"/>
        </p:xfrm>
        <a:graphic>
          <a:graphicData uri="http://schemas.openxmlformats.org/drawingml/2006/table">
            <a:tbl>
              <a:tblPr firstRow="1" bandRow="1">
                <a:tableStyleId>{5C22544A-7EE6-4342-B048-85BDC9FD1C3A}</a:tableStyleId>
              </a:tblPr>
              <a:tblGrid>
                <a:gridCol w="2497393">
                  <a:extLst>
                    <a:ext uri="{9D8B030D-6E8A-4147-A177-3AD203B41FA5}">
                      <a16:colId xmlns:a16="http://schemas.microsoft.com/office/drawing/2014/main" val="20000"/>
                    </a:ext>
                  </a:extLst>
                </a:gridCol>
                <a:gridCol w="624348">
                  <a:extLst>
                    <a:ext uri="{9D8B030D-6E8A-4147-A177-3AD203B41FA5}">
                      <a16:colId xmlns:a16="http://schemas.microsoft.com/office/drawing/2014/main" val="20001"/>
                    </a:ext>
                  </a:extLst>
                </a:gridCol>
                <a:gridCol w="3746090">
                  <a:extLst>
                    <a:ext uri="{9D8B030D-6E8A-4147-A177-3AD203B41FA5}">
                      <a16:colId xmlns:a16="http://schemas.microsoft.com/office/drawing/2014/main" val="20002"/>
                    </a:ext>
                  </a:extLst>
                </a:gridCol>
                <a:gridCol w="3746090">
                  <a:extLst>
                    <a:ext uri="{9D8B030D-6E8A-4147-A177-3AD203B41FA5}">
                      <a16:colId xmlns:a16="http://schemas.microsoft.com/office/drawing/2014/main" val="20003"/>
                    </a:ext>
                  </a:extLst>
                </a:gridCol>
                <a:gridCol w="998957">
                  <a:extLst>
                    <a:ext uri="{9D8B030D-6E8A-4147-A177-3AD203B41FA5}">
                      <a16:colId xmlns:a16="http://schemas.microsoft.com/office/drawing/2014/main" val="20004"/>
                    </a:ext>
                  </a:extLst>
                </a:gridCol>
              </a:tblGrid>
              <a:tr h="274320">
                <a:tc>
                  <a:txBody>
                    <a:bodyPr/>
                    <a:lstStyle/>
                    <a:p>
                      <a:r>
                        <a:rPr sz="900" b="1">
                          <a:solidFill>
                            <a:srgbClr val="26262E"/>
                          </a:solidFill>
                          <a:latin typeface="微软雅黑"/>
                        </a:rPr>
                        <a:t>族</a:t>
                      </a:r>
                    </a:p>
                  </a:txBody>
                  <a:tcPr/>
                </a:tc>
                <a:tc>
                  <a:txBody>
                    <a:bodyPr/>
                    <a:lstStyle/>
                    <a:p>
                      <a:r>
                        <a:rPr sz="900" b="1">
                          <a:solidFill>
                            <a:srgbClr val="26262E"/>
                          </a:solidFill>
                          <a:latin typeface="微软雅黑"/>
                        </a:rPr>
                        <a:t>块</a:t>
                      </a:r>
                    </a:p>
                  </a:txBody>
                  <a:tcPr/>
                </a:tc>
                <a:tc>
                  <a:txBody>
                    <a:bodyPr/>
                    <a:lstStyle/>
                    <a:p>
                      <a:r>
                        <a:rPr sz="900" b="1">
                          <a:solidFill>
                            <a:srgbClr val="26262E"/>
                          </a:solidFill>
                          <a:latin typeface="微软雅黑"/>
                        </a:rPr>
                        <a:t>训练范围</a:t>
                      </a:r>
                    </a:p>
                  </a:txBody>
                  <a:tcPr/>
                </a:tc>
                <a:tc>
                  <a:txBody>
                    <a:bodyPr/>
                    <a:lstStyle/>
                    <a:p>
                      <a:r>
                        <a:rPr sz="900" b="1">
                          <a:solidFill>
                            <a:srgbClr val="26262E"/>
                          </a:solidFill>
                          <a:latin typeface="微软雅黑"/>
                        </a:rPr>
                        <a:t>测试范围</a:t>
                      </a:r>
                    </a:p>
                  </a:txBody>
                  <a:tcPr/>
                </a:tc>
                <a:tc>
                  <a:txBody>
                    <a:bodyPr/>
                    <a:lstStyle/>
                    <a:p>
                      <a:r>
                        <a:rPr sz="900" b="1">
                          <a:solidFill>
                            <a:srgbClr val="26262E"/>
                          </a:solidFill>
                          <a:latin typeface="微软雅黑"/>
                        </a:rPr>
                        <a:t>环境</a:t>
                      </a:r>
                    </a:p>
                    <a:p>
                      <a:r>
                        <a:rPr sz="900" b="1">
                          <a:solidFill>
                            <a:srgbClr val="26262E"/>
                          </a:solidFill>
                          <a:latin typeface="微软雅黑"/>
                        </a:rPr>
                        <a:t>种子</a:t>
                      </a:r>
                    </a:p>
                  </a:txBody>
                  <a:tcPr/>
                </a:tc>
                <a:extLst>
                  <a:ext uri="{0D108BD9-81ED-4DB2-BD59-A6C34878D82A}">
                    <a16:rowId xmlns:a16="http://schemas.microsoft.com/office/drawing/2014/main" val="10000"/>
                  </a:ext>
                </a:extLst>
              </a:tr>
              <a:tr h="274320">
                <a:tc>
                  <a:txBody>
                    <a:bodyPr/>
                    <a:lstStyle/>
                    <a:p>
                      <a:r>
                        <a:rPr sz="900" b="0">
                          <a:solidFill>
                            <a:srgbClr val="26262E"/>
                          </a:solidFill>
                          <a:latin typeface="微软雅黑"/>
                        </a:rPr>
                        <a:t>结构化-恒定</a:t>
                      </a:r>
                    </a:p>
                  </a:txBody>
                  <a:tcPr/>
                </a:tc>
                <a:tc>
                  <a:txBody>
                    <a:bodyPr/>
                    <a:lstStyle/>
                    <a:p>
                      <a:r>
                        <a:rPr sz="900" b="0">
                          <a:solidFill>
                            <a:srgbClr val="26262E"/>
                          </a:solidFill>
                          <a:latin typeface="微软雅黑"/>
                        </a:rPr>
                        <a:t>ID</a:t>
                      </a:r>
                    </a:p>
                  </a:txBody>
                  <a:tcPr/>
                </a:tc>
                <a:tc>
                  <a:txBody>
                    <a:bodyPr/>
                    <a:lstStyle/>
                    <a:p>
                      <a:r>
                        <a:rPr sz="900" b="0">
                          <a:solidFill>
                            <a:srgbClr val="26262E"/>
                          </a:solidFill>
                          <a:latin typeface="微软雅黑"/>
                        </a:rPr>
                        <a:t>幅值 ×2.5，方向恒定</a:t>
                      </a:r>
                    </a:p>
                  </a:txBody>
                  <a:tcPr/>
                </a:tc>
                <a:tc>
                  <a:txBody>
                    <a:bodyPr/>
                    <a:lstStyle/>
                    <a:p>
                      <a:r>
                        <a:rPr sz="900" b="0">
                          <a:solidFill>
                            <a:srgbClr val="26262E"/>
                          </a:solidFill>
                          <a:latin typeface="微软雅黑"/>
                        </a:rPr>
                        <a:t>—</a:t>
                      </a:r>
                    </a:p>
                  </a:txBody>
                  <a:tcPr/>
                </a:tc>
                <a:tc>
                  <a:txBody>
                    <a:bodyPr/>
                    <a:lstStyle/>
                    <a:p>
                      <a:r>
                        <a:rPr sz="900" b="0">
                          <a:solidFill>
                            <a:srgbClr val="26262E"/>
                          </a:solidFill>
                          <a:latin typeface="微软雅黑"/>
                        </a:rPr>
                        <a:t>20</a:t>
                      </a:r>
                    </a:p>
                  </a:txBody>
                  <a:tcPr/>
                </a:tc>
                <a:extLst>
                  <a:ext uri="{0D108BD9-81ED-4DB2-BD59-A6C34878D82A}">
                    <a16:rowId xmlns:a16="http://schemas.microsoft.com/office/drawing/2014/main" val="10001"/>
                  </a:ext>
                </a:extLst>
              </a:tr>
              <a:tr h="274320">
                <a:tc>
                  <a:txBody>
                    <a:bodyPr/>
                    <a:lstStyle/>
                    <a:p>
                      <a:r>
                        <a:rPr sz="900" b="0">
                          <a:solidFill>
                            <a:srgbClr val="26262E"/>
                          </a:solidFill>
                          <a:latin typeface="微软雅黑"/>
                        </a:rPr>
                        <a:t>结构化-正弦</a:t>
                      </a:r>
                    </a:p>
                  </a:txBody>
                  <a:tcPr/>
                </a:tc>
                <a:tc>
                  <a:txBody>
                    <a:bodyPr/>
                    <a:lstStyle/>
                    <a:p>
                      <a:r>
                        <a:rPr sz="900" b="0">
                          <a:solidFill>
                            <a:srgbClr val="26262E"/>
                          </a:solidFill>
                          <a:latin typeface="微软雅黑"/>
                        </a:rPr>
                        <a:t>ID</a:t>
                      </a:r>
                    </a:p>
                  </a:txBody>
                  <a:tcPr/>
                </a:tc>
                <a:tc>
                  <a:txBody>
                    <a:bodyPr/>
                    <a:lstStyle/>
                    <a:p>
                      <a:r>
                        <a:rPr sz="900" b="0">
                          <a:solidFill>
                            <a:srgbClr val="26262E"/>
                          </a:solidFill>
                          <a:latin typeface="微软雅黑"/>
                        </a:rPr>
                        <a:t>多频正弦叠加海流</a:t>
                      </a:r>
                    </a:p>
                  </a:txBody>
                  <a:tcPr/>
                </a:tc>
                <a:tc>
                  <a:txBody>
                    <a:bodyPr/>
                    <a:lstStyle/>
                    <a:p>
                      <a:r>
                        <a:rPr sz="900" b="0">
                          <a:solidFill>
                            <a:srgbClr val="26262E"/>
                          </a:solidFill>
                          <a:latin typeface="微软雅黑"/>
                        </a:rPr>
                        <a:t>—</a:t>
                      </a:r>
                    </a:p>
                  </a:txBody>
                  <a:tcPr/>
                </a:tc>
                <a:tc>
                  <a:txBody>
                    <a:bodyPr/>
                    <a:lstStyle/>
                    <a:p>
                      <a:r>
                        <a:rPr sz="900" b="0">
                          <a:solidFill>
                            <a:srgbClr val="26262E"/>
                          </a:solidFill>
                          <a:latin typeface="微软雅黑"/>
                        </a:rPr>
                        <a:t>20</a:t>
                      </a:r>
                    </a:p>
                  </a:txBody>
                  <a:tcPr/>
                </a:tc>
                <a:extLst>
                  <a:ext uri="{0D108BD9-81ED-4DB2-BD59-A6C34878D82A}">
                    <a16:rowId xmlns:a16="http://schemas.microsoft.com/office/drawing/2014/main" val="10002"/>
                  </a:ext>
                </a:extLst>
              </a:tr>
              <a:tr h="274320">
                <a:tc>
                  <a:txBody>
                    <a:bodyPr/>
                    <a:lstStyle/>
                    <a:p>
                      <a:r>
                        <a:rPr sz="900" b="0">
                          <a:solidFill>
                            <a:srgbClr val="26262E"/>
                          </a:solidFill>
                          <a:latin typeface="微软雅黑"/>
                        </a:rPr>
                        <a:t>结构化-阶跃</a:t>
                      </a:r>
                    </a:p>
                  </a:txBody>
                  <a:tcPr/>
                </a:tc>
                <a:tc>
                  <a:txBody>
                    <a:bodyPr/>
                    <a:lstStyle/>
                    <a:p>
                      <a:r>
                        <a:rPr sz="900" b="0">
                          <a:solidFill>
                            <a:srgbClr val="26262E"/>
                          </a:solidFill>
                          <a:latin typeface="微软雅黑"/>
                        </a:rPr>
                        <a:t>ID</a:t>
                      </a:r>
                    </a:p>
                  </a:txBody>
                  <a:tcPr/>
                </a:tc>
                <a:tc>
                  <a:txBody>
                    <a:bodyPr/>
                    <a:lstStyle/>
                    <a:p>
                      <a:r>
                        <a:rPr sz="900" b="0">
                          <a:solidFill>
                            <a:srgbClr val="26262E"/>
                          </a:solidFill>
                          <a:latin typeface="微软雅黑"/>
                        </a:rPr>
                        <a:t>t=10s 海流方向突变</a:t>
                      </a:r>
                    </a:p>
                  </a:txBody>
                  <a:tcPr/>
                </a:tc>
                <a:tc>
                  <a:txBody>
                    <a:bodyPr/>
                    <a:lstStyle/>
                    <a:p>
                      <a:r>
                        <a:rPr sz="900" b="0">
                          <a:solidFill>
                            <a:srgbClr val="26262E"/>
                          </a:solidFill>
                          <a:latin typeface="微软雅黑"/>
                        </a:rPr>
                        <a:t>—</a:t>
                      </a:r>
                    </a:p>
                  </a:txBody>
                  <a:tcPr/>
                </a:tc>
                <a:tc>
                  <a:txBody>
                    <a:bodyPr/>
                    <a:lstStyle/>
                    <a:p>
                      <a:r>
                        <a:rPr sz="900" b="0">
                          <a:solidFill>
                            <a:srgbClr val="26262E"/>
                          </a:solidFill>
                          <a:latin typeface="微软雅黑"/>
                        </a:rPr>
                        <a:t>20</a:t>
                      </a:r>
                    </a:p>
                  </a:txBody>
                  <a:tcPr/>
                </a:tc>
                <a:extLst>
                  <a:ext uri="{0D108BD9-81ED-4DB2-BD59-A6C34878D82A}">
                    <a16:rowId xmlns:a16="http://schemas.microsoft.com/office/drawing/2014/main" val="10003"/>
                  </a:ext>
                </a:extLst>
              </a:tr>
              <a:tr h="274320">
                <a:tc>
                  <a:txBody>
                    <a:bodyPr/>
                    <a:lstStyle/>
                    <a:p>
                      <a:r>
                        <a:rPr sz="900" b="0">
                          <a:solidFill>
                            <a:srgbClr val="26262E"/>
                          </a:solidFill>
                          <a:latin typeface="微软雅黑"/>
                        </a:rPr>
                        <a:t>质量-阻尼失配</a:t>
                      </a:r>
                    </a:p>
                  </a:txBody>
                  <a:tcPr/>
                </a:tc>
                <a:tc>
                  <a:txBody>
                    <a:bodyPr/>
                    <a:lstStyle/>
                    <a:p>
                      <a:r>
                        <a:rPr sz="900" b="0">
                          <a:solidFill>
                            <a:srgbClr val="26262E"/>
                          </a:solidFill>
                          <a:latin typeface="微软雅黑"/>
                        </a:rPr>
                        <a:t>OOD</a:t>
                      </a:r>
                    </a:p>
                  </a:txBody>
                  <a:tcPr/>
                </a:tc>
                <a:tc>
                  <a:txBody>
                    <a:bodyPr/>
                    <a:lstStyle/>
                    <a:p>
                      <a:r>
                        <a:rPr sz="900" b="0">
                          <a:solidFill>
                            <a:srgbClr val="26262E"/>
                          </a:solidFill>
                          <a:latin typeface="微软雅黑"/>
                        </a:rPr>
                        <a:t>mass ×[0.94,1.06]</a:t>
                      </a:r>
                    </a:p>
                    <a:p>
                      <a:r>
                        <a:rPr sz="900" b="0">
                          <a:solidFill>
                            <a:srgbClr val="26262E"/>
                          </a:solidFill>
                          <a:latin typeface="微软雅黑"/>
                        </a:rPr>
                        <a:t>damp ×[0.94,1.06]</a:t>
                      </a:r>
                    </a:p>
                  </a:txBody>
                  <a:tcPr/>
                </a:tc>
                <a:tc>
                  <a:txBody>
                    <a:bodyPr/>
                    <a:lstStyle/>
                    <a:p>
                      <a:r>
                        <a:rPr sz="900" b="0">
                          <a:solidFill>
                            <a:srgbClr val="26262E"/>
                          </a:solidFill>
                          <a:latin typeface="微软雅黑"/>
                        </a:rPr>
                        <a:t>mass ×[1.10,1.25]</a:t>
                      </a:r>
                    </a:p>
                    <a:p>
                      <a:r>
                        <a:rPr sz="900" b="0">
                          <a:solidFill>
                            <a:srgbClr val="26262E"/>
                          </a:solidFill>
                          <a:latin typeface="微软雅黑"/>
                        </a:rPr>
                        <a:t>damp ×[0.75,0.90]</a:t>
                      </a:r>
                    </a:p>
                  </a:txBody>
                  <a:tcPr/>
                </a:tc>
                <a:tc>
                  <a:txBody>
                    <a:bodyPr/>
                    <a:lstStyle/>
                    <a:p>
                      <a:r>
                        <a:rPr sz="900" b="0">
                          <a:solidFill>
                            <a:srgbClr val="26262E"/>
                          </a:solidFill>
                          <a:latin typeface="微软雅黑"/>
                        </a:rPr>
                        <a:t>5</a:t>
                      </a:r>
                    </a:p>
                  </a:txBody>
                  <a:tcPr/>
                </a:tc>
                <a:extLst>
                  <a:ext uri="{0D108BD9-81ED-4DB2-BD59-A6C34878D82A}">
                    <a16:rowId xmlns:a16="http://schemas.microsoft.com/office/drawing/2014/main" val="10004"/>
                  </a:ext>
                </a:extLst>
              </a:tr>
              <a:tr h="274320">
                <a:tc>
                  <a:txBody>
                    <a:bodyPr/>
                    <a:lstStyle/>
                    <a:p>
                      <a:r>
                        <a:rPr sz="900" b="0">
                          <a:solidFill>
                            <a:srgbClr val="26262E"/>
                          </a:solidFill>
                          <a:latin typeface="微软雅黑"/>
                        </a:rPr>
                        <a:t>彩色噪声</a:t>
                      </a:r>
                    </a:p>
                  </a:txBody>
                  <a:tcPr/>
                </a:tc>
                <a:tc>
                  <a:txBody>
                    <a:bodyPr/>
                    <a:lstStyle/>
                    <a:p>
                      <a:r>
                        <a:rPr sz="900" b="0">
                          <a:solidFill>
                            <a:srgbClr val="26262E"/>
                          </a:solidFill>
                          <a:latin typeface="微软雅黑"/>
                        </a:rPr>
                        <a:t>OOD</a:t>
                      </a:r>
                    </a:p>
                  </a:txBody>
                  <a:tcPr/>
                </a:tc>
                <a:tc>
                  <a:txBody>
                    <a:bodyPr/>
                    <a:lstStyle/>
                    <a:p>
                      <a:r>
                        <a:rPr sz="900" b="0">
                          <a:solidFill>
                            <a:srgbClr val="26262E"/>
                          </a:solidFill>
                          <a:latin typeface="微软雅黑"/>
                        </a:rPr>
                        <a:t>ρ∈[0.90,0.98]</a:t>
                      </a:r>
                    </a:p>
                    <a:p>
                      <a:r>
                        <a:rPr sz="900" b="0">
                          <a:solidFill>
                            <a:srgbClr val="26262E"/>
                          </a:solidFill>
                          <a:latin typeface="微软雅黑"/>
                        </a:rPr>
                        <a:t>σ∈[0.05,0.20]</a:t>
                      </a:r>
                    </a:p>
                  </a:txBody>
                  <a:tcPr/>
                </a:tc>
                <a:tc>
                  <a:txBody>
                    <a:bodyPr/>
                    <a:lstStyle/>
                    <a:p>
                      <a:r>
                        <a:rPr sz="900" b="0">
                          <a:solidFill>
                            <a:srgbClr val="26262E"/>
                          </a:solidFill>
                          <a:latin typeface="微软雅黑"/>
                        </a:rPr>
                        <a:t>ρ∈[0.985,0.995]</a:t>
                      </a:r>
                    </a:p>
                    <a:p>
                      <a:r>
                        <a:rPr sz="900" b="0">
                          <a:solidFill>
                            <a:srgbClr val="26262E"/>
                          </a:solidFill>
                          <a:latin typeface="微软雅黑"/>
                        </a:rPr>
                        <a:t>σ∈[0.25,0.40]</a:t>
                      </a:r>
                    </a:p>
                  </a:txBody>
                  <a:tcPr/>
                </a:tc>
                <a:tc>
                  <a:txBody>
                    <a:bodyPr/>
                    <a:lstStyle/>
                    <a:p>
                      <a:r>
                        <a:rPr sz="900" b="0">
                          <a:solidFill>
                            <a:srgbClr val="26262E"/>
                          </a:solidFill>
                          <a:latin typeface="微软雅黑"/>
                        </a:rPr>
                        <a:t>5</a:t>
                      </a:r>
                    </a:p>
                  </a:txBody>
                  <a:tcPr/>
                </a:tc>
                <a:extLst>
                  <a:ext uri="{0D108BD9-81ED-4DB2-BD59-A6C34878D82A}">
                    <a16:rowId xmlns:a16="http://schemas.microsoft.com/office/drawing/2014/main" val="10005"/>
                  </a:ext>
                </a:extLst>
              </a:tr>
              <a:tr h="274320">
                <a:tc>
                  <a:txBody>
                    <a:bodyPr/>
                    <a:lstStyle/>
                    <a:p>
                      <a:r>
                        <a:rPr sz="900" b="0">
                          <a:solidFill>
                            <a:srgbClr val="26262E"/>
                          </a:solidFill>
                          <a:latin typeface="微软雅黑"/>
                        </a:rPr>
                        <a:t>OU 海流</a:t>
                      </a:r>
                    </a:p>
                  </a:txBody>
                  <a:tcPr/>
                </a:tc>
                <a:tc>
                  <a:txBody>
                    <a:bodyPr/>
                    <a:lstStyle/>
                    <a:p>
                      <a:r>
                        <a:rPr sz="900" b="0">
                          <a:solidFill>
                            <a:srgbClr val="26262E"/>
                          </a:solidFill>
                          <a:latin typeface="微软雅黑"/>
                        </a:rPr>
                        <a:t>OOD</a:t>
                      </a:r>
                    </a:p>
                  </a:txBody>
                  <a:tcPr/>
                </a:tc>
                <a:tc>
                  <a:txBody>
                    <a:bodyPr/>
                    <a:lstStyle/>
                    <a:p>
                      <a:r>
                        <a:rPr sz="900" b="0">
                          <a:solidFill>
                            <a:srgbClr val="26262E"/>
                          </a:solidFill>
                          <a:latin typeface="微软雅黑"/>
                        </a:rPr>
                        <a:t>θ∈[0.2,1.0] rad/s</a:t>
                      </a:r>
                    </a:p>
                    <a:p>
                      <a:r>
                        <a:rPr sz="900" b="0">
                          <a:solidFill>
                            <a:srgbClr val="26262E"/>
                          </a:solidFill>
                          <a:latin typeface="微软雅黑"/>
                        </a:rPr>
                        <a:t>σ∈[0.05,0.20]</a:t>
                      </a:r>
                    </a:p>
                  </a:txBody>
                  <a:tcPr/>
                </a:tc>
                <a:tc>
                  <a:txBody>
                    <a:bodyPr/>
                    <a:lstStyle/>
                    <a:p>
                      <a:r>
                        <a:rPr sz="900" b="0">
                          <a:solidFill>
                            <a:srgbClr val="26262E"/>
                          </a:solidFill>
                          <a:latin typeface="微软雅黑"/>
                        </a:rPr>
                        <a:t>θ∈[1.2,2.0] rad/s</a:t>
                      </a:r>
                    </a:p>
                    <a:p>
                      <a:r>
                        <a:rPr sz="900" b="0">
                          <a:solidFill>
                            <a:srgbClr val="26262E"/>
                          </a:solidFill>
                          <a:latin typeface="微软雅黑"/>
                        </a:rPr>
                        <a:t>σ∈[0.25,0.40]</a:t>
                      </a:r>
                    </a:p>
                  </a:txBody>
                  <a:tcPr/>
                </a:tc>
                <a:tc>
                  <a:txBody>
                    <a:bodyPr/>
                    <a:lstStyle/>
                    <a:p>
                      <a:r>
                        <a:rPr sz="900" b="0">
                          <a:solidFill>
                            <a:srgbClr val="26262E"/>
                          </a:solidFill>
                          <a:latin typeface="微软雅黑"/>
                        </a:rPr>
                        <a:t>5</a:t>
                      </a:r>
                    </a:p>
                  </a:txBody>
                  <a:tcPr/>
                </a:tc>
                <a:extLst>
                  <a:ext uri="{0D108BD9-81ED-4DB2-BD59-A6C34878D82A}">
                    <a16:rowId xmlns:a16="http://schemas.microsoft.com/office/drawing/2014/main" val="10006"/>
                  </a:ext>
                </a:extLst>
              </a:tr>
              <a:tr h="274320">
                <a:tc>
                  <a:txBody>
                    <a:bodyPr/>
                    <a:lstStyle/>
                    <a:p>
                      <a:r>
                        <a:rPr sz="900" b="0">
                          <a:solidFill>
                            <a:srgbClr val="26262E"/>
                          </a:solidFill>
                          <a:latin typeface="微软雅黑"/>
                        </a:rPr>
                        <a:t>随机频率-幅值</a:t>
                      </a:r>
                    </a:p>
                  </a:txBody>
                  <a:tcPr/>
                </a:tc>
                <a:tc>
                  <a:txBody>
                    <a:bodyPr/>
                    <a:lstStyle/>
                    <a:p>
                      <a:r>
                        <a:rPr sz="900" b="0">
                          <a:solidFill>
                            <a:srgbClr val="26262E"/>
                          </a:solidFill>
                          <a:latin typeface="微软雅黑"/>
                        </a:rPr>
                        <a:t>OOD</a:t>
                      </a:r>
                    </a:p>
                  </a:txBody>
                  <a:tcPr/>
                </a:tc>
                <a:tc>
                  <a:txBody>
                    <a:bodyPr/>
                    <a:lstStyle/>
                    <a:p>
                      <a:r>
                        <a:rPr sz="900" b="0">
                          <a:solidFill>
                            <a:srgbClr val="26262E"/>
                          </a:solidFill>
                          <a:latin typeface="微软雅黑"/>
                        </a:rPr>
                        <a:t>amp ∈[2.0,3.0]</a:t>
                      </a:r>
                    </a:p>
                    <a:p>
                      <a:r>
                        <a:rPr sz="900" b="0">
                          <a:solidFill>
                            <a:srgbClr val="26262E"/>
                          </a:solidFill>
                          <a:latin typeface="微软雅黑"/>
                        </a:rPr>
                        <a:t>freq∈[0.8,1.2]</a:t>
                      </a:r>
                    </a:p>
                  </a:txBody>
                  <a:tcPr/>
                </a:tc>
                <a:tc>
                  <a:txBody>
                    <a:bodyPr/>
                    <a:lstStyle/>
                    <a:p>
                      <a:r>
                        <a:rPr sz="900" b="0">
                          <a:solidFill>
                            <a:srgbClr val="26262E"/>
                          </a:solidFill>
                          <a:latin typeface="微软雅黑"/>
                        </a:rPr>
                        <a:t>amp ∈[3.2,4.0]</a:t>
                      </a:r>
                    </a:p>
                    <a:p>
                      <a:r>
                        <a:rPr sz="900" b="0">
                          <a:solidFill>
                            <a:srgbClr val="26262E"/>
                          </a:solidFill>
                          <a:latin typeface="微软雅黑"/>
                        </a:rPr>
                        <a:t>freq∈[1.4,1.8]</a:t>
                      </a:r>
                    </a:p>
                  </a:txBody>
                  <a:tcPr/>
                </a:tc>
                <a:tc>
                  <a:txBody>
                    <a:bodyPr/>
                    <a:lstStyle/>
                    <a:p>
                      <a:r>
                        <a:rPr sz="900" b="0">
                          <a:solidFill>
                            <a:srgbClr val="26262E"/>
                          </a:solidFill>
                          <a:latin typeface="微软雅黑"/>
                        </a:rPr>
                        <a:t>5</a:t>
                      </a:r>
                    </a:p>
                  </a:txBody>
                  <a:tcPr/>
                </a:tc>
                <a:extLst>
                  <a:ext uri="{0D108BD9-81ED-4DB2-BD59-A6C34878D82A}">
                    <a16:rowId xmlns:a16="http://schemas.microsoft.com/office/drawing/2014/main" val="10007"/>
                  </a:ext>
                </a:extLst>
              </a:tr>
              <a:tr h="274320">
                <a:tc>
                  <a:txBody>
                    <a:bodyPr/>
                    <a:lstStyle/>
                    <a:p>
                      <a:r>
                        <a:rPr sz="900" b="0">
                          <a:solidFill>
                            <a:srgbClr val="26262E"/>
                          </a:solidFill>
                          <a:latin typeface="微软雅黑"/>
                        </a:rPr>
                        <a:t>执行器延迟+噪声</a:t>
                      </a:r>
                    </a:p>
                  </a:txBody>
                  <a:tcPr/>
                </a:tc>
                <a:tc>
                  <a:txBody>
                    <a:bodyPr/>
                    <a:lstStyle/>
                    <a:p>
                      <a:r>
                        <a:rPr sz="900" b="0">
                          <a:solidFill>
                            <a:srgbClr val="26262E"/>
                          </a:solidFill>
                          <a:latin typeface="微软雅黑"/>
                        </a:rPr>
                        <a:t>OOD</a:t>
                      </a:r>
                    </a:p>
                  </a:txBody>
                  <a:tcPr/>
                </a:tc>
                <a:tc>
                  <a:txBody>
                    <a:bodyPr/>
                    <a:lstStyle/>
                    <a:p>
                      <a:r>
                        <a:rPr sz="900" b="0">
                          <a:solidFill>
                            <a:srgbClr val="26262E"/>
                          </a:solidFill>
                          <a:latin typeface="微软雅黑"/>
                        </a:rPr>
                        <a:t>delay∈[2,4] 步</a:t>
                      </a:r>
                    </a:p>
                    <a:p>
                      <a:r>
                        <a:rPr sz="900" b="0">
                          <a:solidFill>
                            <a:srgbClr val="26262E"/>
                          </a:solidFill>
                          <a:latin typeface="微软雅黑"/>
                        </a:rPr>
                        <a:t>noise∈[0,0.02]</a:t>
                      </a:r>
                    </a:p>
                  </a:txBody>
                  <a:tcPr/>
                </a:tc>
                <a:tc>
                  <a:txBody>
                    <a:bodyPr/>
                    <a:lstStyle/>
                    <a:p>
                      <a:r>
                        <a:rPr sz="900" b="0">
                          <a:solidFill>
                            <a:srgbClr val="26262E"/>
                          </a:solidFill>
                          <a:latin typeface="微软雅黑"/>
                        </a:rPr>
                        <a:t>delay∈[6,10] 步</a:t>
                      </a:r>
                    </a:p>
                    <a:p>
                      <a:r>
                        <a:rPr sz="900" b="0">
                          <a:solidFill>
                            <a:srgbClr val="26262E"/>
                          </a:solidFill>
                          <a:latin typeface="微软雅黑"/>
                        </a:rPr>
                        <a:t>noise∈[0.04,0.08]</a:t>
                      </a:r>
                    </a:p>
                  </a:txBody>
                  <a:tcPr/>
                </a:tc>
                <a:tc>
                  <a:txBody>
                    <a:bodyPr/>
                    <a:lstStyle/>
                    <a:p>
                      <a:r>
                        <a:rPr sz="900" b="0">
                          <a:solidFill>
                            <a:srgbClr val="26262E"/>
                          </a:solidFill>
                          <a:latin typeface="微软雅黑"/>
                        </a:rPr>
                        <a:t>5</a:t>
                      </a:r>
                    </a:p>
                  </a:txBody>
                  <a:tcPr/>
                </a:tc>
                <a:extLst>
                  <a:ext uri="{0D108BD9-81ED-4DB2-BD59-A6C34878D82A}">
                    <a16:rowId xmlns:a16="http://schemas.microsoft.com/office/drawing/2014/main" val="10008"/>
                  </a:ext>
                </a:extLst>
              </a:tr>
              <a:tr h="274320">
                <a:tc>
                  <a:txBody>
                    <a:bodyPr/>
                    <a:lstStyle/>
                    <a:p>
                      <a:r>
                        <a:rPr sz="900" b="0">
                          <a:solidFill>
                            <a:srgbClr val="26262E"/>
                          </a:solidFill>
                          <a:latin typeface="微软雅黑"/>
                        </a:rPr>
                        <a:t>快变 OU 海流</a:t>
                      </a:r>
                    </a:p>
                  </a:txBody>
                  <a:tcPr/>
                </a:tc>
                <a:tc>
                  <a:txBody>
                    <a:bodyPr/>
                    <a:lstStyle/>
                    <a:p>
                      <a:r>
                        <a:rPr sz="900" b="0">
                          <a:solidFill>
                            <a:srgbClr val="26262E"/>
                          </a:solidFill>
                          <a:latin typeface="微软雅黑"/>
                        </a:rPr>
                        <a:t>OOD</a:t>
                      </a:r>
                    </a:p>
                  </a:txBody>
                  <a:tcPr/>
                </a:tc>
                <a:tc>
                  <a:txBody>
                    <a:bodyPr/>
                    <a:lstStyle/>
                    <a:p>
                      <a:r>
                        <a:rPr sz="900" b="0">
                          <a:solidFill>
                            <a:srgbClr val="26262E"/>
                          </a:solidFill>
                          <a:latin typeface="微软雅黑"/>
                        </a:rPr>
                        <a:t>—</a:t>
                      </a:r>
                    </a:p>
                  </a:txBody>
                  <a:tcPr/>
                </a:tc>
                <a:tc>
                  <a:txBody>
                    <a:bodyPr/>
                    <a:lstStyle/>
                    <a:p>
                      <a:r>
                        <a:rPr sz="900" b="0">
                          <a:solidFill>
                            <a:srgbClr val="26262E"/>
                          </a:solidFill>
                          <a:latin typeface="微软雅黑"/>
                        </a:rPr>
                        <a:t>θ∈[3.0,6.0] rad/s</a:t>
                      </a:r>
                    </a:p>
                    <a:p>
                      <a:r>
                        <a:rPr sz="900" b="0">
                          <a:solidFill>
                            <a:srgbClr val="26262E"/>
                          </a:solidFill>
                          <a:latin typeface="微软雅黑"/>
                        </a:rPr>
                        <a:t>σ∈[0.30,0.50]</a:t>
                      </a:r>
                    </a:p>
                  </a:txBody>
                  <a:tcPr/>
                </a:tc>
                <a:tc>
                  <a:txBody>
                    <a:bodyPr/>
                    <a:lstStyle/>
                    <a:p>
                      <a:r>
                        <a:rPr sz="900" b="0">
                          <a:solidFill>
                            <a:srgbClr val="26262E"/>
                          </a:solidFill>
                          <a:latin typeface="微软雅黑"/>
                        </a:rPr>
                        <a:t>5</a:t>
                      </a:r>
                    </a:p>
                  </a:txBody>
                  <a:tcPr/>
                </a:tc>
                <a:extLst>
                  <a:ext uri="{0D108BD9-81ED-4DB2-BD59-A6C34878D82A}">
                    <a16:rowId xmlns:a16="http://schemas.microsoft.com/office/drawing/2014/main" val="10009"/>
                  </a:ext>
                </a:extLst>
              </a:tr>
              <a:tr h="274320">
                <a:tc>
                  <a:txBody>
                    <a:bodyPr/>
                    <a:lstStyle/>
                    <a:p>
                      <a:r>
                        <a:rPr sz="900" b="0">
                          <a:solidFill>
                            <a:srgbClr val="26262E"/>
                          </a:solidFill>
                          <a:latin typeface="微软雅黑"/>
                        </a:rPr>
                        <a:t>估计延迟</a:t>
                      </a:r>
                    </a:p>
                  </a:txBody>
                  <a:tcPr/>
                </a:tc>
                <a:tc>
                  <a:txBody>
                    <a:bodyPr/>
                    <a:lstStyle/>
                    <a:p>
                      <a:r>
                        <a:rPr sz="900" b="0">
                          <a:solidFill>
                            <a:srgbClr val="26262E"/>
                          </a:solidFill>
                          <a:latin typeface="微软雅黑"/>
                        </a:rPr>
                        <a:t>OOD</a:t>
                      </a:r>
                    </a:p>
                  </a:txBody>
                  <a:tcPr/>
                </a:tc>
                <a:tc>
                  <a:txBody>
                    <a:bodyPr/>
                    <a:lstStyle/>
                    <a:p>
                      <a:r>
                        <a:rPr sz="900" b="0">
                          <a:solidFill>
                            <a:srgbClr val="26262E"/>
                          </a:solidFill>
                          <a:latin typeface="微软雅黑"/>
                        </a:rPr>
                        <a:t>—</a:t>
                      </a:r>
                    </a:p>
                  </a:txBody>
                  <a:tcPr/>
                </a:tc>
                <a:tc>
                  <a:txBody>
                    <a:bodyPr/>
                    <a:lstStyle/>
                    <a:p>
                      <a:r>
                        <a:rPr sz="900" b="0">
                          <a:solidFill>
                            <a:srgbClr val="26262E"/>
                          </a:solidFill>
                          <a:latin typeface="微软雅黑"/>
                        </a:rPr>
                        <a:t>delay∈[10,20] 步</a:t>
                      </a:r>
                    </a:p>
                    <a:p>
                      <a:r>
                        <a:rPr sz="900" b="0">
                          <a:solidFill>
                            <a:srgbClr val="26262E"/>
                          </a:solidFill>
                          <a:latin typeface="微软雅黑"/>
                        </a:rPr>
                        <a:t>noise∈[0.05,0.10]</a:t>
                      </a:r>
                    </a:p>
                  </a:txBody>
                  <a:tcPr/>
                </a:tc>
                <a:tc>
                  <a:txBody>
                    <a:bodyPr/>
                    <a:lstStyle/>
                    <a:p>
                      <a:r>
                        <a:rPr sz="900" b="0" dirty="0">
                          <a:solidFill>
                            <a:srgbClr val="26262E"/>
                          </a:solidFill>
                          <a:latin typeface="微软雅黑"/>
                        </a:rPr>
                        <a:t>5</a:t>
                      </a:r>
                    </a:p>
                  </a:txBody>
                  <a:tcPr/>
                </a:tc>
                <a:extLst>
                  <a:ext uri="{0D108BD9-81ED-4DB2-BD59-A6C34878D82A}">
                    <a16:rowId xmlns:a16="http://schemas.microsoft.com/office/drawing/2014/main" val="10010"/>
                  </a:ext>
                </a:extLst>
              </a:tr>
            </a:tbl>
          </a:graphicData>
        </a:graphic>
      </p:graphicFrame>
      <p:sp>
        <p:nvSpPr>
          <p:cNvPr id="22" name="TextBox 12"/>
          <p:cNvSpPr txBox="1"/>
          <p:nvPr/>
        </p:nvSpPr>
        <p:spPr>
          <a:xfrm>
            <a:off x="274320" y="5582095"/>
            <a:ext cx="11612880" cy="1371600"/>
          </a:xfrm>
          <a:prstGeom prst="rect">
            <a:avLst/>
          </a:prstGeom>
          <a:noFill/>
        </p:spPr>
        <p:txBody>
          <a:bodyPr wrap="square">
            <a:spAutoFit/>
          </a:bodyPr>
          <a:lstStyle/>
          <a:p>
            <a:pPr>
              <a:lnSpc>
                <a:spcPct val="115000"/>
              </a:lnSpc>
              <a:spcAft>
                <a:spcPts val="300"/>
              </a:spcAft>
            </a:pPr>
            <a:r>
              <a:rPr sz="1100" b="0" dirty="0" err="1">
                <a:solidFill>
                  <a:srgbClr val="6B6F85"/>
                </a:solidFill>
                <a:latin typeface="微软雅黑"/>
              </a:rPr>
              <a:t>参数说明：mass</a:t>
            </a:r>
            <a:r>
              <a:rPr sz="1100" b="0" dirty="0">
                <a:solidFill>
                  <a:srgbClr val="6B6F85"/>
                </a:solidFill>
                <a:latin typeface="微软雅黑"/>
              </a:rPr>
              <a:t>=</a:t>
            </a:r>
            <a:r>
              <a:rPr sz="1100" b="0" dirty="0" err="1">
                <a:solidFill>
                  <a:srgbClr val="6B6F85"/>
                </a:solidFill>
                <a:latin typeface="微软雅黑"/>
              </a:rPr>
              <a:t>质量缩放因子</a:t>
            </a:r>
            <a:r>
              <a:rPr sz="1100" b="0" dirty="0">
                <a:solidFill>
                  <a:srgbClr val="6B6F85"/>
                </a:solidFill>
                <a:latin typeface="微软雅黑"/>
              </a:rPr>
              <a:t> | damp=</a:t>
            </a:r>
            <a:r>
              <a:rPr sz="1100" b="0" dirty="0" err="1">
                <a:solidFill>
                  <a:srgbClr val="6B6F85"/>
                </a:solidFill>
                <a:latin typeface="微软雅黑"/>
              </a:rPr>
              <a:t>阻尼缩放因子</a:t>
            </a:r>
            <a:r>
              <a:rPr sz="1100" b="0" dirty="0">
                <a:solidFill>
                  <a:srgbClr val="6B6F85"/>
                </a:solidFill>
                <a:latin typeface="微软雅黑"/>
              </a:rPr>
              <a:t> | ρ=AR(1) </a:t>
            </a:r>
            <a:r>
              <a:rPr sz="1100" b="0" dirty="0" err="1">
                <a:solidFill>
                  <a:srgbClr val="6B6F85"/>
                </a:solidFill>
                <a:latin typeface="微软雅黑"/>
              </a:rPr>
              <a:t>自相关系数</a:t>
            </a:r>
            <a:r>
              <a:rPr sz="1100" b="0" dirty="0">
                <a:solidFill>
                  <a:srgbClr val="6B6F85"/>
                </a:solidFill>
                <a:latin typeface="微软雅黑"/>
              </a:rPr>
              <a:t> | σ=</a:t>
            </a:r>
            <a:r>
              <a:rPr sz="1100" b="0" dirty="0" err="1">
                <a:solidFill>
                  <a:srgbClr val="6B6F85"/>
                </a:solidFill>
                <a:latin typeface="微软雅黑"/>
              </a:rPr>
              <a:t>噪声标准差</a:t>
            </a:r>
            <a:r>
              <a:rPr sz="1100" b="0" dirty="0">
                <a:solidFill>
                  <a:srgbClr val="6B6F85"/>
                </a:solidFill>
                <a:latin typeface="微软雅黑"/>
              </a:rPr>
              <a:t> | θ=OU </a:t>
            </a:r>
            <a:r>
              <a:rPr sz="1100" b="0" dirty="0" err="1">
                <a:solidFill>
                  <a:srgbClr val="6B6F85"/>
                </a:solidFill>
                <a:latin typeface="微软雅黑"/>
              </a:rPr>
              <a:t>回归速率</a:t>
            </a:r>
            <a:r>
              <a:rPr sz="1100" b="0" dirty="0">
                <a:solidFill>
                  <a:srgbClr val="6B6F85"/>
                </a:solidFill>
                <a:latin typeface="微软雅黑"/>
              </a:rPr>
              <a:t> | amp=</a:t>
            </a:r>
            <a:r>
              <a:rPr sz="1100" b="0" dirty="0" err="1">
                <a:solidFill>
                  <a:srgbClr val="6B6F85"/>
                </a:solidFill>
                <a:latin typeface="微软雅黑"/>
              </a:rPr>
              <a:t>幅值缩放</a:t>
            </a:r>
            <a:r>
              <a:rPr sz="1100" b="0" dirty="0">
                <a:solidFill>
                  <a:srgbClr val="6B6F85"/>
                </a:solidFill>
                <a:latin typeface="微软雅黑"/>
              </a:rPr>
              <a:t> | </a:t>
            </a:r>
            <a:r>
              <a:rPr sz="1100" b="0" dirty="0" err="1">
                <a:solidFill>
                  <a:srgbClr val="6B6F85"/>
                </a:solidFill>
                <a:latin typeface="微软雅黑"/>
              </a:rPr>
              <a:t>freq</a:t>
            </a:r>
            <a:r>
              <a:rPr sz="1100" b="0" dirty="0">
                <a:solidFill>
                  <a:srgbClr val="6B6F85"/>
                </a:solidFill>
                <a:latin typeface="微软雅黑"/>
              </a:rPr>
              <a:t>=</a:t>
            </a:r>
            <a:r>
              <a:rPr sz="1100" b="0" dirty="0" err="1">
                <a:solidFill>
                  <a:srgbClr val="6B6F85"/>
                </a:solidFill>
                <a:latin typeface="微软雅黑"/>
              </a:rPr>
              <a:t>频率缩放</a:t>
            </a:r>
            <a:r>
              <a:rPr sz="1100" b="0" dirty="0">
                <a:solidFill>
                  <a:srgbClr val="6B6F85"/>
                </a:solidFill>
                <a:latin typeface="微软雅黑"/>
              </a:rPr>
              <a:t> | delay=</a:t>
            </a:r>
            <a:r>
              <a:rPr sz="1100" b="0" dirty="0" err="1">
                <a:solidFill>
                  <a:srgbClr val="6B6F85"/>
                </a:solidFill>
                <a:latin typeface="微软雅黑"/>
              </a:rPr>
              <a:t>传感器</a:t>
            </a:r>
            <a:r>
              <a:rPr sz="1100" b="0" dirty="0">
                <a:solidFill>
                  <a:srgbClr val="6B6F85"/>
                </a:solidFill>
                <a:latin typeface="微软雅黑"/>
              </a:rPr>
              <a:t>/</a:t>
            </a:r>
            <a:r>
              <a:rPr sz="1100" b="0" dirty="0" err="1">
                <a:solidFill>
                  <a:srgbClr val="6B6F85"/>
                </a:solidFill>
                <a:latin typeface="微软雅黑"/>
              </a:rPr>
              <a:t>执行器延迟步数</a:t>
            </a:r>
            <a:r>
              <a:rPr sz="1100" b="0" dirty="0">
                <a:solidFill>
                  <a:srgbClr val="6B6F85"/>
                </a:solidFill>
                <a:latin typeface="微软雅黑"/>
              </a:rPr>
              <a:t> | noise=</a:t>
            </a:r>
            <a:r>
              <a:rPr sz="1100" b="0" dirty="0" err="1">
                <a:solidFill>
                  <a:srgbClr val="6B6F85"/>
                </a:solidFill>
                <a:latin typeface="微软雅黑"/>
              </a:rPr>
              <a:t>噪声标准差</a:t>
            </a:r>
            <a:endParaRPr sz="1100" b="0" dirty="0">
              <a:solidFill>
                <a:srgbClr val="6B6F85"/>
              </a:solidFill>
              <a:latin typeface="微软雅黑"/>
            </a:endParaRPr>
          </a:p>
          <a:p>
            <a:pPr>
              <a:lnSpc>
                <a:spcPct val="115000"/>
              </a:lnSpc>
              <a:spcAft>
                <a:spcPts val="300"/>
              </a:spcAft>
            </a:pPr>
            <a:r>
              <a:rPr sz="1200" b="1" dirty="0">
                <a:solidFill>
                  <a:srgbClr val="514D83"/>
                </a:solidFill>
                <a:latin typeface="微软雅黑"/>
              </a:rPr>
              <a:t>「OOD」= </a:t>
            </a:r>
            <a:r>
              <a:rPr sz="1200" b="1" dirty="0" err="1">
                <a:solidFill>
                  <a:srgbClr val="514D83"/>
                </a:solidFill>
                <a:latin typeface="微软雅黑"/>
              </a:rPr>
              <a:t>测试范围系统性超出训练范围</a:t>
            </a:r>
            <a:r>
              <a:rPr sz="1200" b="1" dirty="0">
                <a:solidFill>
                  <a:srgbClr val="514D83"/>
                </a:solidFill>
                <a:latin typeface="微软雅黑"/>
              </a:rPr>
              <a:t> | 85 ID + 35 OOD = 120 </a:t>
            </a:r>
            <a:r>
              <a:rPr sz="1200" b="1" dirty="0" err="1">
                <a:solidFill>
                  <a:srgbClr val="514D83"/>
                </a:solidFill>
                <a:latin typeface="微软雅黑"/>
              </a:rPr>
              <a:t>配对回合</a:t>
            </a:r>
            <a:r>
              <a:rPr sz="1200" b="1" dirty="0">
                <a:solidFill>
                  <a:srgbClr val="514D83"/>
                </a:solidFill>
                <a:latin typeface="微软雅黑"/>
              </a:rPr>
              <a:t> × 14 </a:t>
            </a:r>
            <a:r>
              <a:rPr sz="1200" b="1" dirty="0" err="1">
                <a:solidFill>
                  <a:srgbClr val="514D83"/>
                </a:solidFill>
                <a:latin typeface="微软雅黑"/>
              </a:rPr>
              <a:t>组合</a:t>
            </a:r>
            <a:r>
              <a:rPr sz="1200" b="1" dirty="0">
                <a:solidFill>
                  <a:srgbClr val="514D83"/>
                </a:solidFill>
                <a:latin typeface="微软雅黑"/>
              </a:rPr>
              <a:t> = 1,680 </a:t>
            </a:r>
            <a:r>
              <a:rPr sz="1200" b="1" dirty="0" err="1">
                <a:solidFill>
                  <a:srgbClr val="514D83"/>
                </a:solidFill>
                <a:latin typeface="微软雅黑"/>
              </a:rPr>
              <a:t>次滚动</a:t>
            </a:r>
            <a:endParaRPr sz="1200" b="1" dirty="0">
              <a:solidFill>
                <a:srgbClr val="514D83"/>
              </a:solidFill>
              <a:latin typeface="微软雅黑"/>
            </a:endParaRPr>
          </a:p>
        </p:txBody>
      </p:sp>
    </p:spTree>
    <p:extLst>
      <p:ext uri="{BB962C8B-B14F-4D97-AF65-F5344CB8AC3E}">
        <p14:creationId xmlns:p14="http://schemas.microsoft.com/office/powerpoint/2010/main" val="2954208809"/>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912244-9F62-B9DB-AF12-15BDD5ED3E77}"/>
            </a:ext>
          </a:extLst>
        </p:cNvPr>
        <p:cNvGrpSpPr/>
        <p:nvPr/>
      </p:nvGrpSpPr>
      <p:grpSpPr>
        <a:xfrm>
          <a:off x="0" y="0"/>
          <a:ext cx="0" cy="0"/>
          <a:chOff x="0" y="0"/>
          <a:chExt cx="0" cy="0"/>
        </a:xfrm>
      </p:grpSpPr>
      <p:sp>
        <p:nvSpPr>
          <p:cNvPr id="7" name="文本框 6">
            <a:extLst>
              <a:ext uri="{FF2B5EF4-FFF2-40B4-BE49-F238E27FC236}">
                <a16:creationId xmlns:a16="http://schemas.microsoft.com/office/drawing/2014/main" id="{76151FF0-F5C7-9DB9-D69D-3553197FC862}"/>
              </a:ext>
            </a:extLst>
          </p:cNvPr>
          <p:cNvSpPr txBox="1"/>
          <p:nvPr/>
        </p:nvSpPr>
        <p:spPr>
          <a:xfrm>
            <a:off x="10461848" y="299500"/>
            <a:ext cx="1197832" cy="369332"/>
          </a:xfrm>
          <a:prstGeom prst="rect">
            <a:avLst/>
          </a:prstGeom>
          <a:noFill/>
        </p:spPr>
        <p:txBody>
          <a:bodyPr wrap="square" rtlCol="0">
            <a:spAutoFit/>
          </a:bodyPr>
          <a:lstStyle/>
          <a:p>
            <a:pPr algn="ctr"/>
            <a:r>
              <a:rPr kumimoji="1" lang="zh-CN" altLang="en-US" b="1" spc="110" dirty="0">
                <a:solidFill>
                  <a:schemeClr val="bg1"/>
                </a:solidFill>
                <a:latin typeface="微软雅黑" panose="020B0503020204020204" pitchFamily="34" charset="-122"/>
                <a:ea typeface="微软雅黑" panose="020B0503020204020204" pitchFamily="34" charset="-122"/>
              </a:rPr>
              <a:t>读研展望</a:t>
            </a:r>
          </a:p>
        </p:txBody>
      </p:sp>
      <p:sp>
        <p:nvSpPr>
          <p:cNvPr id="9" name="文本框 8">
            <a:extLst>
              <a:ext uri="{FF2B5EF4-FFF2-40B4-BE49-F238E27FC236}">
                <a16:creationId xmlns:a16="http://schemas.microsoft.com/office/drawing/2014/main" id="{73A6C1B1-A144-C18C-FE3E-7D5CC07383A6}"/>
              </a:ext>
            </a:extLst>
          </p:cNvPr>
          <p:cNvSpPr txBox="1"/>
          <p:nvPr/>
        </p:nvSpPr>
        <p:spPr>
          <a:xfrm>
            <a:off x="2875146" y="179975"/>
            <a:ext cx="1336142" cy="369332"/>
          </a:xfrm>
          <a:prstGeom prst="rect">
            <a:avLst/>
          </a:prstGeom>
          <a:noFill/>
        </p:spPr>
        <p:txBody>
          <a:bodyPr wrap="square" rtlCol="0">
            <a:spAutoFit/>
          </a:bodyPr>
          <a:lstStyle/>
          <a:p>
            <a:pPr algn="ctr"/>
            <a:r>
              <a:rPr kumimoji="1" lang="zh-CN" altLang="en-US" b="1" spc="110" dirty="0">
                <a:solidFill>
                  <a:schemeClr val="bg1"/>
                </a:solidFill>
                <a:latin typeface="微软雅黑" panose="020B0503020204020204" pitchFamily="34" charset="-122"/>
                <a:ea typeface="微软雅黑" panose="020B0503020204020204" pitchFamily="34" charset="-122"/>
              </a:rPr>
              <a:t>个人简介</a:t>
            </a:r>
          </a:p>
        </p:txBody>
      </p:sp>
      <p:sp>
        <p:nvSpPr>
          <p:cNvPr id="15" name="椭圆 14">
            <a:extLst>
              <a:ext uri="{FF2B5EF4-FFF2-40B4-BE49-F238E27FC236}">
                <a16:creationId xmlns:a16="http://schemas.microsoft.com/office/drawing/2014/main" id="{239DEC28-79C9-566A-B45C-C101C0104A88}"/>
              </a:ext>
            </a:extLst>
          </p:cNvPr>
          <p:cNvSpPr/>
          <p:nvPr/>
        </p:nvSpPr>
        <p:spPr>
          <a:xfrm>
            <a:off x="11750347" y="6411598"/>
            <a:ext cx="289344" cy="289344"/>
          </a:xfrm>
          <a:prstGeom prst="ellipse">
            <a:avLst/>
          </a:prstGeom>
          <a:solidFill>
            <a:schemeClr val="bg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CN" altLang="en-US">
              <a:solidFill>
                <a:schemeClr val="accent1"/>
              </a:solidFill>
            </a:endParaRPr>
          </a:p>
        </p:txBody>
      </p:sp>
      <p:sp>
        <p:nvSpPr>
          <p:cNvPr id="16" name="灯片编号占位符 18">
            <a:extLst>
              <a:ext uri="{FF2B5EF4-FFF2-40B4-BE49-F238E27FC236}">
                <a16:creationId xmlns:a16="http://schemas.microsoft.com/office/drawing/2014/main" id="{51A2C07F-150F-2CC2-6214-DE052198F607}"/>
              </a:ext>
            </a:extLst>
          </p:cNvPr>
          <p:cNvSpPr>
            <a:spLocks noGrp="1"/>
          </p:cNvSpPr>
          <p:nvPr>
            <p:ph type="sldNum" sz="quarter" idx="12"/>
          </p:nvPr>
        </p:nvSpPr>
        <p:spPr>
          <a:xfrm>
            <a:off x="11619554" y="6373707"/>
            <a:ext cx="550930" cy="365125"/>
          </a:xfrm>
        </p:spPr>
        <p:txBody>
          <a:bodyPr/>
          <a:lstStyle/>
          <a:p>
            <a:pPr algn="ctr"/>
            <a:fld id="{D290E156-FAFE-5144-A047-A692DE980B3A}" type="slidenum">
              <a:rPr kumimoji="1" lang="zh-CN" altLang="en-US" smtClean="0">
                <a:solidFill>
                  <a:schemeClr val="accent1"/>
                </a:solidFill>
                <a:latin typeface="Arial" panose="020B0604020202020204" pitchFamily="34" charset="0"/>
                <a:cs typeface="Arial" panose="020B0604020202020204" pitchFamily="34" charset="0"/>
              </a:rPr>
              <a:t>7</a:t>
            </a:fld>
            <a:endParaRPr kumimoji="1" lang="zh-CN" altLang="en-US" dirty="0">
              <a:solidFill>
                <a:schemeClr val="accent1"/>
              </a:solidFill>
              <a:latin typeface="Arial" panose="020B0604020202020204" pitchFamily="34" charset="0"/>
              <a:cs typeface="Arial" panose="020B0604020202020204" pitchFamily="34" charset="0"/>
            </a:endParaRPr>
          </a:p>
        </p:txBody>
      </p:sp>
      <p:sp>
        <p:nvSpPr>
          <p:cNvPr id="6" name="文本框 5">
            <a:extLst>
              <a:ext uri="{FF2B5EF4-FFF2-40B4-BE49-F238E27FC236}">
                <a16:creationId xmlns:a16="http://schemas.microsoft.com/office/drawing/2014/main" id="{3A5381A1-16A8-711A-72CF-ED8167CB19F5}"/>
              </a:ext>
            </a:extLst>
          </p:cNvPr>
          <p:cNvSpPr txBox="1"/>
          <p:nvPr/>
        </p:nvSpPr>
        <p:spPr>
          <a:xfrm>
            <a:off x="5032257" y="179975"/>
            <a:ext cx="1985202" cy="369332"/>
          </a:xfrm>
          <a:prstGeom prst="rect">
            <a:avLst/>
          </a:prstGeom>
          <a:noFill/>
        </p:spPr>
        <p:txBody>
          <a:bodyPr wrap="square" rtlCol="0">
            <a:spAutoFit/>
          </a:bodyPr>
          <a:lstStyle/>
          <a:p>
            <a:pPr algn="ctr"/>
            <a:r>
              <a:rPr kumimoji="1" lang="zh-CN" altLang="en-US" b="1" spc="110" dirty="0">
                <a:solidFill>
                  <a:schemeClr val="bg1"/>
                </a:solidFill>
                <a:latin typeface="微软雅黑" panose="020B0503020204020204" pitchFamily="34" charset="-122"/>
                <a:ea typeface="微软雅黑" panose="020B0503020204020204" pitchFamily="34" charset="-122"/>
              </a:rPr>
              <a:t>本科经历</a:t>
            </a:r>
          </a:p>
        </p:txBody>
      </p:sp>
      <p:sp>
        <p:nvSpPr>
          <p:cNvPr id="3" name="任意形状 2">
            <a:extLst>
              <a:ext uri="{FF2B5EF4-FFF2-40B4-BE49-F238E27FC236}">
                <a16:creationId xmlns:a16="http://schemas.microsoft.com/office/drawing/2014/main" id="{3391C5BA-24A5-B164-CEA8-28510823CC9F}"/>
              </a:ext>
            </a:extLst>
          </p:cNvPr>
          <p:cNvSpPr/>
          <p:nvPr/>
        </p:nvSpPr>
        <p:spPr>
          <a:xfrm>
            <a:off x="0" y="0"/>
            <a:ext cx="9896847" cy="662946"/>
          </a:xfrm>
          <a:custGeom>
            <a:avLst/>
            <a:gdLst>
              <a:gd name="connsiteX0" fmla="*/ 0 w 8681972"/>
              <a:gd name="connsiteY0" fmla="*/ 0 h 689675"/>
              <a:gd name="connsiteX1" fmla="*/ 8681972 w 8681972"/>
              <a:gd name="connsiteY1" fmla="*/ 0 h 689675"/>
              <a:gd name="connsiteX2" fmla="*/ 8461124 w 8681972"/>
              <a:gd name="connsiteY2" fmla="*/ 344837 h 689675"/>
              <a:gd name="connsiteX3" fmla="*/ 8681972 w 8681972"/>
              <a:gd name="connsiteY3" fmla="*/ 689675 h 689675"/>
              <a:gd name="connsiteX4" fmla="*/ 0 w 8681972"/>
              <a:gd name="connsiteY4" fmla="*/ 689675 h 689675"/>
              <a:gd name="connsiteX5" fmla="*/ 0 w 8681972"/>
              <a:gd name="connsiteY5" fmla="*/ 0 h 6896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681972" h="689675">
                <a:moveTo>
                  <a:pt x="0" y="0"/>
                </a:moveTo>
                <a:lnTo>
                  <a:pt x="8681972" y="0"/>
                </a:lnTo>
                <a:lnTo>
                  <a:pt x="8461124" y="344837"/>
                </a:lnTo>
                <a:lnTo>
                  <a:pt x="8681972" y="689675"/>
                </a:lnTo>
                <a:lnTo>
                  <a:pt x="0" y="689675"/>
                </a:lnTo>
                <a:lnTo>
                  <a:pt x="0" y="0"/>
                </a:lnTo>
                <a:close/>
              </a:path>
            </a:pathLst>
          </a:custGeom>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zh-CN" altLang="en-US" sz="1600"/>
          </a:p>
        </p:txBody>
      </p:sp>
      <p:sp>
        <p:nvSpPr>
          <p:cNvPr id="14" name="文本框 13">
            <a:extLst>
              <a:ext uri="{FF2B5EF4-FFF2-40B4-BE49-F238E27FC236}">
                <a16:creationId xmlns:a16="http://schemas.microsoft.com/office/drawing/2014/main" id="{8AE8BF68-F87F-EB91-CFB5-BA3DF261C9DE}"/>
              </a:ext>
            </a:extLst>
          </p:cNvPr>
          <p:cNvSpPr txBox="1"/>
          <p:nvPr/>
        </p:nvSpPr>
        <p:spPr>
          <a:xfrm>
            <a:off x="281981" y="79754"/>
            <a:ext cx="9335355" cy="523220"/>
          </a:xfrm>
          <a:prstGeom prst="rect">
            <a:avLst/>
          </a:prstGeom>
          <a:noFill/>
        </p:spPr>
        <p:txBody>
          <a:bodyPr wrap="square" rtlCol="0">
            <a:spAutoFit/>
          </a:bodyPr>
          <a:lstStyle>
            <a:defPPr>
              <a:defRPr lang="zh-CN"/>
            </a:defPPr>
            <a:lvl1pPr algn="ctr">
              <a:defRPr kumimoji="1" sz="4400" b="1" spc="300">
                <a:solidFill>
                  <a:schemeClr val="bg1"/>
                </a:solidFill>
                <a:latin typeface="微软雅黑" panose="020B0503020204020204" pitchFamily="34" charset="-122"/>
                <a:ea typeface="微软雅黑" panose="020B0503020204020204" pitchFamily="34" charset="-122"/>
              </a:defRPr>
            </a:lvl1pPr>
          </a:lstStyle>
          <a:p>
            <a:pPr algn="l"/>
            <a:r>
              <a:rPr lang="en-US" altLang="zh-CN" sz="1400" dirty="0"/>
              <a:t>Predictive Authority Control: Learning When and How Much to Trust Baseline Controllers for Robust Underwater Robot Tracking</a:t>
            </a:r>
            <a:endParaRPr lang="zh-CN" altLang="en-US" sz="1400" dirty="0"/>
          </a:p>
        </p:txBody>
      </p:sp>
      <p:pic>
        <p:nvPicPr>
          <p:cNvPr id="2" name="图片 1">
            <a:extLst>
              <a:ext uri="{FF2B5EF4-FFF2-40B4-BE49-F238E27FC236}">
                <a16:creationId xmlns:a16="http://schemas.microsoft.com/office/drawing/2014/main" id="{F5CC1C38-F682-91B2-B91D-457AC01C5B3E}"/>
              </a:ext>
            </a:extLst>
          </p:cNvPr>
          <p:cNvPicPr>
            <a:picLocks noChangeAspect="1"/>
          </p:cNvPicPr>
          <p:nvPr/>
        </p:nvPicPr>
        <p:blipFill>
          <a:blip r:embed="rId2"/>
          <a:stretch>
            <a:fillRect/>
          </a:stretch>
        </p:blipFill>
        <p:spPr>
          <a:xfrm>
            <a:off x="10121441" y="54734"/>
            <a:ext cx="1773578" cy="553478"/>
          </a:xfrm>
          <a:prstGeom prst="rect">
            <a:avLst/>
          </a:prstGeom>
        </p:spPr>
      </p:pic>
      <p:sp>
        <p:nvSpPr>
          <p:cNvPr id="20" name="文本框 19">
            <a:extLst>
              <a:ext uri="{FF2B5EF4-FFF2-40B4-BE49-F238E27FC236}">
                <a16:creationId xmlns:a16="http://schemas.microsoft.com/office/drawing/2014/main" id="{C9C391F2-7F7C-4797-BA1D-8F16D6C8CAB4}"/>
              </a:ext>
            </a:extLst>
          </p:cNvPr>
          <p:cNvSpPr txBox="1"/>
          <p:nvPr/>
        </p:nvSpPr>
        <p:spPr>
          <a:xfrm>
            <a:off x="0" y="738435"/>
            <a:ext cx="12501349" cy="338554"/>
          </a:xfrm>
          <a:prstGeom prst="rect">
            <a:avLst/>
          </a:prstGeom>
          <a:noFill/>
        </p:spPr>
        <p:txBody>
          <a:bodyPr wrap="square" rtlCol="0">
            <a:spAutoFit/>
          </a:bodyPr>
          <a:lstStyle/>
          <a:p>
            <a:pPr marL="342900" indent="-342900">
              <a:buSzPct val="85000"/>
              <a:buFont typeface="Wingdings" panose="05000000000000000000" pitchFamily="2" charset="2"/>
              <a:buChar char="n"/>
            </a:pPr>
            <a:r>
              <a:rPr kumimoji="1" lang="en-US" altLang="zh-CN" sz="1600" b="1" spc="300" dirty="0">
                <a:solidFill>
                  <a:schemeClr val="accent1"/>
                </a:solidFill>
                <a:latin typeface="微软雅黑" panose="020B0503020204020204" pitchFamily="34" charset="-122"/>
                <a:ea typeface="微软雅黑" panose="020B0503020204020204" pitchFamily="34" charset="-122"/>
              </a:rPr>
              <a:t>PAC</a:t>
            </a:r>
            <a:r>
              <a:rPr kumimoji="1" lang="zh-CN" altLang="en-US" sz="1600" b="1" spc="300" dirty="0">
                <a:solidFill>
                  <a:schemeClr val="accent1"/>
                </a:solidFill>
                <a:latin typeface="微软雅黑" panose="020B0503020204020204" pitchFamily="34" charset="-122"/>
                <a:ea typeface="微软雅黑" panose="020B0503020204020204" pitchFamily="34" charset="-122"/>
              </a:rPr>
              <a:t>：面向水下机器人鲁棒跟踪的基线控制器时序信任权重学习</a:t>
            </a:r>
          </a:p>
        </p:txBody>
      </p:sp>
      <p:cxnSp>
        <p:nvCxnSpPr>
          <p:cNvPr id="21" name="直线连接符 12">
            <a:extLst>
              <a:ext uri="{FF2B5EF4-FFF2-40B4-BE49-F238E27FC236}">
                <a16:creationId xmlns:a16="http://schemas.microsoft.com/office/drawing/2014/main" id="{707A6311-6E30-619C-4838-5EE13482DD80}"/>
              </a:ext>
            </a:extLst>
          </p:cNvPr>
          <p:cNvCxnSpPr/>
          <p:nvPr/>
        </p:nvCxnSpPr>
        <p:spPr>
          <a:xfrm>
            <a:off x="908" y="1167007"/>
            <a:ext cx="10978564" cy="0"/>
          </a:xfrm>
          <a:prstGeom prst="line">
            <a:avLst/>
          </a:prstGeom>
        </p:spPr>
        <p:style>
          <a:lnRef idx="1">
            <a:schemeClr val="accent1"/>
          </a:lnRef>
          <a:fillRef idx="0">
            <a:schemeClr val="accent1"/>
          </a:fillRef>
          <a:effectRef idx="0">
            <a:schemeClr val="accent1"/>
          </a:effectRef>
          <a:fontRef idx="minor">
            <a:schemeClr val="tx1"/>
          </a:fontRef>
        </p:style>
      </p:cxnSp>
      <p:pic>
        <p:nvPicPr>
          <p:cNvPr id="12" name="Picture 11" descr="gallery_00_structured_seen.png"/>
          <p:cNvPicPr>
            <a:picLocks noChangeAspect="1"/>
          </p:cNvPicPr>
          <p:nvPr/>
        </p:nvPicPr>
        <p:blipFill>
          <a:blip r:embed="rId3"/>
          <a:stretch>
            <a:fillRect/>
          </a:stretch>
        </p:blipFill>
        <p:spPr>
          <a:xfrm>
            <a:off x="457200" y="1711845"/>
            <a:ext cx="3044687" cy="4572000"/>
          </a:xfrm>
          <a:prstGeom prst="rect">
            <a:avLst/>
          </a:prstGeom>
        </p:spPr>
      </p:pic>
      <p:pic>
        <p:nvPicPr>
          <p:cNvPr id="13" name="Picture 12" descr="gallery_01_structured_seen.png"/>
          <p:cNvPicPr>
            <a:picLocks noChangeAspect="1"/>
          </p:cNvPicPr>
          <p:nvPr/>
        </p:nvPicPr>
        <p:blipFill>
          <a:blip r:embed="rId4"/>
          <a:stretch>
            <a:fillRect/>
          </a:stretch>
        </p:blipFill>
        <p:spPr>
          <a:xfrm>
            <a:off x="4389120" y="1711845"/>
            <a:ext cx="3044687" cy="4572000"/>
          </a:xfrm>
          <a:prstGeom prst="rect">
            <a:avLst/>
          </a:prstGeom>
        </p:spPr>
      </p:pic>
      <p:pic>
        <p:nvPicPr>
          <p:cNvPr id="5" name="Picture 13" descr="gallery_02_structured_seen.png"/>
          <p:cNvPicPr>
            <a:picLocks noChangeAspect="1"/>
          </p:cNvPicPr>
          <p:nvPr/>
        </p:nvPicPr>
        <p:blipFill>
          <a:blip r:embed="rId5"/>
          <a:stretch>
            <a:fillRect/>
          </a:stretch>
        </p:blipFill>
        <p:spPr>
          <a:xfrm>
            <a:off x="8321040" y="1711845"/>
            <a:ext cx="3044687" cy="4572000"/>
          </a:xfrm>
          <a:prstGeom prst="rect">
            <a:avLst/>
          </a:prstGeom>
        </p:spPr>
      </p:pic>
      <p:sp>
        <p:nvSpPr>
          <p:cNvPr id="11" name="TextBox 10"/>
          <p:cNvSpPr txBox="1"/>
          <p:nvPr/>
        </p:nvSpPr>
        <p:spPr>
          <a:xfrm>
            <a:off x="274320" y="1234440"/>
            <a:ext cx="11612880" cy="457200"/>
          </a:xfrm>
          <a:prstGeom prst="rect">
            <a:avLst/>
          </a:prstGeom>
          <a:noFill/>
        </p:spPr>
        <p:txBody>
          <a:bodyPr wrap="square">
            <a:spAutoFit/>
          </a:bodyPr>
          <a:lstStyle/>
          <a:p>
            <a:pPr>
              <a:lnSpc>
                <a:spcPct val="115000"/>
              </a:lnSpc>
              <a:spcAft>
                <a:spcPts val="300"/>
              </a:spcAft>
            </a:pPr>
            <a:r>
              <a:rPr sz="1700" b="1" dirty="0" err="1">
                <a:solidFill>
                  <a:srgbClr val="514D83"/>
                </a:solidFill>
                <a:latin typeface="微软雅黑"/>
              </a:rPr>
              <a:t>结构化海流（ID</a:t>
            </a:r>
            <a:r>
              <a:rPr sz="1700" b="1" dirty="0">
                <a:solidFill>
                  <a:srgbClr val="514D83"/>
                </a:solidFill>
                <a:latin typeface="微软雅黑"/>
              </a:rPr>
              <a:t>）</a:t>
            </a:r>
          </a:p>
        </p:txBody>
      </p:sp>
      <p:sp>
        <p:nvSpPr>
          <p:cNvPr id="8" name="TextBox 14"/>
          <p:cNvSpPr txBox="1"/>
          <p:nvPr/>
        </p:nvSpPr>
        <p:spPr>
          <a:xfrm>
            <a:off x="457200" y="6537960"/>
            <a:ext cx="11247120" cy="365760"/>
          </a:xfrm>
          <a:prstGeom prst="rect">
            <a:avLst/>
          </a:prstGeom>
          <a:noFill/>
        </p:spPr>
        <p:txBody>
          <a:bodyPr wrap="square">
            <a:spAutoFit/>
          </a:bodyPr>
          <a:lstStyle/>
          <a:p>
            <a:pPr>
              <a:lnSpc>
                <a:spcPct val="115000"/>
              </a:lnSpc>
              <a:spcAft>
                <a:spcPts val="300"/>
              </a:spcAft>
            </a:pPr>
            <a:r>
              <a:rPr sz="1100" b="0">
                <a:latin typeface="微软雅黑"/>
              </a:rPr>
              <a:t>恒定流×2.5（方向不变）| 多频正弦叠加 | 阶跃 t=10s 突变</a:t>
            </a:r>
          </a:p>
        </p:txBody>
      </p:sp>
    </p:spTree>
    <p:extLst>
      <p:ext uri="{BB962C8B-B14F-4D97-AF65-F5344CB8AC3E}">
        <p14:creationId xmlns:p14="http://schemas.microsoft.com/office/powerpoint/2010/main" val="2545557330"/>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B35FBC-A790-28F0-E3FE-2916AA9C06C8}"/>
            </a:ext>
          </a:extLst>
        </p:cNvPr>
        <p:cNvGrpSpPr/>
        <p:nvPr/>
      </p:nvGrpSpPr>
      <p:grpSpPr>
        <a:xfrm>
          <a:off x="0" y="0"/>
          <a:ext cx="0" cy="0"/>
          <a:chOff x="0" y="0"/>
          <a:chExt cx="0" cy="0"/>
        </a:xfrm>
      </p:grpSpPr>
      <p:sp>
        <p:nvSpPr>
          <p:cNvPr id="7" name="文本框 6">
            <a:extLst>
              <a:ext uri="{FF2B5EF4-FFF2-40B4-BE49-F238E27FC236}">
                <a16:creationId xmlns:a16="http://schemas.microsoft.com/office/drawing/2014/main" id="{F33D8B55-01B2-4C40-361B-453F59FB3621}"/>
              </a:ext>
            </a:extLst>
          </p:cNvPr>
          <p:cNvSpPr txBox="1"/>
          <p:nvPr/>
        </p:nvSpPr>
        <p:spPr>
          <a:xfrm>
            <a:off x="10461848" y="299500"/>
            <a:ext cx="1197832" cy="369332"/>
          </a:xfrm>
          <a:prstGeom prst="rect">
            <a:avLst/>
          </a:prstGeom>
          <a:noFill/>
        </p:spPr>
        <p:txBody>
          <a:bodyPr wrap="square" rtlCol="0">
            <a:spAutoFit/>
          </a:bodyPr>
          <a:lstStyle/>
          <a:p>
            <a:pPr algn="ctr"/>
            <a:r>
              <a:rPr kumimoji="1" lang="zh-CN" altLang="en-US" b="1" spc="110" dirty="0">
                <a:solidFill>
                  <a:schemeClr val="bg1"/>
                </a:solidFill>
                <a:latin typeface="微软雅黑" panose="020B0503020204020204" pitchFamily="34" charset="-122"/>
                <a:ea typeface="微软雅黑" panose="020B0503020204020204" pitchFamily="34" charset="-122"/>
              </a:rPr>
              <a:t>读研展望</a:t>
            </a:r>
          </a:p>
        </p:txBody>
      </p:sp>
      <p:sp>
        <p:nvSpPr>
          <p:cNvPr id="9" name="文本框 8">
            <a:extLst>
              <a:ext uri="{FF2B5EF4-FFF2-40B4-BE49-F238E27FC236}">
                <a16:creationId xmlns:a16="http://schemas.microsoft.com/office/drawing/2014/main" id="{3DC24757-8FBB-B3D1-7939-174D54546B97}"/>
              </a:ext>
            </a:extLst>
          </p:cNvPr>
          <p:cNvSpPr txBox="1"/>
          <p:nvPr/>
        </p:nvSpPr>
        <p:spPr>
          <a:xfrm>
            <a:off x="2875146" y="179975"/>
            <a:ext cx="1336142" cy="369332"/>
          </a:xfrm>
          <a:prstGeom prst="rect">
            <a:avLst/>
          </a:prstGeom>
          <a:noFill/>
        </p:spPr>
        <p:txBody>
          <a:bodyPr wrap="square" rtlCol="0">
            <a:spAutoFit/>
          </a:bodyPr>
          <a:lstStyle/>
          <a:p>
            <a:pPr algn="ctr"/>
            <a:r>
              <a:rPr kumimoji="1" lang="zh-CN" altLang="en-US" b="1" spc="110" dirty="0">
                <a:solidFill>
                  <a:schemeClr val="bg1"/>
                </a:solidFill>
                <a:latin typeface="微软雅黑" panose="020B0503020204020204" pitchFamily="34" charset="-122"/>
                <a:ea typeface="微软雅黑" panose="020B0503020204020204" pitchFamily="34" charset="-122"/>
              </a:rPr>
              <a:t>个人简介</a:t>
            </a:r>
          </a:p>
        </p:txBody>
      </p:sp>
      <p:sp>
        <p:nvSpPr>
          <p:cNvPr id="15" name="椭圆 14">
            <a:extLst>
              <a:ext uri="{FF2B5EF4-FFF2-40B4-BE49-F238E27FC236}">
                <a16:creationId xmlns:a16="http://schemas.microsoft.com/office/drawing/2014/main" id="{AED2F30D-BFD7-9409-1CF9-E3EFEBE6B7E1}"/>
              </a:ext>
            </a:extLst>
          </p:cNvPr>
          <p:cNvSpPr/>
          <p:nvPr/>
        </p:nvSpPr>
        <p:spPr>
          <a:xfrm>
            <a:off x="11750347" y="6411598"/>
            <a:ext cx="289344" cy="289344"/>
          </a:xfrm>
          <a:prstGeom prst="ellipse">
            <a:avLst/>
          </a:prstGeom>
          <a:solidFill>
            <a:schemeClr val="bg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CN" altLang="en-US">
              <a:solidFill>
                <a:schemeClr val="accent1"/>
              </a:solidFill>
            </a:endParaRPr>
          </a:p>
        </p:txBody>
      </p:sp>
      <p:sp>
        <p:nvSpPr>
          <p:cNvPr id="16" name="灯片编号占位符 18">
            <a:extLst>
              <a:ext uri="{FF2B5EF4-FFF2-40B4-BE49-F238E27FC236}">
                <a16:creationId xmlns:a16="http://schemas.microsoft.com/office/drawing/2014/main" id="{D79DC304-86EB-B1CE-71A2-8A9C32C42EF6}"/>
              </a:ext>
            </a:extLst>
          </p:cNvPr>
          <p:cNvSpPr>
            <a:spLocks noGrp="1"/>
          </p:cNvSpPr>
          <p:nvPr>
            <p:ph type="sldNum" sz="quarter" idx="12"/>
          </p:nvPr>
        </p:nvSpPr>
        <p:spPr>
          <a:xfrm>
            <a:off x="11619554" y="6373707"/>
            <a:ext cx="550930" cy="365125"/>
          </a:xfrm>
        </p:spPr>
        <p:txBody>
          <a:bodyPr/>
          <a:lstStyle/>
          <a:p>
            <a:pPr algn="ctr"/>
            <a:fld id="{D290E156-FAFE-5144-A047-A692DE980B3A}" type="slidenum">
              <a:rPr kumimoji="1" lang="zh-CN" altLang="en-US" smtClean="0">
                <a:solidFill>
                  <a:schemeClr val="accent1"/>
                </a:solidFill>
                <a:latin typeface="Arial" panose="020B0604020202020204" pitchFamily="34" charset="0"/>
                <a:cs typeface="Arial" panose="020B0604020202020204" pitchFamily="34" charset="0"/>
              </a:rPr>
              <a:t>8</a:t>
            </a:fld>
            <a:endParaRPr kumimoji="1" lang="zh-CN" altLang="en-US" dirty="0">
              <a:solidFill>
                <a:schemeClr val="accent1"/>
              </a:solidFill>
              <a:latin typeface="Arial" panose="020B0604020202020204" pitchFamily="34" charset="0"/>
              <a:cs typeface="Arial" panose="020B0604020202020204" pitchFamily="34" charset="0"/>
            </a:endParaRPr>
          </a:p>
        </p:txBody>
      </p:sp>
      <p:sp>
        <p:nvSpPr>
          <p:cNvPr id="6" name="文本框 5">
            <a:extLst>
              <a:ext uri="{FF2B5EF4-FFF2-40B4-BE49-F238E27FC236}">
                <a16:creationId xmlns:a16="http://schemas.microsoft.com/office/drawing/2014/main" id="{FF5BF4E9-5E88-E494-A6F1-D23BDB7F4854}"/>
              </a:ext>
            </a:extLst>
          </p:cNvPr>
          <p:cNvSpPr txBox="1"/>
          <p:nvPr/>
        </p:nvSpPr>
        <p:spPr>
          <a:xfrm>
            <a:off x="5032257" y="179975"/>
            <a:ext cx="1985202" cy="369332"/>
          </a:xfrm>
          <a:prstGeom prst="rect">
            <a:avLst/>
          </a:prstGeom>
          <a:noFill/>
        </p:spPr>
        <p:txBody>
          <a:bodyPr wrap="square" rtlCol="0">
            <a:spAutoFit/>
          </a:bodyPr>
          <a:lstStyle/>
          <a:p>
            <a:pPr algn="ctr"/>
            <a:r>
              <a:rPr kumimoji="1" lang="zh-CN" altLang="en-US" b="1" spc="110" dirty="0">
                <a:solidFill>
                  <a:schemeClr val="bg1"/>
                </a:solidFill>
                <a:latin typeface="微软雅黑" panose="020B0503020204020204" pitchFamily="34" charset="-122"/>
                <a:ea typeface="微软雅黑" panose="020B0503020204020204" pitchFamily="34" charset="-122"/>
              </a:rPr>
              <a:t>本科经历</a:t>
            </a:r>
          </a:p>
        </p:txBody>
      </p:sp>
      <p:sp>
        <p:nvSpPr>
          <p:cNvPr id="3" name="任意形状 2">
            <a:extLst>
              <a:ext uri="{FF2B5EF4-FFF2-40B4-BE49-F238E27FC236}">
                <a16:creationId xmlns:a16="http://schemas.microsoft.com/office/drawing/2014/main" id="{6524023F-E1E6-E00D-56F9-FAB471D60FD0}"/>
              </a:ext>
            </a:extLst>
          </p:cNvPr>
          <p:cNvSpPr/>
          <p:nvPr/>
        </p:nvSpPr>
        <p:spPr>
          <a:xfrm>
            <a:off x="0" y="0"/>
            <a:ext cx="9896847" cy="662946"/>
          </a:xfrm>
          <a:custGeom>
            <a:avLst/>
            <a:gdLst>
              <a:gd name="connsiteX0" fmla="*/ 0 w 8681972"/>
              <a:gd name="connsiteY0" fmla="*/ 0 h 689675"/>
              <a:gd name="connsiteX1" fmla="*/ 8681972 w 8681972"/>
              <a:gd name="connsiteY1" fmla="*/ 0 h 689675"/>
              <a:gd name="connsiteX2" fmla="*/ 8461124 w 8681972"/>
              <a:gd name="connsiteY2" fmla="*/ 344837 h 689675"/>
              <a:gd name="connsiteX3" fmla="*/ 8681972 w 8681972"/>
              <a:gd name="connsiteY3" fmla="*/ 689675 h 689675"/>
              <a:gd name="connsiteX4" fmla="*/ 0 w 8681972"/>
              <a:gd name="connsiteY4" fmla="*/ 689675 h 689675"/>
              <a:gd name="connsiteX5" fmla="*/ 0 w 8681972"/>
              <a:gd name="connsiteY5" fmla="*/ 0 h 6896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681972" h="689675">
                <a:moveTo>
                  <a:pt x="0" y="0"/>
                </a:moveTo>
                <a:lnTo>
                  <a:pt x="8681972" y="0"/>
                </a:lnTo>
                <a:lnTo>
                  <a:pt x="8461124" y="344837"/>
                </a:lnTo>
                <a:lnTo>
                  <a:pt x="8681972" y="689675"/>
                </a:lnTo>
                <a:lnTo>
                  <a:pt x="0" y="689675"/>
                </a:lnTo>
                <a:lnTo>
                  <a:pt x="0" y="0"/>
                </a:lnTo>
                <a:close/>
              </a:path>
            </a:pathLst>
          </a:custGeom>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zh-CN" altLang="en-US" sz="1600"/>
          </a:p>
        </p:txBody>
      </p:sp>
      <p:sp>
        <p:nvSpPr>
          <p:cNvPr id="14" name="文本框 13">
            <a:extLst>
              <a:ext uri="{FF2B5EF4-FFF2-40B4-BE49-F238E27FC236}">
                <a16:creationId xmlns:a16="http://schemas.microsoft.com/office/drawing/2014/main" id="{B7452CF6-B744-7A18-034A-E1260043F5BC}"/>
              </a:ext>
            </a:extLst>
          </p:cNvPr>
          <p:cNvSpPr txBox="1"/>
          <p:nvPr/>
        </p:nvSpPr>
        <p:spPr>
          <a:xfrm>
            <a:off x="281981" y="79754"/>
            <a:ext cx="9335355" cy="523220"/>
          </a:xfrm>
          <a:prstGeom prst="rect">
            <a:avLst/>
          </a:prstGeom>
          <a:noFill/>
        </p:spPr>
        <p:txBody>
          <a:bodyPr wrap="square" rtlCol="0">
            <a:spAutoFit/>
          </a:bodyPr>
          <a:lstStyle>
            <a:defPPr>
              <a:defRPr lang="zh-CN"/>
            </a:defPPr>
            <a:lvl1pPr algn="ctr">
              <a:defRPr kumimoji="1" sz="4400" b="1" spc="300">
                <a:solidFill>
                  <a:schemeClr val="bg1"/>
                </a:solidFill>
                <a:latin typeface="微软雅黑" panose="020B0503020204020204" pitchFamily="34" charset="-122"/>
                <a:ea typeface="微软雅黑" panose="020B0503020204020204" pitchFamily="34" charset="-122"/>
              </a:defRPr>
            </a:lvl1pPr>
          </a:lstStyle>
          <a:p>
            <a:pPr algn="l"/>
            <a:r>
              <a:rPr lang="en-US" altLang="zh-CN" sz="1400" dirty="0"/>
              <a:t>Predictive Authority Control: Learning When and How Much to Trust Baseline Controllers for Robust Underwater Robot Tracking</a:t>
            </a:r>
            <a:endParaRPr lang="zh-CN" altLang="en-US" sz="1400" dirty="0"/>
          </a:p>
        </p:txBody>
      </p:sp>
      <p:pic>
        <p:nvPicPr>
          <p:cNvPr id="2" name="图片 1">
            <a:extLst>
              <a:ext uri="{FF2B5EF4-FFF2-40B4-BE49-F238E27FC236}">
                <a16:creationId xmlns:a16="http://schemas.microsoft.com/office/drawing/2014/main" id="{74813A74-2809-6940-7BCD-BCC18C573D39}"/>
              </a:ext>
            </a:extLst>
          </p:cNvPr>
          <p:cNvPicPr>
            <a:picLocks noChangeAspect="1"/>
          </p:cNvPicPr>
          <p:nvPr/>
        </p:nvPicPr>
        <p:blipFill>
          <a:blip r:embed="rId2"/>
          <a:stretch>
            <a:fillRect/>
          </a:stretch>
        </p:blipFill>
        <p:spPr>
          <a:xfrm>
            <a:off x="10121441" y="54734"/>
            <a:ext cx="1773578" cy="553478"/>
          </a:xfrm>
          <a:prstGeom prst="rect">
            <a:avLst/>
          </a:prstGeom>
        </p:spPr>
      </p:pic>
      <p:sp>
        <p:nvSpPr>
          <p:cNvPr id="20" name="文本框 19">
            <a:extLst>
              <a:ext uri="{FF2B5EF4-FFF2-40B4-BE49-F238E27FC236}">
                <a16:creationId xmlns:a16="http://schemas.microsoft.com/office/drawing/2014/main" id="{9F73ACA8-6C9E-18FA-DBFD-E9E9376C7CC9}"/>
              </a:ext>
            </a:extLst>
          </p:cNvPr>
          <p:cNvSpPr txBox="1"/>
          <p:nvPr/>
        </p:nvSpPr>
        <p:spPr>
          <a:xfrm>
            <a:off x="0" y="738435"/>
            <a:ext cx="12501349" cy="338554"/>
          </a:xfrm>
          <a:prstGeom prst="rect">
            <a:avLst/>
          </a:prstGeom>
          <a:noFill/>
        </p:spPr>
        <p:txBody>
          <a:bodyPr wrap="square" rtlCol="0">
            <a:spAutoFit/>
          </a:bodyPr>
          <a:lstStyle/>
          <a:p>
            <a:pPr marL="342900" indent="-342900">
              <a:buSzPct val="85000"/>
              <a:buFont typeface="Wingdings" panose="05000000000000000000" pitchFamily="2" charset="2"/>
              <a:buChar char="n"/>
            </a:pPr>
            <a:r>
              <a:rPr kumimoji="1" lang="en-US" altLang="zh-CN" sz="1600" b="1" spc="300" dirty="0">
                <a:solidFill>
                  <a:schemeClr val="accent1"/>
                </a:solidFill>
                <a:latin typeface="微软雅黑" panose="020B0503020204020204" pitchFamily="34" charset="-122"/>
                <a:ea typeface="微软雅黑" panose="020B0503020204020204" pitchFamily="34" charset="-122"/>
              </a:rPr>
              <a:t>PAC</a:t>
            </a:r>
            <a:r>
              <a:rPr kumimoji="1" lang="zh-CN" altLang="en-US" sz="1600" b="1" spc="300" dirty="0">
                <a:solidFill>
                  <a:schemeClr val="accent1"/>
                </a:solidFill>
                <a:latin typeface="微软雅黑" panose="020B0503020204020204" pitchFamily="34" charset="-122"/>
                <a:ea typeface="微软雅黑" panose="020B0503020204020204" pitchFamily="34" charset="-122"/>
              </a:rPr>
              <a:t>：面向水下机器人鲁棒跟踪的基线控制器时序信任权重学习</a:t>
            </a:r>
          </a:p>
        </p:txBody>
      </p:sp>
      <p:cxnSp>
        <p:nvCxnSpPr>
          <p:cNvPr id="21" name="直线连接符 12">
            <a:extLst>
              <a:ext uri="{FF2B5EF4-FFF2-40B4-BE49-F238E27FC236}">
                <a16:creationId xmlns:a16="http://schemas.microsoft.com/office/drawing/2014/main" id="{21228716-AAC2-7138-512B-1A85E196A09E}"/>
              </a:ext>
            </a:extLst>
          </p:cNvPr>
          <p:cNvCxnSpPr/>
          <p:nvPr/>
        </p:nvCxnSpPr>
        <p:spPr>
          <a:xfrm>
            <a:off x="908" y="1167007"/>
            <a:ext cx="10978564" cy="0"/>
          </a:xfrm>
          <a:prstGeom prst="line">
            <a:avLst/>
          </a:prstGeom>
        </p:spPr>
        <p:style>
          <a:lnRef idx="1">
            <a:schemeClr val="accent1"/>
          </a:lnRef>
          <a:fillRef idx="0">
            <a:schemeClr val="accent1"/>
          </a:fillRef>
          <a:effectRef idx="0">
            <a:schemeClr val="accent1"/>
          </a:effectRef>
          <a:fontRef idx="minor">
            <a:schemeClr val="tx1"/>
          </a:fontRef>
        </p:style>
      </p:cxnSp>
      <p:pic>
        <p:nvPicPr>
          <p:cNvPr id="12" name="Picture 11" descr="gallery_03_mass_damping_mismatch_unseen.png"/>
          <p:cNvPicPr>
            <a:picLocks noChangeAspect="1"/>
          </p:cNvPicPr>
          <p:nvPr/>
        </p:nvPicPr>
        <p:blipFill>
          <a:blip r:embed="rId3"/>
          <a:stretch>
            <a:fillRect/>
          </a:stretch>
        </p:blipFill>
        <p:spPr>
          <a:xfrm>
            <a:off x="371139" y="1222232"/>
            <a:ext cx="3673736" cy="5516600"/>
          </a:xfrm>
          <a:prstGeom prst="rect">
            <a:avLst/>
          </a:prstGeom>
        </p:spPr>
      </p:pic>
      <p:sp>
        <p:nvSpPr>
          <p:cNvPr id="13" name="TextBox 12"/>
          <p:cNvSpPr txBox="1"/>
          <p:nvPr/>
        </p:nvSpPr>
        <p:spPr>
          <a:xfrm>
            <a:off x="5029200" y="2011680"/>
            <a:ext cx="6675120" cy="4754880"/>
          </a:xfrm>
          <a:prstGeom prst="rect">
            <a:avLst/>
          </a:prstGeom>
          <a:noFill/>
        </p:spPr>
        <p:txBody>
          <a:bodyPr wrap="square">
            <a:spAutoFit/>
          </a:bodyPr>
          <a:lstStyle/>
          <a:p>
            <a:pPr>
              <a:lnSpc>
                <a:spcPct val="115000"/>
              </a:lnSpc>
              <a:spcAft>
                <a:spcPts val="300"/>
              </a:spcAft>
            </a:pPr>
            <a:r>
              <a:rPr sz="1500" b="1" dirty="0" err="1">
                <a:solidFill>
                  <a:srgbClr val="514D83"/>
                </a:solidFill>
                <a:latin typeface="微软雅黑"/>
              </a:rPr>
              <a:t>参数范围与含义</a:t>
            </a:r>
            <a:endParaRPr sz="1500" b="1" dirty="0">
              <a:solidFill>
                <a:srgbClr val="514D83"/>
              </a:solidFill>
              <a:latin typeface="微软雅黑"/>
            </a:endParaRPr>
          </a:p>
          <a:p>
            <a:pPr>
              <a:lnSpc>
                <a:spcPct val="115000"/>
              </a:lnSpc>
              <a:spcAft>
                <a:spcPts val="300"/>
              </a:spcAft>
            </a:pPr>
            <a:r>
              <a:rPr sz="1200" b="0" dirty="0" err="1">
                <a:latin typeface="微软雅黑"/>
              </a:rPr>
              <a:t>训练</a:t>
            </a:r>
            <a:r>
              <a:rPr sz="1200" b="0" dirty="0">
                <a:latin typeface="微软雅黑"/>
              </a:rPr>
              <a:t>: mass ×[0.94,1.06], damp ×[0.94,1.06]
</a:t>
            </a:r>
            <a:r>
              <a:rPr sz="1200" b="0" dirty="0" err="1">
                <a:latin typeface="微软雅黑"/>
              </a:rPr>
              <a:t>测试</a:t>
            </a:r>
            <a:r>
              <a:rPr sz="1200" b="0" dirty="0">
                <a:latin typeface="微软雅黑"/>
              </a:rPr>
              <a:t>: mass ×[1.10,1.25], damp ×[0.75,0.90]
mass=</a:t>
            </a:r>
            <a:r>
              <a:rPr sz="1200" b="0" dirty="0" err="1">
                <a:latin typeface="微软雅黑"/>
              </a:rPr>
              <a:t>航行器质量缩放</a:t>
            </a:r>
            <a:r>
              <a:rPr sz="1200" b="0" dirty="0">
                <a:latin typeface="微软雅黑"/>
              </a:rPr>
              <a:t> | damp=</a:t>
            </a:r>
            <a:r>
              <a:rPr sz="1200" b="0" dirty="0" err="1">
                <a:latin typeface="微软雅黑"/>
              </a:rPr>
              <a:t>水动力阻尼缩放</a:t>
            </a:r>
            <a:endParaRPr sz="1200" b="0" dirty="0">
              <a:latin typeface="微软雅黑"/>
            </a:endParaRPr>
          </a:p>
          <a:p>
            <a:pPr>
              <a:lnSpc>
                <a:spcPct val="115000"/>
              </a:lnSpc>
              <a:spcAft>
                <a:spcPts val="300"/>
              </a:spcAft>
            </a:pPr>
            <a:endParaRPr sz="1200" b="0" dirty="0">
              <a:latin typeface="微软雅黑"/>
            </a:endParaRPr>
          </a:p>
          <a:p>
            <a:pPr>
              <a:lnSpc>
                <a:spcPct val="115000"/>
              </a:lnSpc>
              <a:spcAft>
                <a:spcPts val="300"/>
              </a:spcAft>
            </a:pPr>
            <a:r>
              <a:rPr sz="1500" b="1" dirty="0" err="1">
                <a:solidFill>
                  <a:srgbClr val="E8730C"/>
                </a:solidFill>
                <a:latin typeface="微软雅黑"/>
              </a:rPr>
              <a:t>物理意义</a:t>
            </a:r>
            <a:endParaRPr sz="1500" b="1" dirty="0">
              <a:solidFill>
                <a:srgbClr val="E8730C"/>
              </a:solidFill>
              <a:latin typeface="微软雅黑"/>
            </a:endParaRPr>
          </a:p>
          <a:p>
            <a:pPr>
              <a:lnSpc>
                <a:spcPct val="115000"/>
              </a:lnSpc>
              <a:spcAft>
                <a:spcPts val="300"/>
              </a:spcAft>
            </a:pPr>
            <a:r>
              <a:rPr sz="1200" b="0" dirty="0" err="1">
                <a:latin typeface="微软雅黑"/>
              </a:rPr>
              <a:t>测试范围系统性超出训练采样，检验参数外推能力</a:t>
            </a:r>
            <a:endParaRPr sz="1200" b="0" dirty="0">
              <a:latin typeface="微软雅黑"/>
            </a:endParaRPr>
          </a:p>
          <a:p>
            <a:pPr>
              <a:lnSpc>
                <a:spcPct val="115000"/>
              </a:lnSpc>
              <a:spcAft>
                <a:spcPts val="300"/>
              </a:spcAft>
            </a:pPr>
            <a:endParaRPr sz="1200" b="0" dirty="0">
              <a:latin typeface="微软雅黑"/>
            </a:endParaRPr>
          </a:p>
          <a:p>
            <a:pPr>
              <a:lnSpc>
                <a:spcPct val="115000"/>
              </a:lnSpc>
              <a:spcAft>
                <a:spcPts val="300"/>
              </a:spcAft>
            </a:pPr>
            <a:r>
              <a:rPr sz="1500" b="1" dirty="0" err="1">
                <a:solidFill>
                  <a:srgbClr val="3F7E72"/>
                </a:solidFill>
                <a:latin typeface="微软雅黑"/>
              </a:rPr>
              <a:t>结果</a:t>
            </a:r>
            <a:endParaRPr sz="1500" b="1" dirty="0">
              <a:solidFill>
                <a:srgbClr val="3F7E72"/>
              </a:solidFill>
              <a:latin typeface="微软雅黑"/>
            </a:endParaRPr>
          </a:p>
          <a:p>
            <a:pPr>
              <a:lnSpc>
                <a:spcPct val="115000"/>
              </a:lnSpc>
              <a:spcAft>
                <a:spcPts val="300"/>
              </a:spcAft>
            </a:pPr>
            <a:r>
              <a:rPr sz="1200" b="1" dirty="0" err="1">
                <a:latin typeface="微软雅黑"/>
              </a:rPr>
              <a:t>残差策略将跟踪误差从</a:t>
            </a:r>
            <a:r>
              <a:rPr sz="1200" b="1" dirty="0">
                <a:latin typeface="微软雅黑"/>
              </a:rPr>
              <a:t> 0.161 </a:t>
            </a:r>
            <a:r>
              <a:rPr sz="1200" b="1" dirty="0" err="1">
                <a:latin typeface="微软雅黑"/>
              </a:rPr>
              <a:t>降至</a:t>
            </a:r>
            <a:r>
              <a:rPr sz="1200" b="1" dirty="0">
                <a:latin typeface="微软雅黑"/>
              </a:rPr>
              <a:t> 0.116 m</a:t>
            </a:r>
          </a:p>
          <a:p>
            <a:pPr>
              <a:lnSpc>
                <a:spcPct val="115000"/>
              </a:lnSpc>
              <a:spcAft>
                <a:spcPts val="300"/>
              </a:spcAft>
            </a:pPr>
            <a:endParaRPr sz="1200" b="1" dirty="0">
              <a:latin typeface="微软雅黑"/>
            </a:endParaRPr>
          </a:p>
          <a:p>
            <a:pPr>
              <a:lnSpc>
                <a:spcPct val="115000"/>
              </a:lnSpc>
              <a:spcAft>
                <a:spcPts val="300"/>
              </a:spcAft>
            </a:pPr>
            <a:r>
              <a:rPr sz="1100" b="0" dirty="0" err="1">
                <a:solidFill>
                  <a:srgbClr val="6B6F85"/>
                </a:solidFill>
                <a:latin typeface="微软雅黑"/>
              </a:rPr>
              <a:t>每回合</a:t>
            </a:r>
            <a:r>
              <a:rPr sz="1100" b="0" dirty="0">
                <a:solidFill>
                  <a:srgbClr val="6B6F85"/>
                </a:solidFill>
                <a:latin typeface="微软雅黑"/>
              </a:rPr>
              <a:t> 2,100 步（21 s）· 6 </a:t>
            </a:r>
            <a:r>
              <a:rPr sz="1100" b="0" dirty="0" err="1">
                <a:solidFill>
                  <a:srgbClr val="6B6F85"/>
                </a:solidFill>
                <a:latin typeface="微软雅黑"/>
              </a:rPr>
              <a:t>方法</a:t>
            </a:r>
            <a:r>
              <a:rPr sz="1100" b="0" dirty="0">
                <a:solidFill>
                  <a:srgbClr val="6B6F85"/>
                </a:solidFill>
                <a:latin typeface="微软雅黑"/>
              </a:rPr>
              <a:t> × 5 </a:t>
            </a:r>
            <a:r>
              <a:rPr sz="1100" b="0" dirty="0" err="1">
                <a:solidFill>
                  <a:srgbClr val="6B6F85"/>
                </a:solidFill>
                <a:latin typeface="微软雅黑"/>
              </a:rPr>
              <a:t>种子</a:t>
            </a:r>
            <a:endParaRPr sz="1100" b="0" dirty="0">
              <a:solidFill>
                <a:srgbClr val="6B6F85"/>
              </a:solidFill>
              <a:latin typeface="微软雅黑"/>
            </a:endParaRPr>
          </a:p>
        </p:txBody>
      </p:sp>
    </p:spTree>
    <p:extLst>
      <p:ext uri="{BB962C8B-B14F-4D97-AF65-F5344CB8AC3E}">
        <p14:creationId xmlns:p14="http://schemas.microsoft.com/office/powerpoint/2010/main" val="2720644402"/>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2F37BE-E98C-A1C5-0C3D-4F55D1B3299A}"/>
            </a:ext>
          </a:extLst>
        </p:cNvPr>
        <p:cNvGrpSpPr/>
        <p:nvPr/>
      </p:nvGrpSpPr>
      <p:grpSpPr>
        <a:xfrm>
          <a:off x="0" y="0"/>
          <a:ext cx="0" cy="0"/>
          <a:chOff x="0" y="0"/>
          <a:chExt cx="0" cy="0"/>
        </a:xfrm>
      </p:grpSpPr>
      <p:sp>
        <p:nvSpPr>
          <p:cNvPr id="7" name="文本框 6">
            <a:extLst>
              <a:ext uri="{FF2B5EF4-FFF2-40B4-BE49-F238E27FC236}">
                <a16:creationId xmlns:a16="http://schemas.microsoft.com/office/drawing/2014/main" id="{82901E93-1766-A3B4-5AE6-4D47D13DB5F6}"/>
              </a:ext>
            </a:extLst>
          </p:cNvPr>
          <p:cNvSpPr txBox="1"/>
          <p:nvPr/>
        </p:nvSpPr>
        <p:spPr>
          <a:xfrm>
            <a:off x="10461848" y="299500"/>
            <a:ext cx="1197832" cy="369332"/>
          </a:xfrm>
          <a:prstGeom prst="rect">
            <a:avLst/>
          </a:prstGeom>
          <a:noFill/>
        </p:spPr>
        <p:txBody>
          <a:bodyPr wrap="square" rtlCol="0">
            <a:spAutoFit/>
          </a:bodyPr>
          <a:lstStyle/>
          <a:p>
            <a:pPr algn="ctr"/>
            <a:r>
              <a:rPr kumimoji="1" lang="zh-CN" altLang="en-US" b="1" spc="110" dirty="0">
                <a:solidFill>
                  <a:schemeClr val="bg1"/>
                </a:solidFill>
                <a:latin typeface="微软雅黑" panose="020B0503020204020204" pitchFamily="34" charset="-122"/>
                <a:ea typeface="微软雅黑" panose="020B0503020204020204" pitchFamily="34" charset="-122"/>
              </a:rPr>
              <a:t>读研展望</a:t>
            </a:r>
          </a:p>
        </p:txBody>
      </p:sp>
      <p:sp>
        <p:nvSpPr>
          <p:cNvPr id="9" name="文本框 8">
            <a:extLst>
              <a:ext uri="{FF2B5EF4-FFF2-40B4-BE49-F238E27FC236}">
                <a16:creationId xmlns:a16="http://schemas.microsoft.com/office/drawing/2014/main" id="{4D154E33-81C5-15E3-4F19-76B39F1B18AE}"/>
              </a:ext>
            </a:extLst>
          </p:cNvPr>
          <p:cNvSpPr txBox="1"/>
          <p:nvPr/>
        </p:nvSpPr>
        <p:spPr>
          <a:xfrm>
            <a:off x="2875146" y="179975"/>
            <a:ext cx="1336142" cy="369332"/>
          </a:xfrm>
          <a:prstGeom prst="rect">
            <a:avLst/>
          </a:prstGeom>
          <a:noFill/>
        </p:spPr>
        <p:txBody>
          <a:bodyPr wrap="square" rtlCol="0">
            <a:spAutoFit/>
          </a:bodyPr>
          <a:lstStyle/>
          <a:p>
            <a:pPr algn="ctr"/>
            <a:r>
              <a:rPr kumimoji="1" lang="zh-CN" altLang="en-US" b="1" spc="110" dirty="0">
                <a:solidFill>
                  <a:schemeClr val="bg1"/>
                </a:solidFill>
                <a:latin typeface="微软雅黑" panose="020B0503020204020204" pitchFamily="34" charset="-122"/>
                <a:ea typeface="微软雅黑" panose="020B0503020204020204" pitchFamily="34" charset="-122"/>
              </a:rPr>
              <a:t>个人简介</a:t>
            </a:r>
          </a:p>
        </p:txBody>
      </p:sp>
      <p:sp>
        <p:nvSpPr>
          <p:cNvPr id="15" name="椭圆 14">
            <a:extLst>
              <a:ext uri="{FF2B5EF4-FFF2-40B4-BE49-F238E27FC236}">
                <a16:creationId xmlns:a16="http://schemas.microsoft.com/office/drawing/2014/main" id="{CB30080C-18CD-0098-0AD5-1962AB548F04}"/>
              </a:ext>
            </a:extLst>
          </p:cNvPr>
          <p:cNvSpPr/>
          <p:nvPr/>
        </p:nvSpPr>
        <p:spPr>
          <a:xfrm>
            <a:off x="11750347" y="6411598"/>
            <a:ext cx="289344" cy="289344"/>
          </a:xfrm>
          <a:prstGeom prst="ellipse">
            <a:avLst/>
          </a:prstGeom>
          <a:solidFill>
            <a:schemeClr val="bg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CN" altLang="en-US">
              <a:solidFill>
                <a:schemeClr val="accent1"/>
              </a:solidFill>
            </a:endParaRPr>
          </a:p>
        </p:txBody>
      </p:sp>
      <p:sp>
        <p:nvSpPr>
          <p:cNvPr id="16" name="灯片编号占位符 18">
            <a:extLst>
              <a:ext uri="{FF2B5EF4-FFF2-40B4-BE49-F238E27FC236}">
                <a16:creationId xmlns:a16="http://schemas.microsoft.com/office/drawing/2014/main" id="{A13B2AE0-86F5-B1FA-0C51-6800191CB80F}"/>
              </a:ext>
            </a:extLst>
          </p:cNvPr>
          <p:cNvSpPr>
            <a:spLocks noGrp="1"/>
          </p:cNvSpPr>
          <p:nvPr>
            <p:ph type="sldNum" sz="quarter" idx="12"/>
          </p:nvPr>
        </p:nvSpPr>
        <p:spPr>
          <a:xfrm>
            <a:off x="11619554" y="6373707"/>
            <a:ext cx="550930" cy="365125"/>
          </a:xfrm>
        </p:spPr>
        <p:txBody>
          <a:bodyPr/>
          <a:lstStyle/>
          <a:p>
            <a:pPr algn="ctr"/>
            <a:fld id="{D290E156-FAFE-5144-A047-A692DE980B3A}" type="slidenum">
              <a:rPr kumimoji="1" lang="zh-CN" altLang="en-US" smtClean="0">
                <a:solidFill>
                  <a:schemeClr val="accent1"/>
                </a:solidFill>
                <a:latin typeface="Arial" panose="020B0604020202020204" pitchFamily="34" charset="0"/>
                <a:cs typeface="Arial" panose="020B0604020202020204" pitchFamily="34" charset="0"/>
              </a:rPr>
              <a:t>9</a:t>
            </a:fld>
            <a:endParaRPr kumimoji="1" lang="zh-CN" altLang="en-US" dirty="0">
              <a:solidFill>
                <a:schemeClr val="accent1"/>
              </a:solidFill>
              <a:latin typeface="Arial" panose="020B0604020202020204" pitchFamily="34" charset="0"/>
              <a:cs typeface="Arial" panose="020B0604020202020204" pitchFamily="34" charset="0"/>
            </a:endParaRPr>
          </a:p>
        </p:txBody>
      </p:sp>
      <p:sp>
        <p:nvSpPr>
          <p:cNvPr id="6" name="文本框 5">
            <a:extLst>
              <a:ext uri="{FF2B5EF4-FFF2-40B4-BE49-F238E27FC236}">
                <a16:creationId xmlns:a16="http://schemas.microsoft.com/office/drawing/2014/main" id="{37EDD2BC-B61D-ED4A-1650-436428A71509}"/>
              </a:ext>
            </a:extLst>
          </p:cNvPr>
          <p:cNvSpPr txBox="1"/>
          <p:nvPr/>
        </p:nvSpPr>
        <p:spPr>
          <a:xfrm>
            <a:off x="5032257" y="179975"/>
            <a:ext cx="1985202" cy="369332"/>
          </a:xfrm>
          <a:prstGeom prst="rect">
            <a:avLst/>
          </a:prstGeom>
          <a:noFill/>
        </p:spPr>
        <p:txBody>
          <a:bodyPr wrap="square" rtlCol="0">
            <a:spAutoFit/>
          </a:bodyPr>
          <a:lstStyle/>
          <a:p>
            <a:pPr algn="ctr"/>
            <a:r>
              <a:rPr kumimoji="1" lang="zh-CN" altLang="en-US" b="1" spc="110" dirty="0">
                <a:solidFill>
                  <a:schemeClr val="bg1"/>
                </a:solidFill>
                <a:latin typeface="微软雅黑" panose="020B0503020204020204" pitchFamily="34" charset="-122"/>
                <a:ea typeface="微软雅黑" panose="020B0503020204020204" pitchFamily="34" charset="-122"/>
              </a:rPr>
              <a:t>本科经历</a:t>
            </a:r>
          </a:p>
        </p:txBody>
      </p:sp>
      <p:sp>
        <p:nvSpPr>
          <p:cNvPr id="3" name="任意形状 2">
            <a:extLst>
              <a:ext uri="{FF2B5EF4-FFF2-40B4-BE49-F238E27FC236}">
                <a16:creationId xmlns:a16="http://schemas.microsoft.com/office/drawing/2014/main" id="{E9778E04-1E37-C9CB-0427-409543B39071}"/>
              </a:ext>
            </a:extLst>
          </p:cNvPr>
          <p:cNvSpPr/>
          <p:nvPr/>
        </p:nvSpPr>
        <p:spPr>
          <a:xfrm>
            <a:off x="0" y="0"/>
            <a:ext cx="9896847" cy="662946"/>
          </a:xfrm>
          <a:custGeom>
            <a:avLst/>
            <a:gdLst>
              <a:gd name="connsiteX0" fmla="*/ 0 w 8681972"/>
              <a:gd name="connsiteY0" fmla="*/ 0 h 689675"/>
              <a:gd name="connsiteX1" fmla="*/ 8681972 w 8681972"/>
              <a:gd name="connsiteY1" fmla="*/ 0 h 689675"/>
              <a:gd name="connsiteX2" fmla="*/ 8461124 w 8681972"/>
              <a:gd name="connsiteY2" fmla="*/ 344837 h 689675"/>
              <a:gd name="connsiteX3" fmla="*/ 8681972 w 8681972"/>
              <a:gd name="connsiteY3" fmla="*/ 689675 h 689675"/>
              <a:gd name="connsiteX4" fmla="*/ 0 w 8681972"/>
              <a:gd name="connsiteY4" fmla="*/ 689675 h 689675"/>
              <a:gd name="connsiteX5" fmla="*/ 0 w 8681972"/>
              <a:gd name="connsiteY5" fmla="*/ 0 h 6896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681972" h="689675">
                <a:moveTo>
                  <a:pt x="0" y="0"/>
                </a:moveTo>
                <a:lnTo>
                  <a:pt x="8681972" y="0"/>
                </a:lnTo>
                <a:lnTo>
                  <a:pt x="8461124" y="344837"/>
                </a:lnTo>
                <a:lnTo>
                  <a:pt x="8681972" y="689675"/>
                </a:lnTo>
                <a:lnTo>
                  <a:pt x="0" y="689675"/>
                </a:lnTo>
                <a:lnTo>
                  <a:pt x="0" y="0"/>
                </a:lnTo>
                <a:close/>
              </a:path>
            </a:pathLst>
          </a:custGeom>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zh-CN" altLang="en-US" sz="1600"/>
          </a:p>
        </p:txBody>
      </p:sp>
      <p:sp>
        <p:nvSpPr>
          <p:cNvPr id="14" name="文本框 13">
            <a:extLst>
              <a:ext uri="{FF2B5EF4-FFF2-40B4-BE49-F238E27FC236}">
                <a16:creationId xmlns:a16="http://schemas.microsoft.com/office/drawing/2014/main" id="{9C3F05AC-F7DC-C0BE-7188-B6233B63A1BE}"/>
              </a:ext>
            </a:extLst>
          </p:cNvPr>
          <p:cNvSpPr txBox="1"/>
          <p:nvPr/>
        </p:nvSpPr>
        <p:spPr>
          <a:xfrm>
            <a:off x="281981" y="79754"/>
            <a:ext cx="9335355" cy="523220"/>
          </a:xfrm>
          <a:prstGeom prst="rect">
            <a:avLst/>
          </a:prstGeom>
          <a:noFill/>
        </p:spPr>
        <p:txBody>
          <a:bodyPr wrap="square" rtlCol="0">
            <a:spAutoFit/>
          </a:bodyPr>
          <a:lstStyle>
            <a:defPPr>
              <a:defRPr lang="zh-CN"/>
            </a:defPPr>
            <a:lvl1pPr algn="ctr">
              <a:defRPr kumimoji="1" sz="4400" b="1" spc="300">
                <a:solidFill>
                  <a:schemeClr val="bg1"/>
                </a:solidFill>
                <a:latin typeface="微软雅黑" panose="020B0503020204020204" pitchFamily="34" charset="-122"/>
                <a:ea typeface="微软雅黑" panose="020B0503020204020204" pitchFamily="34" charset="-122"/>
              </a:defRPr>
            </a:lvl1pPr>
          </a:lstStyle>
          <a:p>
            <a:pPr algn="l"/>
            <a:r>
              <a:rPr lang="en-US" altLang="zh-CN" sz="1400" dirty="0"/>
              <a:t>Predictive Authority Control: Learning When and How Much to Trust Baseline Controllers for Robust Underwater Robot Tracking</a:t>
            </a:r>
            <a:endParaRPr lang="zh-CN" altLang="en-US" sz="1400" dirty="0"/>
          </a:p>
        </p:txBody>
      </p:sp>
      <p:pic>
        <p:nvPicPr>
          <p:cNvPr id="2" name="图片 1">
            <a:extLst>
              <a:ext uri="{FF2B5EF4-FFF2-40B4-BE49-F238E27FC236}">
                <a16:creationId xmlns:a16="http://schemas.microsoft.com/office/drawing/2014/main" id="{16FE7AA5-2056-6ACE-F306-14CD5520F594}"/>
              </a:ext>
            </a:extLst>
          </p:cNvPr>
          <p:cNvPicPr>
            <a:picLocks noChangeAspect="1"/>
          </p:cNvPicPr>
          <p:nvPr/>
        </p:nvPicPr>
        <p:blipFill>
          <a:blip r:embed="rId2"/>
          <a:stretch>
            <a:fillRect/>
          </a:stretch>
        </p:blipFill>
        <p:spPr>
          <a:xfrm>
            <a:off x="10121441" y="54734"/>
            <a:ext cx="1773578" cy="553478"/>
          </a:xfrm>
          <a:prstGeom prst="rect">
            <a:avLst/>
          </a:prstGeom>
        </p:spPr>
      </p:pic>
      <p:sp>
        <p:nvSpPr>
          <p:cNvPr id="20" name="文本框 19">
            <a:extLst>
              <a:ext uri="{FF2B5EF4-FFF2-40B4-BE49-F238E27FC236}">
                <a16:creationId xmlns:a16="http://schemas.microsoft.com/office/drawing/2014/main" id="{959DDAFA-4F0A-D5E9-DAFE-1455A022673B}"/>
              </a:ext>
            </a:extLst>
          </p:cNvPr>
          <p:cNvSpPr txBox="1"/>
          <p:nvPr/>
        </p:nvSpPr>
        <p:spPr>
          <a:xfrm>
            <a:off x="0" y="738435"/>
            <a:ext cx="12501349" cy="338554"/>
          </a:xfrm>
          <a:prstGeom prst="rect">
            <a:avLst/>
          </a:prstGeom>
          <a:noFill/>
        </p:spPr>
        <p:txBody>
          <a:bodyPr wrap="square" rtlCol="0">
            <a:spAutoFit/>
          </a:bodyPr>
          <a:lstStyle/>
          <a:p>
            <a:pPr marL="342900" indent="-342900">
              <a:buSzPct val="85000"/>
              <a:buFont typeface="Wingdings" panose="05000000000000000000" pitchFamily="2" charset="2"/>
              <a:buChar char="n"/>
            </a:pPr>
            <a:r>
              <a:rPr kumimoji="1" lang="en-US" altLang="zh-CN" sz="1600" b="1" spc="300" dirty="0">
                <a:solidFill>
                  <a:schemeClr val="accent1"/>
                </a:solidFill>
                <a:latin typeface="微软雅黑" panose="020B0503020204020204" pitchFamily="34" charset="-122"/>
                <a:ea typeface="微软雅黑" panose="020B0503020204020204" pitchFamily="34" charset="-122"/>
              </a:rPr>
              <a:t>PAC</a:t>
            </a:r>
            <a:r>
              <a:rPr kumimoji="1" lang="zh-CN" altLang="en-US" sz="1600" b="1" spc="300" dirty="0">
                <a:solidFill>
                  <a:schemeClr val="accent1"/>
                </a:solidFill>
                <a:latin typeface="微软雅黑" panose="020B0503020204020204" pitchFamily="34" charset="-122"/>
                <a:ea typeface="微软雅黑" panose="020B0503020204020204" pitchFamily="34" charset="-122"/>
              </a:rPr>
              <a:t>：面向水下机器人鲁棒跟踪的基线控制器时序信任权重学习</a:t>
            </a:r>
          </a:p>
        </p:txBody>
      </p:sp>
      <p:cxnSp>
        <p:nvCxnSpPr>
          <p:cNvPr id="21" name="直线连接符 12">
            <a:extLst>
              <a:ext uri="{FF2B5EF4-FFF2-40B4-BE49-F238E27FC236}">
                <a16:creationId xmlns:a16="http://schemas.microsoft.com/office/drawing/2014/main" id="{57DF83E9-BC8A-092B-93A8-015EE5EB5DEB}"/>
              </a:ext>
            </a:extLst>
          </p:cNvPr>
          <p:cNvCxnSpPr/>
          <p:nvPr/>
        </p:nvCxnSpPr>
        <p:spPr>
          <a:xfrm>
            <a:off x="908" y="1167007"/>
            <a:ext cx="10978564" cy="0"/>
          </a:xfrm>
          <a:prstGeom prst="line">
            <a:avLst/>
          </a:prstGeom>
        </p:spPr>
        <p:style>
          <a:lnRef idx="1">
            <a:schemeClr val="accent1"/>
          </a:lnRef>
          <a:fillRef idx="0">
            <a:schemeClr val="accent1"/>
          </a:fillRef>
          <a:effectRef idx="0">
            <a:schemeClr val="accent1"/>
          </a:effectRef>
          <a:fontRef idx="minor">
            <a:schemeClr val="tx1"/>
          </a:fontRef>
        </p:style>
      </p:cxnSp>
      <p:sp>
        <p:nvSpPr>
          <p:cNvPr id="11" name="TextBox 10"/>
          <p:cNvSpPr txBox="1"/>
          <p:nvPr/>
        </p:nvSpPr>
        <p:spPr>
          <a:xfrm>
            <a:off x="274320" y="1234440"/>
            <a:ext cx="11612880" cy="457200"/>
          </a:xfrm>
          <a:prstGeom prst="rect">
            <a:avLst/>
          </a:prstGeom>
          <a:noFill/>
        </p:spPr>
        <p:txBody>
          <a:bodyPr wrap="square">
            <a:spAutoFit/>
          </a:bodyPr>
          <a:lstStyle/>
          <a:p>
            <a:pPr>
              <a:lnSpc>
                <a:spcPct val="115000"/>
              </a:lnSpc>
              <a:spcAft>
                <a:spcPts val="300"/>
              </a:spcAft>
            </a:pPr>
            <a:r>
              <a:rPr sz="1700" b="1">
                <a:solidFill>
                  <a:srgbClr val="514D83"/>
                </a:solidFill>
                <a:latin typeface="微软雅黑"/>
              </a:rPr>
              <a:t>彩色噪声（OOD）</a:t>
            </a:r>
          </a:p>
        </p:txBody>
      </p:sp>
      <p:pic>
        <p:nvPicPr>
          <p:cNvPr id="5" name="Picture 11" descr="gallery_04_colored_noise_unseen.png"/>
          <p:cNvPicPr>
            <a:picLocks noChangeAspect="1"/>
          </p:cNvPicPr>
          <p:nvPr/>
        </p:nvPicPr>
        <p:blipFill>
          <a:blip r:embed="rId3"/>
          <a:stretch>
            <a:fillRect/>
          </a:stretch>
        </p:blipFill>
        <p:spPr>
          <a:xfrm>
            <a:off x="457200" y="1828800"/>
            <a:ext cx="3044687" cy="4572000"/>
          </a:xfrm>
          <a:prstGeom prst="rect">
            <a:avLst/>
          </a:prstGeom>
        </p:spPr>
      </p:pic>
      <p:sp>
        <p:nvSpPr>
          <p:cNvPr id="8" name="TextBox 12"/>
          <p:cNvSpPr txBox="1"/>
          <p:nvPr/>
        </p:nvSpPr>
        <p:spPr>
          <a:xfrm>
            <a:off x="5029200" y="2011680"/>
            <a:ext cx="6675120" cy="4754880"/>
          </a:xfrm>
          <a:prstGeom prst="rect">
            <a:avLst/>
          </a:prstGeom>
          <a:noFill/>
        </p:spPr>
        <p:txBody>
          <a:bodyPr wrap="square">
            <a:spAutoFit/>
          </a:bodyPr>
          <a:lstStyle/>
          <a:p>
            <a:pPr>
              <a:lnSpc>
                <a:spcPct val="115000"/>
              </a:lnSpc>
              <a:spcAft>
                <a:spcPts val="300"/>
              </a:spcAft>
            </a:pPr>
            <a:r>
              <a:rPr sz="1500" b="1">
                <a:solidFill>
                  <a:srgbClr val="514D83"/>
                </a:solidFill>
                <a:latin typeface="微软雅黑"/>
              </a:rPr>
              <a:t>参数范围与含义</a:t>
            </a:r>
          </a:p>
          <a:p>
            <a:pPr>
              <a:lnSpc>
                <a:spcPct val="115000"/>
              </a:lnSpc>
              <a:spcAft>
                <a:spcPts val="300"/>
              </a:spcAft>
            </a:pPr>
            <a:r>
              <a:rPr sz="1200" b="0">
                <a:latin typeface="微软雅黑"/>
              </a:rPr>
              <a:t>训练: ρ∈[0.90,0.98], σ∈[0.05,0.20]
测试: ρ∈[0.985,0.995], σ∈[0.25,0.40]
ρ=AR(1) 自相关系数（越大越持久）| σ=扰动标准差</a:t>
            </a:r>
          </a:p>
          <a:p>
            <a:pPr>
              <a:lnSpc>
                <a:spcPct val="115000"/>
              </a:lnSpc>
              <a:spcAft>
                <a:spcPts val="300"/>
              </a:spcAft>
            </a:pPr>
            <a:endParaRPr sz="1200" b="0">
              <a:latin typeface="微软雅黑"/>
            </a:endParaRPr>
          </a:p>
          <a:p>
            <a:pPr>
              <a:lnSpc>
                <a:spcPct val="115000"/>
              </a:lnSpc>
              <a:spcAft>
                <a:spcPts val="300"/>
              </a:spcAft>
            </a:pPr>
            <a:r>
              <a:rPr sz="1500" b="1">
                <a:solidFill>
                  <a:srgbClr val="E8730C"/>
                </a:solidFill>
                <a:latin typeface="微软雅黑"/>
              </a:rPr>
              <a:t>物理意义</a:t>
            </a:r>
          </a:p>
          <a:p>
            <a:pPr>
              <a:lnSpc>
                <a:spcPct val="115000"/>
              </a:lnSpc>
              <a:spcAft>
                <a:spcPts val="300"/>
              </a:spcAft>
            </a:pPr>
            <a:r>
              <a:rPr sz="1200" b="0">
                <a:latin typeface="微软雅黑"/>
              </a:rPr>
              <a:t>时间相关性与幅值同时增大，海流更难预测</a:t>
            </a:r>
          </a:p>
          <a:p>
            <a:pPr>
              <a:lnSpc>
                <a:spcPct val="115000"/>
              </a:lnSpc>
              <a:spcAft>
                <a:spcPts val="300"/>
              </a:spcAft>
            </a:pPr>
            <a:endParaRPr sz="1200" b="0">
              <a:latin typeface="微软雅黑"/>
            </a:endParaRPr>
          </a:p>
          <a:p>
            <a:pPr>
              <a:lnSpc>
                <a:spcPct val="115000"/>
              </a:lnSpc>
              <a:spcAft>
                <a:spcPts val="300"/>
              </a:spcAft>
            </a:pPr>
            <a:r>
              <a:rPr sz="1500" b="1">
                <a:solidFill>
                  <a:srgbClr val="3F7E72"/>
                </a:solidFill>
                <a:latin typeface="微软雅黑"/>
              </a:rPr>
              <a:t>结果</a:t>
            </a:r>
          </a:p>
          <a:p>
            <a:pPr>
              <a:lnSpc>
                <a:spcPct val="115000"/>
              </a:lnSpc>
              <a:spcAft>
                <a:spcPts val="300"/>
              </a:spcAft>
            </a:pPr>
            <a:r>
              <a:rPr sz="1200" b="1">
                <a:latin typeface="微软雅黑"/>
              </a:rPr>
              <a:t>残差策略在此族保持稳健</a:t>
            </a:r>
          </a:p>
          <a:p>
            <a:pPr>
              <a:lnSpc>
                <a:spcPct val="115000"/>
              </a:lnSpc>
              <a:spcAft>
                <a:spcPts val="300"/>
              </a:spcAft>
            </a:pPr>
            <a:endParaRPr sz="1200" b="1">
              <a:latin typeface="微软雅黑"/>
            </a:endParaRPr>
          </a:p>
          <a:p>
            <a:pPr>
              <a:lnSpc>
                <a:spcPct val="115000"/>
              </a:lnSpc>
              <a:spcAft>
                <a:spcPts val="300"/>
              </a:spcAft>
            </a:pPr>
            <a:r>
              <a:rPr sz="1100" b="0">
                <a:solidFill>
                  <a:srgbClr val="6B6F85"/>
                </a:solidFill>
                <a:latin typeface="微软雅黑"/>
              </a:rPr>
              <a:t>每回合 2,100 步（21 s）· 6 方法 × 5 种子</a:t>
            </a:r>
          </a:p>
        </p:txBody>
      </p:sp>
    </p:spTree>
    <p:extLst>
      <p:ext uri="{BB962C8B-B14F-4D97-AF65-F5344CB8AC3E}">
        <p14:creationId xmlns:p14="http://schemas.microsoft.com/office/powerpoint/2010/main" val="235929135"/>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9A2AFB-09F1-17F6-49C1-41614D2ED2A4}"/>
            </a:ext>
          </a:extLst>
        </p:cNvPr>
        <p:cNvGrpSpPr/>
        <p:nvPr/>
      </p:nvGrpSpPr>
      <p:grpSpPr>
        <a:xfrm>
          <a:off x="0" y="0"/>
          <a:ext cx="0" cy="0"/>
          <a:chOff x="0" y="0"/>
          <a:chExt cx="0" cy="0"/>
        </a:xfrm>
      </p:grpSpPr>
      <p:sp>
        <p:nvSpPr>
          <p:cNvPr id="7" name="文本框 6">
            <a:extLst>
              <a:ext uri="{FF2B5EF4-FFF2-40B4-BE49-F238E27FC236}">
                <a16:creationId xmlns:a16="http://schemas.microsoft.com/office/drawing/2014/main" id="{85DCFC92-78FD-2164-D81F-93425186F8AE}"/>
              </a:ext>
            </a:extLst>
          </p:cNvPr>
          <p:cNvSpPr txBox="1"/>
          <p:nvPr/>
        </p:nvSpPr>
        <p:spPr>
          <a:xfrm>
            <a:off x="10461848" y="299500"/>
            <a:ext cx="1197832" cy="369332"/>
          </a:xfrm>
          <a:prstGeom prst="rect">
            <a:avLst/>
          </a:prstGeom>
          <a:noFill/>
        </p:spPr>
        <p:txBody>
          <a:bodyPr wrap="square" rtlCol="0">
            <a:spAutoFit/>
          </a:bodyPr>
          <a:lstStyle/>
          <a:p>
            <a:pPr algn="ctr"/>
            <a:r>
              <a:rPr kumimoji="1" lang="zh-CN" altLang="en-US" b="1" spc="110" dirty="0">
                <a:solidFill>
                  <a:schemeClr val="bg1"/>
                </a:solidFill>
                <a:latin typeface="微软雅黑" panose="020B0503020204020204" pitchFamily="34" charset="-122"/>
                <a:ea typeface="微软雅黑" panose="020B0503020204020204" pitchFamily="34" charset="-122"/>
              </a:rPr>
              <a:t>读研展望</a:t>
            </a:r>
          </a:p>
        </p:txBody>
      </p:sp>
      <p:sp>
        <p:nvSpPr>
          <p:cNvPr id="9" name="文本框 8">
            <a:extLst>
              <a:ext uri="{FF2B5EF4-FFF2-40B4-BE49-F238E27FC236}">
                <a16:creationId xmlns:a16="http://schemas.microsoft.com/office/drawing/2014/main" id="{61670162-B6D3-214A-5C94-7903AF0F8053}"/>
              </a:ext>
            </a:extLst>
          </p:cNvPr>
          <p:cNvSpPr txBox="1"/>
          <p:nvPr/>
        </p:nvSpPr>
        <p:spPr>
          <a:xfrm>
            <a:off x="2875146" y="179975"/>
            <a:ext cx="1336142" cy="369332"/>
          </a:xfrm>
          <a:prstGeom prst="rect">
            <a:avLst/>
          </a:prstGeom>
          <a:noFill/>
        </p:spPr>
        <p:txBody>
          <a:bodyPr wrap="square" rtlCol="0">
            <a:spAutoFit/>
          </a:bodyPr>
          <a:lstStyle/>
          <a:p>
            <a:pPr algn="ctr"/>
            <a:r>
              <a:rPr kumimoji="1" lang="zh-CN" altLang="en-US" b="1" spc="110" dirty="0">
                <a:solidFill>
                  <a:schemeClr val="bg1"/>
                </a:solidFill>
                <a:latin typeface="微软雅黑" panose="020B0503020204020204" pitchFamily="34" charset="-122"/>
                <a:ea typeface="微软雅黑" panose="020B0503020204020204" pitchFamily="34" charset="-122"/>
              </a:rPr>
              <a:t>个人简介</a:t>
            </a:r>
          </a:p>
        </p:txBody>
      </p:sp>
      <p:sp>
        <p:nvSpPr>
          <p:cNvPr id="15" name="椭圆 14">
            <a:extLst>
              <a:ext uri="{FF2B5EF4-FFF2-40B4-BE49-F238E27FC236}">
                <a16:creationId xmlns:a16="http://schemas.microsoft.com/office/drawing/2014/main" id="{2FE484A8-3AD2-3054-F997-1AB02F23706A}"/>
              </a:ext>
            </a:extLst>
          </p:cNvPr>
          <p:cNvSpPr/>
          <p:nvPr/>
        </p:nvSpPr>
        <p:spPr>
          <a:xfrm>
            <a:off x="11750347" y="6411598"/>
            <a:ext cx="289344" cy="289344"/>
          </a:xfrm>
          <a:prstGeom prst="ellipse">
            <a:avLst/>
          </a:prstGeom>
          <a:solidFill>
            <a:schemeClr val="bg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CN" altLang="en-US">
              <a:solidFill>
                <a:schemeClr val="accent1"/>
              </a:solidFill>
            </a:endParaRPr>
          </a:p>
        </p:txBody>
      </p:sp>
      <p:sp>
        <p:nvSpPr>
          <p:cNvPr id="16" name="灯片编号占位符 18">
            <a:extLst>
              <a:ext uri="{FF2B5EF4-FFF2-40B4-BE49-F238E27FC236}">
                <a16:creationId xmlns:a16="http://schemas.microsoft.com/office/drawing/2014/main" id="{B6393C9E-C733-5BD1-2E67-216DA431C7EA}"/>
              </a:ext>
            </a:extLst>
          </p:cNvPr>
          <p:cNvSpPr>
            <a:spLocks noGrp="1"/>
          </p:cNvSpPr>
          <p:nvPr>
            <p:ph type="sldNum" sz="quarter" idx="12"/>
          </p:nvPr>
        </p:nvSpPr>
        <p:spPr>
          <a:xfrm>
            <a:off x="11619554" y="6373707"/>
            <a:ext cx="550930" cy="365125"/>
          </a:xfrm>
        </p:spPr>
        <p:txBody>
          <a:bodyPr/>
          <a:lstStyle/>
          <a:p>
            <a:pPr algn="ctr"/>
            <a:fld id="{D290E156-FAFE-5144-A047-A692DE980B3A}" type="slidenum">
              <a:rPr kumimoji="1" lang="zh-CN" altLang="en-US" smtClean="0">
                <a:solidFill>
                  <a:schemeClr val="accent1"/>
                </a:solidFill>
                <a:latin typeface="Arial" panose="020B0604020202020204" pitchFamily="34" charset="0"/>
                <a:cs typeface="Arial" panose="020B0604020202020204" pitchFamily="34" charset="0"/>
              </a:rPr>
              <a:t>10</a:t>
            </a:fld>
            <a:endParaRPr kumimoji="1" lang="zh-CN" altLang="en-US" dirty="0">
              <a:solidFill>
                <a:schemeClr val="accent1"/>
              </a:solidFill>
              <a:latin typeface="Arial" panose="020B0604020202020204" pitchFamily="34" charset="0"/>
              <a:cs typeface="Arial" panose="020B0604020202020204" pitchFamily="34" charset="0"/>
            </a:endParaRPr>
          </a:p>
        </p:txBody>
      </p:sp>
      <p:sp>
        <p:nvSpPr>
          <p:cNvPr id="6" name="文本框 5">
            <a:extLst>
              <a:ext uri="{FF2B5EF4-FFF2-40B4-BE49-F238E27FC236}">
                <a16:creationId xmlns:a16="http://schemas.microsoft.com/office/drawing/2014/main" id="{1D0003AC-8AA1-A594-DE15-3250F55BCF1D}"/>
              </a:ext>
            </a:extLst>
          </p:cNvPr>
          <p:cNvSpPr txBox="1"/>
          <p:nvPr/>
        </p:nvSpPr>
        <p:spPr>
          <a:xfrm>
            <a:off x="5032257" y="179975"/>
            <a:ext cx="1985202" cy="369332"/>
          </a:xfrm>
          <a:prstGeom prst="rect">
            <a:avLst/>
          </a:prstGeom>
          <a:noFill/>
        </p:spPr>
        <p:txBody>
          <a:bodyPr wrap="square" rtlCol="0">
            <a:spAutoFit/>
          </a:bodyPr>
          <a:lstStyle/>
          <a:p>
            <a:pPr algn="ctr"/>
            <a:r>
              <a:rPr kumimoji="1" lang="zh-CN" altLang="en-US" b="1" spc="110" dirty="0">
                <a:solidFill>
                  <a:schemeClr val="bg1"/>
                </a:solidFill>
                <a:latin typeface="微软雅黑" panose="020B0503020204020204" pitchFamily="34" charset="-122"/>
                <a:ea typeface="微软雅黑" panose="020B0503020204020204" pitchFamily="34" charset="-122"/>
              </a:rPr>
              <a:t>本科经历</a:t>
            </a:r>
          </a:p>
        </p:txBody>
      </p:sp>
      <p:sp>
        <p:nvSpPr>
          <p:cNvPr id="3" name="任意形状 2">
            <a:extLst>
              <a:ext uri="{FF2B5EF4-FFF2-40B4-BE49-F238E27FC236}">
                <a16:creationId xmlns:a16="http://schemas.microsoft.com/office/drawing/2014/main" id="{BB30BFE2-E513-0F2E-E5A0-25A9B33CA27E}"/>
              </a:ext>
            </a:extLst>
          </p:cNvPr>
          <p:cNvSpPr/>
          <p:nvPr/>
        </p:nvSpPr>
        <p:spPr>
          <a:xfrm>
            <a:off x="0" y="0"/>
            <a:ext cx="9896847" cy="662946"/>
          </a:xfrm>
          <a:custGeom>
            <a:avLst/>
            <a:gdLst>
              <a:gd name="connsiteX0" fmla="*/ 0 w 8681972"/>
              <a:gd name="connsiteY0" fmla="*/ 0 h 689675"/>
              <a:gd name="connsiteX1" fmla="*/ 8681972 w 8681972"/>
              <a:gd name="connsiteY1" fmla="*/ 0 h 689675"/>
              <a:gd name="connsiteX2" fmla="*/ 8461124 w 8681972"/>
              <a:gd name="connsiteY2" fmla="*/ 344837 h 689675"/>
              <a:gd name="connsiteX3" fmla="*/ 8681972 w 8681972"/>
              <a:gd name="connsiteY3" fmla="*/ 689675 h 689675"/>
              <a:gd name="connsiteX4" fmla="*/ 0 w 8681972"/>
              <a:gd name="connsiteY4" fmla="*/ 689675 h 689675"/>
              <a:gd name="connsiteX5" fmla="*/ 0 w 8681972"/>
              <a:gd name="connsiteY5" fmla="*/ 0 h 6896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681972" h="689675">
                <a:moveTo>
                  <a:pt x="0" y="0"/>
                </a:moveTo>
                <a:lnTo>
                  <a:pt x="8681972" y="0"/>
                </a:lnTo>
                <a:lnTo>
                  <a:pt x="8461124" y="344837"/>
                </a:lnTo>
                <a:lnTo>
                  <a:pt x="8681972" y="689675"/>
                </a:lnTo>
                <a:lnTo>
                  <a:pt x="0" y="689675"/>
                </a:lnTo>
                <a:lnTo>
                  <a:pt x="0" y="0"/>
                </a:lnTo>
                <a:close/>
              </a:path>
            </a:pathLst>
          </a:custGeom>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zh-CN" altLang="en-US" sz="1600"/>
          </a:p>
        </p:txBody>
      </p:sp>
      <p:sp>
        <p:nvSpPr>
          <p:cNvPr id="14" name="文本框 13">
            <a:extLst>
              <a:ext uri="{FF2B5EF4-FFF2-40B4-BE49-F238E27FC236}">
                <a16:creationId xmlns:a16="http://schemas.microsoft.com/office/drawing/2014/main" id="{24CCACC3-3B72-F4B8-6E35-48C1E565C9B1}"/>
              </a:ext>
            </a:extLst>
          </p:cNvPr>
          <p:cNvSpPr txBox="1"/>
          <p:nvPr/>
        </p:nvSpPr>
        <p:spPr>
          <a:xfrm>
            <a:off x="281981" y="79754"/>
            <a:ext cx="9335355" cy="523220"/>
          </a:xfrm>
          <a:prstGeom prst="rect">
            <a:avLst/>
          </a:prstGeom>
          <a:noFill/>
        </p:spPr>
        <p:txBody>
          <a:bodyPr wrap="square" rtlCol="0">
            <a:spAutoFit/>
          </a:bodyPr>
          <a:lstStyle>
            <a:defPPr>
              <a:defRPr lang="zh-CN"/>
            </a:defPPr>
            <a:lvl1pPr algn="ctr">
              <a:defRPr kumimoji="1" sz="4400" b="1" spc="300">
                <a:solidFill>
                  <a:schemeClr val="bg1"/>
                </a:solidFill>
                <a:latin typeface="微软雅黑" panose="020B0503020204020204" pitchFamily="34" charset="-122"/>
                <a:ea typeface="微软雅黑" panose="020B0503020204020204" pitchFamily="34" charset="-122"/>
              </a:defRPr>
            </a:lvl1pPr>
          </a:lstStyle>
          <a:p>
            <a:pPr algn="l"/>
            <a:r>
              <a:rPr lang="en-US" altLang="zh-CN" sz="1400" dirty="0"/>
              <a:t>Predictive Authority Control: Learning When and How Much to Trust Baseline Controllers for Robust Underwater Robot Tracking</a:t>
            </a:r>
            <a:endParaRPr lang="zh-CN" altLang="en-US" sz="1400" dirty="0"/>
          </a:p>
        </p:txBody>
      </p:sp>
      <p:pic>
        <p:nvPicPr>
          <p:cNvPr id="2" name="图片 1">
            <a:extLst>
              <a:ext uri="{FF2B5EF4-FFF2-40B4-BE49-F238E27FC236}">
                <a16:creationId xmlns:a16="http://schemas.microsoft.com/office/drawing/2014/main" id="{EE3328D6-AE39-13B0-6606-EA967ED579F1}"/>
              </a:ext>
            </a:extLst>
          </p:cNvPr>
          <p:cNvPicPr>
            <a:picLocks noChangeAspect="1"/>
          </p:cNvPicPr>
          <p:nvPr/>
        </p:nvPicPr>
        <p:blipFill>
          <a:blip r:embed="rId2"/>
          <a:stretch>
            <a:fillRect/>
          </a:stretch>
        </p:blipFill>
        <p:spPr>
          <a:xfrm>
            <a:off x="10121441" y="54734"/>
            <a:ext cx="1773578" cy="553478"/>
          </a:xfrm>
          <a:prstGeom prst="rect">
            <a:avLst/>
          </a:prstGeom>
        </p:spPr>
      </p:pic>
      <p:sp>
        <p:nvSpPr>
          <p:cNvPr id="20" name="文本框 19">
            <a:extLst>
              <a:ext uri="{FF2B5EF4-FFF2-40B4-BE49-F238E27FC236}">
                <a16:creationId xmlns:a16="http://schemas.microsoft.com/office/drawing/2014/main" id="{00326EE7-B8B4-19D6-1FBE-D243ABFC528A}"/>
              </a:ext>
            </a:extLst>
          </p:cNvPr>
          <p:cNvSpPr txBox="1"/>
          <p:nvPr/>
        </p:nvSpPr>
        <p:spPr>
          <a:xfrm>
            <a:off x="0" y="738435"/>
            <a:ext cx="12501349" cy="338554"/>
          </a:xfrm>
          <a:prstGeom prst="rect">
            <a:avLst/>
          </a:prstGeom>
          <a:noFill/>
        </p:spPr>
        <p:txBody>
          <a:bodyPr wrap="square" rtlCol="0">
            <a:spAutoFit/>
          </a:bodyPr>
          <a:lstStyle/>
          <a:p>
            <a:pPr marL="342900" indent="-342900">
              <a:buSzPct val="85000"/>
              <a:buFont typeface="Wingdings" panose="05000000000000000000" pitchFamily="2" charset="2"/>
              <a:buChar char="n"/>
            </a:pPr>
            <a:r>
              <a:rPr kumimoji="1" lang="en-US" altLang="zh-CN" sz="1600" b="1" spc="300" dirty="0">
                <a:solidFill>
                  <a:schemeClr val="accent1"/>
                </a:solidFill>
                <a:latin typeface="微软雅黑" panose="020B0503020204020204" pitchFamily="34" charset="-122"/>
                <a:ea typeface="微软雅黑" panose="020B0503020204020204" pitchFamily="34" charset="-122"/>
              </a:rPr>
              <a:t>PAC</a:t>
            </a:r>
            <a:r>
              <a:rPr kumimoji="1" lang="zh-CN" altLang="en-US" sz="1600" b="1" spc="300" dirty="0">
                <a:solidFill>
                  <a:schemeClr val="accent1"/>
                </a:solidFill>
                <a:latin typeface="微软雅黑" panose="020B0503020204020204" pitchFamily="34" charset="-122"/>
                <a:ea typeface="微软雅黑" panose="020B0503020204020204" pitchFamily="34" charset="-122"/>
              </a:rPr>
              <a:t>：面向水下机器人鲁棒跟踪的基线控制器时序信任权重学习</a:t>
            </a:r>
          </a:p>
        </p:txBody>
      </p:sp>
      <p:cxnSp>
        <p:nvCxnSpPr>
          <p:cNvPr id="21" name="直线连接符 12">
            <a:extLst>
              <a:ext uri="{FF2B5EF4-FFF2-40B4-BE49-F238E27FC236}">
                <a16:creationId xmlns:a16="http://schemas.microsoft.com/office/drawing/2014/main" id="{6416C3E1-180E-7314-D3EE-444BA5763E5F}"/>
              </a:ext>
            </a:extLst>
          </p:cNvPr>
          <p:cNvCxnSpPr/>
          <p:nvPr/>
        </p:nvCxnSpPr>
        <p:spPr>
          <a:xfrm>
            <a:off x="908" y="1167007"/>
            <a:ext cx="10978564" cy="0"/>
          </a:xfrm>
          <a:prstGeom prst="line">
            <a:avLst/>
          </a:prstGeom>
        </p:spPr>
        <p:style>
          <a:lnRef idx="1">
            <a:schemeClr val="accent1"/>
          </a:lnRef>
          <a:fillRef idx="0">
            <a:schemeClr val="accent1"/>
          </a:fillRef>
          <a:effectRef idx="0">
            <a:schemeClr val="accent1"/>
          </a:effectRef>
          <a:fontRef idx="minor">
            <a:schemeClr val="tx1"/>
          </a:fontRef>
        </p:style>
      </p:cxnSp>
      <p:pic>
        <p:nvPicPr>
          <p:cNvPr id="12" name="Picture 11" descr="gallery_05_ou_current_unseen.png"/>
          <p:cNvPicPr>
            <a:picLocks noChangeAspect="1"/>
          </p:cNvPicPr>
          <p:nvPr/>
        </p:nvPicPr>
        <p:blipFill>
          <a:blip r:embed="rId3"/>
          <a:stretch>
            <a:fillRect/>
          </a:stretch>
        </p:blipFill>
        <p:spPr>
          <a:xfrm>
            <a:off x="457200" y="1828800"/>
            <a:ext cx="3044687" cy="4572000"/>
          </a:xfrm>
          <a:prstGeom prst="rect">
            <a:avLst/>
          </a:prstGeom>
        </p:spPr>
      </p:pic>
      <p:sp>
        <p:nvSpPr>
          <p:cNvPr id="13" name="TextBox 12"/>
          <p:cNvSpPr txBox="1"/>
          <p:nvPr/>
        </p:nvSpPr>
        <p:spPr>
          <a:xfrm>
            <a:off x="5029200" y="2011680"/>
            <a:ext cx="6675120" cy="4754880"/>
          </a:xfrm>
          <a:prstGeom prst="rect">
            <a:avLst/>
          </a:prstGeom>
          <a:noFill/>
        </p:spPr>
        <p:txBody>
          <a:bodyPr wrap="square">
            <a:spAutoFit/>
          </a:bodyPr>
          <a:lstStyle/>
          <a:p>
            <a:pPr>
              <a:lnSpc>
                <a:spcPct val="115000"/>
              </a:lnSpc>
              <a:spcAft>
                <a:spcPts val="300"/>
              </a:spcAft>
            </a:pPr>
            <a:r>
              <a:rPr sz="1500" b="1">
                <a:solidFill>
                  <a:srgbClr val="514D83"/>
                </a:solidFill>
                <a:latin typeface="微软雅黑"/>
              </a:rPr>
              <a:t>参数范围与含义</a:t>
            </a:r>
          </a:p>
          <a:p>
            <a:pPr>
              <a:lnSpc>
                <a:spcPct val="115000"/>
              </a:lnSpc>
              <a:spcAft>
                <a:spcPts val="300"/>
              </a:spcAft>
            </a:pPr>
            <a:r>
              <a:rPr sz="1200" b="0">
                <a:latin typeface="微软雅黑"/>
              </a:rPr>
              <a:t>训练: θ∈[0.2,1.0] rad/s, σ∈[0.05,0.20]
测试: θ∈[1.2,2.0] rad/s, σ∈[0.25,0.40]
θ=Ornstein-Uhlenbeck 回归速率 | σ=随机力强度</a:t>
            </a:r>
          </a:p>
          <a:p>
            <a:pPr>
              <a:lnSpc>
                <a:spcPct val="115000"/>
              </a:lnSpc>
              <a:spcAft>
                <a:spcPts val="300"/>
              </a:spcAft>
            </a:pPr>
            <a:endParaRPr sz="1200" b="0">
              <a:latin typeface="微软雅黑"/>
            </a:endParaRPr>
          </a:p>
          <a:p>
            <a:pPr>
              <a:lnSpc>
                <a:spcPct val="115000"/>
              </a:lnSpc>
              <a:spcAft>
                <a:spcPts val="300"/>
              </a:spcAft>
            </a:pPr>
            <a:r>
              <a:rPr sz="1500" b="1">
                <a:solidFill>
                  <a:srgbClr val="E8730C"/>
                </a:solidFill>
                <a:latin typeface="微软雅黑"/>
              </a:rPr>
              <a:t>物理意义</a:t>
            </a:r>
          </a:p>
          <a:p>
            <a:pPr>
              <a:lnSpc>
                <a:spcPct val="115000"/>
              </a:lnSpc>
              <a:spcAft>
                <a:spcPts val="300"/>
              </a:spcAft>
            </a:pPr>
            <a:r>
              <a:rPr sz="1200" b="0">
                <a:latin typeface="微软雅黑"/>
              </a:rPr>
              <a:t>时间尺度加快（θ 增大 = 更快回归均值）</a:t>
            </a:r>
          </a:p>
          <a:p>
            <a:pPr>
              <a:lnSpc>
                <a:spcPct val="115000"/>
              </a:lnSpc>
              <a:spcAft>
                <a:spcPts val="300"/>
              </a:spcAft>
            </a:pPr>
            <a:endParaRPr sz="1200" b="0">
              <a:latin typeface="微软雅黑"/>
            </a:endParaRPr>
          </a:p>
          <a:p>
            <a:pPr>
              <a:lnSpc>
                <a:spcPct val="115000"/>
              </a:lnSpc>
              <a:spcAft>
                <a:spcPts val="300"/>
              </a:spcAft>
            </a:pPr>
            <a:r>
              <a:rPr sz="1500" b="1">
                <a:solidFill>
                  <a:srgbClr val="3F7E72"/>
                </a:solidFill>
                <a:latin typeface="微软雅黑"/>
              </a:rPr>
              <a:t>结果</a:t>
            </a:r>
          </a:p>
          <a:p>
            <a:pPr>
              <a:lnSpc>
                <a:spcPct val="115000"/>
              </a:lnSpc>
              <a:spcAft>
                <a:spcPts val="300"/>
              </a:spcAft>
            </a:pPr>
            <a:r>
              <a:rPr sz="1200" b="1">
                <a:latin typeface="微软雅黑"/>
              </a:rPr>
              <a:t>残差策略适应更快变化的海流</a:t>
            </a:r>
          </a:p>
          <a:p>
            <a:pPr>
              <a:lnSpc>
                <a:spcPct val="115000"/>
              </a:lnSpc>
              <a:spcAft>
                <a:spcPts val="300"/>
              </a:spcAft>
            </a:pPr>
            <a:endParaRPr sz="1200" b="1">
              <a:latin typeface="微软雅黑"/>
            </a:endParaRPr>
          </a:p>
          <a:p>
            <a:pPr>
              <a:lnSpc>
                <a:spcPct val="115000"/>
              </a:lnSpc>
              <a:spcAft>
                <a:spcPts val="300"/>
              </a:spcAft>
            </a:pPr>
            <a:r>
              <a:rPr sz="1100" b="0">
                <a:solidFill>
                  <a:srgbClr val="6B6F85"/>
                </a:solidFill>
                <a:latin typeface="微软雅黑"/>
              </a:rPr>
              <a:t>每回合 2,100 步（21 s）· 6 方法 × 5 种子</a:t>
            </a:r>
          </a:p>
        </p:txBody>
      </p:sp>
      <p:sp>
        <p:nvSpPr>
          <p:cNvPr id="17" name="TextBox 10"/>
          <p:cNvSpPr txBox="1"/>
          <p:nvPr/>
        </p:nvSpPr>
        <p:spPr>
          <a:xfrm>
            <a:off x="274320" y="1234440"/>
            <a:ext cx="11612880" cy="457200"/>
          </a:xfrm>
          <a:prstGeom prst="rect">
            <a:avLst/>
          </a:prstGeom>
          <a:noFill/>
        </p:spPr>
        <p:txBody>
          <a:bodyPr wrap="square">
            <a:spAutoFit/>
          </a:bodyPr>
          <a:lstStyle/>
          <a:p>
            <a:pPr>
              <a:lnSpc>
                <a:spcPct val="115000"/>
              </a:lnSpc>
              <a:spcAft>
                <a:spcPts val="300"/>
              </a:spcAft>
            </a:pPr>
            <a:r>
              <a:rPr sz="1700" b="1" dirty="0">
                <a:solidFill>
                  <a:srgbClr val="514D83"/>
                </a:solidFill>
                <a:latin typeface="微软雅黑"/>
              </a:rPr>
              <a:t>OU </a:t>
            </a:r>
            <a:r>
              <a:rPr sz="1700" b="1" dirty="0" err="1">
                <a:solidFill>
                  <a:srgbClr val="514D83"/>
                </a:solidFill>
                <a:latin typeface="微软雅黑"/>
              </a:rPr>
              <a:t>海流（OOD</a:t>
            </a:r>
            <a:r>
              <a:rPr sz="1700" b="1" dirty="0">
                <a:solidFill>
                  <a:srgbClr val="514D83"/>
                </a:solidFill>
                <a:latin typeface="微软雅黑"/>
              </a:rPr>
              <a:t>）</a:t>
            </a:r>
          </a:p>
        </p:txBody>
      </p:sp>
    </p:spTree>
    <p:extLst>
      <p:ext uri="{BB962C8B-B14F-4D97-AF65-F5344CB8AC3E}">
        <p14:creationId xmlns:p14="http://schemas.microsoft.com/office/powerpoint/2010/main" val="1722548538"/>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12B6A1-0B40-5BF4-9D4E-F0E4E53115F2}"/>
            </a:ext>
          </a:extLst>
        </p:cNvPr>
        <p:cNvGrpSpPr/>
        <p:nvPr/>
      </p:nvGrpSpPr>
      <p:grpSpPr>
        <a:xfrm>
          <a:off x="0" y="0"/>
          <a:ext cx="0" cy="0"/>
          <a:chOff x="0" y="0"/>
          <a:chExt cx="0" cy="0"/>
        </a:xfrm>
      </p:grpSpPr>
      <p:sp>
        <p:nvSpPr>
          <p:cNvPr id="7" name="文本框 6">
            <a:extLst>
              <a:ext uri="{FF2B5EF4-FFF2-40B4-BE49-F238E27FC236}">
                <a16:creationId xmlns:a16="http://schemas.microsoft.com/office/drawing/2014/main" id="{597A4BA9-8EAC-1EFF-FABC-B7D9DFEFA511}"/>
              </a:ext>
            </a:extLst>
          </p:cNvPr>
          <p:cNvSpPr txBox="1"/>
          <p:nvPr/>
        </p:nvSpPr>
        <p:spPr>
          <a:xfrm>
            <a:off x="10461848" y="299500"/>
            <a:ext cx="1197832" cy="369332"/>
          </a:xfrm>
          <a:prstGeom prst="rect">
            <a:avLst/>
          </a:prstGeom>
          <a:noFill/>
        </p:spPr>
        <p:txBody>
          <a:bodyPr wrap="square" rtlCol="0">
            <a:spAutoFit/>
          </a:bodyPr>
          <a:lstStyle/>
          <a:p>
            <a:pPr algn="ctr"/>
            <a:r>
              <a:rPr kumimoji="1" lang="zh-CN" altLang="en-US" b="1" spc="110" dirty="0">
                <a:solidFill>
                  <a:schemeClr val="bg1"/>
                </a:solidFill>
                <a:latin typeface="微软雅黑" panose="020B0503020204020204" pitchFamily="34" charset="-122"/>
                <a:ea typeface="微软雅黑" panose="020B0503020204020204" pitchFamily="34" charset="-122"/>
              </a:rPr>
              <a:t>读研展望</a:t>
            </a:r>
          </a:p>
        </p:txBody>
      </p:sp>
      <p:sp>
        <p:nvSpPr>
          <p:cNvPr id="9" name="文本框 8">
            <a:extLst>
              <a:ext uri="{FF2B5EF4-FFF2-40B4-BE49-F238E27FC236}">
                <a16:creationId xmlns:a16="http://schemas.microsoft.com/office/drawing/2014/main" id="{E4C63D58-F96C-D7D2-FE9F-904564D77F61}"/>
              </a:ext>
            </a:extLst>
          </p:cNvPr>
          <p:cNvSpPr txBox="1"/>
          <p:nvPr/>
        </p:nvSpPr>
        <p:spPr>
          <a:xfrm>
            <a:off x="2875146" y="179975"/>
            <a:ext cx="1336142" cy="369332"/>
          </a:xfrm>
          <a:prstGeom prst="rect">
            <a:avLst/>
          </a:prstGeom>
          <a:noFill/>
        </p:spPr>
        <p:txBody>
          <a:bodyPr wrap="square" rtlCol="0">
            <a:spAutoFit/>
          </a:bodyPr>
          <a:lstStyle/>
          <a:p>
            <a:pPr algn="ctr"/>
            <a:r>
              <a:rPr kumimoji="1" lang="zh-CN" altLang="en-US" b="1" spc="110" dirty="0">
                <a:solidFill>
                  <a:schemeClr val="bg1"/>
                </a:solidFill>
                <a:latin typeface="微软雅黑" panose="020B0503020204020204" pitchFamily="34" charset="-122"/>
                <a:ea typeface="微软雅黑" panose="020B0503020204020204" pitchFamily="34" charset="-122"/>
              </a:rPr>
              <a:t>个人简介</a:t>
            </a:r>
          </a:p>
        </p:txBody>
      </p:sp>
      <p:sp>
        <p:nvSpPr>
          <p:cNvPr id="15" name="椭圆 14">
            <a:extLst>
              <a:ext uri="{FF2B5EF4-FFF2-40B4-BE49-F238E27FC236}">
                <a16:creationId xmlns:a16="http://schemas.microsoft.com/office/drawing/2014/main" id="{2D2D1244-5734-DF15-EEFD-A5448FA8C341}"/>
              </a:ext>
            </a:extLst>
          </p:cNvPr>
          <p:cNvSpPr/>
          <p:nvPr/>
        </p:nvSpPr>
        <p:spPr>
          <a:xfrm>
            <a:off x="11750347" y="6411598"/>
            <a:ext cx="289344" cy="289344"/>
          </a:xfrm>
          <a:prstGeom prst="ellipse">
            <a:avLst/>
          </a:prstGeom>
          <a:solidFill>
            <a:schemeClr val="bg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CN" altLang="en-US">
              <a:solidFill>
                <a:schemeClr val="accent1"/>
              </a:solidFill>
            </a:endParaRPr>
          </a:p>
        </p:txBody>
      </p:sp>
      <p:sp>
        <p:nvSpPr>
          <p:cNvPr id="16" name="灯片编号占位符 18">
            <a:extLst>
              <a:ext uri="{FF2B5EF4-FFF2-40B4-BE49-F238E27FC236}">
                <a16:creationId xmlns:a16="http://schemas.microsoft.com/office/drawing/2014/main" id="{3CE6D77E-9D19-5B7D-620A-E7607BBB5E52}"/>
              </a:ext>
            </a:extLst>
          </p:cNvPr>
          <p:cNvSpPr>
            <a:spLocks noGrp="1"/>
          </p:cNvSpPr>
          <p:nvPr>
            <p:ph type="sldNum" sz="quarter" idx="12"/>
          </p:nvPr>
        </p:nvSpPr>
        <p:spPr>
          <a:xfrm>
            <a:off x="11619554" y="6373707"/>
            <a:ext cx="550930" cy="365125"/>
          </a:xfrm>
        </p:spPr>
        <p:txBody>
          <a:bodyPr/>
          <a:lstStyle/>
          <a:p>
            <a:pPr algn="ctr"/>
            <a:fld id="{D290E156-FAFE-5144-A047-A692DE980B3A}" type="slidenum">
              <a:rPr kumimoji="1" lang="zh-CN" altLang="en-US" smtClean="0">
                <a:solidFill>
                  <a:schemeClr val="accent1"/>
                </a:solidFill>
                <a:latin typeface="Arial" panose="020B0604020202020204" pitchFamily="34" charset="0"/>
                <a:cs typeface="Arial" panose="020B0604020202020204" pitchFamily="34" charset="0"/>
              </a:rPr>
              <a:t>11</a:t>
            </a:fld>
            <a:endParaRPr kumimoji="1" lang="zh-CN" altLang="en-US" dirty="0">
              <a:solidFill>
                <a:schemeClr val="accent1"/>
              </a:solidFill>
              <a:latin typeface="Arial" panose="020B0604020202020204" pitchFamily="34" charset="0"/>
              <a:cs typeface="Arial" panose="020B0604020202020204" pitchFamily="34" charset="0"/>
            </a:endParaRPr>
          </a:p>
        </p:txBody>
      </p:sp>
      <p:sp>
        <p:nvSpPr>
          <p:cNvPr id="6" name="文本框 5">
            <a:extLst>
              <a:ext uri="{FF2B5EF4-FFF2-40B4-BE49-F238E27FC236}">
                <a16:creationId xmlns:a16="http://schemas.microsoft.com/office/drawing/2014/main" id="{FC8DDB65-DFAF-3D5E-AF44-EF5761B1BC58}"/>
              </a:ext>
            </a:extLst>
          </p:cNvPr>
          <p:cNvSpPr txBox="1"/>
          <p:nvPr/>
        </p:nvSpPr>
        <p:spPr>
          <a:xfrm>
            <a:off x="5032257" y="179975"/>
            <a:ext cx="1985202" cy="369332"/>
          </a:xfrm>
          <a:prstGeom prst="rect">
            <a:avLst/>
          </a:prstGeom>
          <a:noFill/>
        </p:spPr>
        <p:txBody>
          <a:bodyPr wrap="square" rtlCol="0">
            <a:spAutoFit/>
          </a:bodyPr>
          <a:lstStyle/>
          <a:p>
            <a:pPr algn="ctr"/>
            <a:r>
              <a:rPr kumimoji="1" lang="zh-CN" altLang="en-US" b="1" spc="110" dirty="0">
                <a:solidFill>
                  <a:schemeClr val="bg1"/>
                </a:solidFill>
                <a:latin typeface="微软雅黑" panose="020B0503020204020204" pitchFamily="34" charset="-122"/>
                <a:ea typeface="微软雅黑" panose="020B0503020204020204" pitchFamily="34" charset="-122"/>
              </a:rPr>
              <a:t>本科经历</a:t>
            </a:r>
          </a:p>
        </p:txBody>
      </p:sp>
      <p:sp>
        <p:nvSpPr>
          <p:cNvPr id="3" name="任意形状 2">
            <a:extLst>
              <a:ext uri="{FF2B5EF4-FFF2-40B4-BE49-F238E27FC236}">
                <a16:creationId xmlns:a16="http://schemas.microsoft.com/office/drawing/2014/main" id="{092D489C-A36F-DF4E-52D1-260CB08C0825}"/>
              </a:ext>
            </a:extLst>
          </p:cNvPr>
          <p:cNvSpPr/>
          <p:nvPr/>
        </p:nvSpPr>
        <p:spPr>
          <a:xfrm>
            <a:off x="0" y="0"/>
            <a:ext cx="9896847" cy="662946"/>
          </a:xfrm>
          <a:custGeom>
            <a:avLst/>
            <a:gdLst>
              <a:gd name="connsiteX0" fmla="*/ 0 w 8681972"/>
              <a:gd name="connsiteY0" fmla="*/ 0 h 689675"/>
              <a:gd name="connsiteX1" fmla="*/ 8681972 w 8681972"/>
              <a:gd name="connsiteY1" fmla="*/ 0 h 689675"/>
              <a:gd name="connsiteX2" fmla="*/ 8461124 w 8681972"/>
              <a:gd name="connsiteY2" fmla="*/ 344837 h 689675"/>
              <a:gd name="connsiteX3" fmla="*/ 8681972 w 8681972"/>
              <a:gd name="connsiteY3" fmla="*/ 689675 h 689675"/>
              <a:gd name="connsiteX4" fmla="*/ 0 w 8681972"/>
              <a:gd name="connsiteY4" fmla="*/ 689675 h 689675"/>
              <a:gd name="connsiteX5" fmla="*/ 0 w 8681972"/>
              <a:gd name="connsiteY5" fmla="*/ 0 h 6896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681972" h="689675">
                <a:moveTo>
                  <a:pt x="0" y="0"/>
                </a:moveTo>
                <a:lnTo>
                  <a:pt x="8681972" y="0"/>
                </a:lnTo>
                <a:lnTo>
                  <a:pt x="8461124" y="344837"/>
                </a:lnTo>
                <a:lnTo>
                  <a:pt x="8681972" y="689675"/>
                </a:lnTo>
                <a:lnTo>
                  <a:pt x="0" y="689675"/>
                </a:lnTo>
                <a:lnTo>
                  <a:pt x="0" y="0"/>
                </a:lnTo>
                <a:close/>
              </a:path>
            </a:pathLst>
          </a:custGeom>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zh-CN" altLang="en-US" sz="1600"/>
          </a:p>
        </p:txBody>
      </p:sp>
      <p:sp>
        <p:nvSpPr>
          <p:cNvPr id="14" name="文本框 13">
            <a:extLst>
              <a:ext uri="{FF2B5EF4-FFF2-40B4-BE49-F238E27FC236}">
                <a16:creationId xmlns:a16="http://schemas.microsoft.com/office/drawing/2014/main" id="{BEEA6C65-49F4-9A33-F34A-8C0906D7ADBC}"/>
              </a:ext>
            </a:extLst>
          </p:cNvPr>
          <p:cNvSpPr txBox="1"/>
          <p:nvPr/>
        </p:nvSpPr>
        <p:spPr>
          <a:xfrm>
            <a:off x="281981" y="79754"/>
            <a:ext cx="9335355" cy="523220"/>
          </a:xfrm>
          <a:prstGeom prst="rect">
            <a:avLst/>
          </a:prstGeom>
          <a:noFill/>
        </p:spPr>
        <p:txBody>
          <a:bodyPr wrap="square" rtlCol="0">
            <a:spAutoFit/>
          </a:bodyPr>
          <a:lstStyle>
            <a:defPPr>
              <a:defRPr lang="zh-CN"/>
            </a:defPPr>
            <a:lvl1pPr algn="ctr">
              <a:defRPr kumimoji="1" sz="4400" b="1" spc="300">
                <a:solidFill>
                  <a:schemeClr val="bg1"/>
                </a:solidFill>
                <a:latin typeface="微软雅黑" panose="020B0503020204020204" pitchFamily="34" charset="-122"/>
                <a:ea typeface="微软雅黑" panose="020B0503020204020204" pitchFamily="34" charset="-122"/>
              </a:defRPr>
            </a:lvl1pPr>
          </a:lstStyle>
          <a:p>
            <a:pPr algn="l"/>
            <a:r>
              <a:rPr lang="en-US" altLang="zh-CN" sz="1400" dirty="0"/>
              <a:t>Predictive Authority Control: Learning When and How Much to Trust Baseline Controllers for Robust Underwater Robot Tracking</a:t>
            </a:r>
            <a:endParaRPr lang="zh-CN" altLang="en-US" sz="1400" dirty="0"/>
          </a:p>
        </p:txBody>
      </p:sp>
      <p:pic>
        <p:nvPicPr>
          <p:cNvPr id="2" name="图片 1">
            <a:extLst>
              <a:ext uri="{FF2B5EF4-FFF2-40B4-BE49-F238E27FC236}">
                <a16:creationId xmlns:a16="http://schemas.microsoft.com/office/drawing/2014/main" id="{B5B5E048-95A5-AF39-4C71-8123F060C631}"/>
              </a:ext>
            </a:extLst>
          </p:cNvPr>
          <p:cNvPicPr>
            <a:picLocks noChangeAspect="1"/>
          </p:cNvPicPr>
          <p:nvPr/>
        </p:nvPicPr>
        <p:blipFill>
          <a:blip r:embed="rId2"/>
          <a:stretch>
            <a:fillRect/>
          </a:stretch>
        </p:blipFill>
        <p:spPr>
          <a:xfrm>
            <a:off x="10121441" y="54734"/>
            <a:ext cx="1773578" cy="553478"/>
          </a:xfrm>
          <a:prstGeom prst="rect">
            <a:avLst/>
          </a:prstGeom>
        </p:spPr>
      </p:pic>
      <p:sp>
        <p:nvSpPr>
          <p:cNvPr id="20" name="文本框 19">
            <a:extLst>
              <a:ext uri="{FF2B5EF4-FFF2-40B4-BE49-F238E27FC236}">
                <a16:creationId xmlns:a16="http://schemas.microsoft.com/office/drawing/2014/main" id="{B566DA44-0488-FD66-C699-59F67EDC52FC}"/>
              </a:ext>
            </a:extLst>
          </p:cNvPr>
          <p:cNvSpPr txBox="1"/>
          <p:nvPr/>
        </p:nvSpPr>
        <p:spPr>
          <a:xfrm>
            <a:off x="0" y="738435"/>
            <a:ext cx="12501349" cy="338554"/>
          </a:xfrm>
          <a:prstGeom prst="rect">
            <a:avLst/>
          </a:prstGeom>
          <a:noFill/>
        </p:spPr>
        <p:txBody>
          <a:bodyPr wrap="square" rtlCol="0">
            <a:spAutoFit/>
          </a:bodyPr>
          <a:lstStyle/>
          <a:p>
            <a:pPr marL="342900" indent="-342900">
              <a:buSzPct val="85000"/>
              <a:buFont typeface="Wingdings" panose="05000000000000000000" pitchFamily="2" charset="2"/>
              <a:buChar char="n"/>
            </a:pPr>
            <a:r>
              <a:rPr kumimoji="1" lang="en-US" altLang="zh-CN" sz="1600" b="1" spc="300" dirty="0">
                <a:solidFill>
                  <a:schemeClr val="accent1"/>
                </a:solidFill>
                <a:latin typeface="微软雅黑" panose="020B0503020204020204" pitchFamily="34" charset="-122"/>
                <a:ea typeface="微软雅黑" panose="020B0503020204020204" pitchFamily="34" charset="-122"/>
              </a:rPr>
              <a:t>PAC</a:t>
            </a:r>
            <a:r>
              <a:rPr kumimoji="1" lang="zh-CN" altLang="en-US" sz="1600" b="1" spc="300" dirty="0">
                <a:solidFill>
                  <a:schemeClr val="accent1"/>
                </a:solidFill>
                <a:latin typeface="微软雅黑" panose="020B0503020204020204" pitchFamily="34" charset="-122"/>
                <a:ea typeface="微软雅黑" panose="020B0503020204020204" pitchFamily="34" charset="-122"/>
              </a:rPr>
              <a:t>：面向水下机器人鲁棒跟踪的基线控制器时序信任权重学习</a:t>
            </a:r>
          </a:p>
        </p:txBody>
      </p:sp>
      <p:cxnSp>
        <p:nvCxnSpPr>
          <p:cNvPr id="21" name="直线连接符 12">
            <a:extLst>
              <a:ext uri="{FF2B5EF4-FFF2-40B4-BE49-F238E27FC236}">
                <a16:creationId xmlns:a16="http://schemas.microsoft.com/office/drawing/2014/main" id="{C20ACB3C-C3F2-85F4-947D-1E9719D5E96F}"/>
              </a:ext>
            </a:extLst>
          </p:cNvPr>
          <p:cNvCxnSpPr/>
          <p:nvPr/>
        </p:nvCxnSpPr>
        <p:spPr>
          <a:xfrm>
            <a:off x="908" y="1167007"/>
            <a:ext cx="10978564" cy="0"/>
          </a:xfrm>
          <a:prstGeom prst="line">
            <a:avLst/>
          </a:prstGeom>
        </p:spPr>
        <p:style>
          <a:lnRef idx="1">
            <a:schemeClr val="accent1"/>
          </a:lnRef>
          <a:fillRef idx="0">
            <a:schemeClr val="accent1"/>
          </a:fillRef>
          <a:effectRef idx="0">
            <a:schemeClr val="accent1"/>
          </a:effectRef>
          <a:fontRef idx="minor">
            <a:schemeClr val="tx1"/>
          </a:fontRef>
        </p:style>
      </p:cxnSp>
      <p:sp>
        <p:nvSpPr>
          <p:cNvPr id="11" name="TextBox 10"/>
          <p:cNvSpPr txBox="1"/>
          <p:nvPr/>
        </p:nvSpPr>
        <p:spPr>
          <a:xfrm>
            <a:off x="274320" y="1234440"/>
            <a:ext cx="11612880" cy="457200"/>
          </a:xfrm>
          <a:prstGeom prst="rect">
            <a:avLst/>
          </a:prstGeom>
          <a:noFill/>
        </p:spPr>
        <p:txBody>
          <a:bodyPr wrap="square">
            <a:spAutoFit/>
          </a:bodyPr>
          <a:lstStyle/>
          <a:p>
            <a:pPr>
              <a:lnSpc>
                <a:spcPct val="115000"/>
              </a:lnSpc>
              <a:spcAft>
                <a:spcPts val="300"/>
              </a:spcAft>
            </a:pPr>
            <a:r>
              <a:rPr sz="1700" b="1" dirty="0" err="1">
                <a:solidFill>
                  <a:srgbClr val="514D83"/>
                </a:solidFill>
                <a:latin typeface="微软雅黑"/>
              </a:rPr>
              <a:t>随机频率-幅值（OOD</a:t>
            </a:r>
            <a:r>
              <a:rPr sz="1700" b="1" dirty="0">
                <a:solidFill>
                  <a:srgbClr val="514D83"/>
                </a:solidFill>
                <a:latin typeface="微软雅黑"/>
              </a:rPr>
              <a:t>）</a:t>
            </a:r>
          </a:p>
        </p:txBody>
      </p:sp>
      <p:pic>
        <p:nvPicPr>
          <p:cNvPr id="12" name="Picture 11" descr="gallery_06_random_freq_amp_unseen.png"/>
          <p:cNvPicPr>
            <a:picLocks noChangeAspect="1"/>
          </p:cNvPicPr>
          <p:nvPr/>
        </p:nvPicPr>
        <p:blipFill>
          <a:blip r:embed="rId3"/>
          <a:stretch>
            <a:fillRect/>
          </a:stretch>
        </p:blipFill>
        <p:spPr>
          <a:xfrm>
            <a:off x="457200" y="1828800"/>
            <a:ext cx="3044687" cy="4572000"/>
          </a:xfrm>
          <a:prstGeom prst="rect">
            <a:avLst/>
          </a:prstGeom>
        </p:spPr>
      </p:pic>
      <p:sp>
        <p:nvSpPr>
          <p:cNvPr id="13" name="TextBox 12"/>
          <p:cNvSpPr txBox="1"/>
          <p:nvPr/>
        </p:nvSpPr>
        <p:spPr>
          <a:xfrm>
            <a:off x="5029200" y="2011680"/>
            <a:ext cx="6675120" cy="4754880"/>
          </a:xfrm>
          <a:prstGeom prst="rect">
            <a:avLst/>
          </a:prstGeom>
          <a:noFill/>
        </p:spPr>
        <p:txBody>
          <a:bodyPr wrap="square">
            <a:spAutoFit/>
          </a:bodyPr>
          <a:lstStyle/>
          <a:p>
            <a:pPr>
              <a:lnSpc>
                <a:spcPct val="115000"/>
              </a:lnSpc>
              <a:spcAft>
                <a:spcPts val="300"/>
              </a:spcAft>
            </a:pPr>
            <a:r>
              <a:rPr sz="1500" b="1">
                <a:solidFill>
                  <a:srgbClr val="514D83"/>
                </a:solidFill>
                <a:latin typeface="微软雅黑"/>
              </a:rPr>
              <a:t>参数范围与含义</a:t>
            </a:r>
          </a:p>
          <a:p>
            <a:pPr>
              <a:lnSpc>
                <a:spcPct val="115000"/>
              </a:lnSpc>
              <a:spcAft>
                <a:spcPts val="300"/>
              </a:spcAft>
            </a:pPr>
            <a:r>
              <a:rPr sz="1200" b="0">
                <a:latin typeface="微软雅黑"/>
              </a:rPr>
              <a:t>训练: amp∈[2.0,3.0], freq∈[0.8,1.2]
测试: amp∈[3.2,4.0], freq∈[1.4,1.8]
amp=幅值缩放因子 | freq=频率缩放因子</a:t>
            </a:r>
          </a:p>
          <a:p>
            <a:pPr>
              <a:lnSpc>
                <a:spcPct val="115000"/>
              </a:lnSpc>
              <a:spcAft>
                <a:spcPts val="300"/>
              </a:spcAft>
            </a:pPr>
            <a:endParaRPr sz="1200" b="0">
              <a:latin typeface="微软雅黑"/>
            </a:endParaRPr>
          </a:p>
          <a:p>
            <a:pPr>
              <a:lnSpc>
                <a:spcPct val="115000"/>
              </a:lnSpc>
              <a:spcAft>
                <a:spcPts val="300"/>
              </a:spcAft>
            </a:pPr>
            <a:r>
              <a:rPr sz="1500" b="1">
                <a:solidFill>
                  <a:srgbClr val="E8730C"/>
                </a:solidFill>
                <a:latin typeface="微软雅黑"/>
              </a:rPr>
              <a:t>物理意义</a:t>
            </a:r>
          </a:p>
          <a:p>
            <a:pPr>
              <a:lnSpc>
                <a:spcPct val="115000"/>
              </a:lnSpc>
              <a:spcAft>
                <a:spcPts val="300"/>
              </a:spcAft>
            </a:pPr>
            <a:r>
              <a:rPr sz="1200" b="0">
                <a:latin typeface="微软雅黑"/>
              </a:rPr>
              <a:t>频率与幅值同时超出训练范围</a:t>
            </a:r>
          </a:p>
          <a:p>
            <a:pPr>
              <a:lnSpc>
                <a:spcPct val="115000"/>
              </a:lnSpc>
              <a:spcAft>
                <a:spcPts val="300"/>
              </a:spcAft>
            </a:pPr>
            <a:endParaRPr sz="1200" b="0">
              <a:latin typeface="微软雅黑"/>
            </a:endParaRPr>
          </a:p>
          <a:p>
            <a:pPr>
              <a:lnSpc>
                <a:spcPct val="115000"/>
              </a:lnSpc>
              <a:spcAft>
                <a:spcPts val="300"/>
              </a:spcAft>
            </a:pPr>
            <a:r>
              <a:rPr sz="1500" b="1">
                <a:solidFill>
                  <a:srgbClr val="3F7E72"/>
                </a:solidFill>
                <a:latin typeface="微软雅黑"/>
              </a:rPr>
              <a:t>结果</a:t>
            </a:r>
          </a:p>
          <a:p>
            <a:pPr>
              <a:lnSpc>
                <a:spcPct val="115000"/>
              </a:lnSpc>
              <a:spcAft>
                <a:spcPts val="300"/>
              </a:spcAft>
            </a:pPr>
            <a:r>
              <a:rPr sz="1200" b="1">
                <a:latin typeface="微软雅黑"/>
              </a:rPr>
              <a:t>本族全体方法退化，残差策略退化最少</a:t>
            </a:r>
          </a:p>
          <a:p>
            <a:pPr>
              <a:lnSpc>
                <a:spcPct val="115000"/>
              </a:lnSpc>
              <a:spcAft>
                <a:spcPts val="300"/>
              </a:spcAft>
            </a:pPr>
            <a:endParaRPr sz="1200" b="1">
              <a:latin typeface="微软雅黑"/>
            </a:endParaRPr>
          </a:p>
          <a:p>
            <a:pPr>
              <a:lnSpc>
                <a:spcPct val="115000"/>
              </a:lnSpc>
              <a:spcAft>
                <a:spcPts val="300"/>
              </a:spcAft>
            </a:pPr>
            <a:r>
              <a:rPr sz="1100" b="0">
                <a:solidFill>
                  <a:srgbClr val="6B6F85"/>
                </a:solidFill>
                <a:latin typeface="微软雅黑"/>
              </a:rPr>
              <a:t>每回合 2,100 步（21 s）· 6 方法 × 5 种子</a:t>
            </a:r>
          </a:p>
        </p:txBody>
      </p:sp>
    </p:spTree>
    <p:extLst>
      <p:ext uri="{BB962C8B-B14F-4D97-AF65-F5344CB8AC3E}">
        <p14:creationId xmlns:p14="http://schemas.microsoft.com/office/powerpoint/2010/main" val="780059413"/>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23E5C8-266C-CDE6-ABCC-AB4F3DD58C42}"/>
            </a:ext>
          </a:extLst>
        </p:cNvPr>
        <p:cNvGrpSpPr/>
        <p:nvPr/>
      </p:nvGrpSpPr>
      <p:grpSpPr>
        <a:xfrm>
          <a:off x="0" y="0"/>
          <a:ext cx="0" cy="0"/>
          <a:chOff x="0" y="0"/>
          <a:chExt cx="0" cy="0"/>
        </a:xfrm>
      </p:grpSpPr>
      <p:sp>
        <p:nvSpPr>
          <p:cNvPr id="7" name="文本框 6">
            <a:extLst>
              <a:ext uri="{FF2B5EF4-FFF2-40B4-BE49-F238E27FC236}">
                <a16:creationId xmlns:a16="http://schemas.microsoft.com/office/drawing/2014/main" id="{C7193265-E5A3-867F-243C-FE42A86EE004}"/>
              </a:ext>
            </a:extLst>
          </p:cNvPr>
          <p:cNvSpPr txBox="1"/>
          <p:nvPr/>
        </p:nvSpPr>
        <p:spPr>
          <a:xfrm>
            <a:off x="10461848" y="299500"/>
            <a:ext cx="1197832" cy="369332"/>
          </a:xfrm>
          <a:prstGeom prst="rect">
            <a:avLst/>
          </a:prstGeom>
          <a:noFill/>
        </p:spPr>
        <p:txBody>
          <a:bodyPr wrap="square" rtlCol="0">
            <a:spAutoFit/>
          </a:bodyPr>
          <a:lstStyle/>
          <a:p>
            <a:pPr algn="ctr"/>
            <a:r>
              <a:rPr kumimoji="1" lang="zh-CN" altLang="en-US" b="1" spc="110" dirty="0">
                <a:solidFill>
                  <a:schemeClr val="bg1"/>
                </a:solidFill>
                <a:latin typeface="微软雅黑" panose="020B0503020204020204" pitchFamily="34" charset="-122"/>
                <a:ea typeface="微软雅黑" panose="020B0503020204020204" pitchFamily="34" charset="-122"/>
              </a:rPr>
              <a:t>读研展望</a:t>
            </a:r>
          </a:p>
        </p:txBody>
      </p:sp>
      <p:sp>
        <p:nvSpPr>
          <p:cNvPr id="9" name="文本框 8">
            <a:extLst>
              <a:ext uri="{FF2B5EF4-FFF2-40B4-BE49-F238E27FC236}">
                <a16:creationId xmlns:a16="http://schemas.microsoft.com/office/drawing/2014/main" id="{A9F67B59-03C3-C08C-9707-951F499C81E0}"/>
              </a:ext>
            </a:extLst>
          </p:cNvPr>
          <p:cNvSpPr txBox="1"/>
          <p:nvPr/>
        </p:nvSpPr>
        <p:spPr>
          <a:xfrm>
            <a:off x="2875146" y="179975"/>
            <a:ext cx="1336142" cy="369332"/>
          </a:xfrm>
          <a:prstGeom prst="rect">
            <a:avLst/>
          </a:prstGeom>
          <a:noFill/>
        </p:spPr>
        <p:txBody>
          <a:bodyPr wrap="square" rtlCol="0">
            <a:spAutoFit/>
          </a:bodyPr>
          <a:lstStyle/>
          <a:p>
            <a:pPr algn="ctr"/>
            <a:r>
              <a:rPr kumimoji="1" lang="zh-CN" altLang="en-US" b="1" spc="110" dirty="0">
                <a:solidFill>
                  <a:schemeClr val="bg1"/>
                </a:solidFill>
                <a:latin typeface="微软雅黑" panose="020B0503020204020204" pitchFamily="34" charset="-122"/>
                <a:ea typeface="微软雅黑" panose="020B0503020204020204" pitchFamily="34" charset="-122"/>
              </a:rPr>
              <a:t>个人简介</a:t>
            </a:r>
          </a:p>
        </p:txBody>
      </p:sp>
      <p:sp>
        <p:nvSpPr>
          <p:cNvPr id="15" name="椭圆 14">
            <a:extLst>
              <a:ext uri="{FF2B5EF4-FFF2-40B4-BE49-F238E27FC236}">
                <a16:creationId xmlns:a16="http://schemas.microsoft.com/office/drawing/2014/main" id="{D4FCC3E7-13C7-430C-F352-87AD3294D72C}"/>
              </a:ext>
            </a:extLst>
          </p:cNvPr>
          <p:cNvSpPr/>
          <p:nvPr/>
        </p:nvSpPr>
        <p:spPr>
          <a:xfrm>
            <a:off x="11750347" y="6411598"/>
            <a:ext cx="289344" cy="289344"/>
          </a:xfrm>
          <a:prstGeom prst="ellipse">
            <a:avLst/>
          </a:prstGeom>
          <a:solidFill>
            <a:schemeClr val="bg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CN" altLang="en-US">
              <a:solidFill>
                <a:schemeClr val="accent1"/>
              </a:solidFill>
            </a:endParaRPr>
          </a:p>
        </p:txBody>
      </p:sp>
      <p:sp>
        <p:nvSpPr>
          <p:cNvPr id="16" name="灯片编号占位符 18">
            <a:extLst>
              <a:ext uri="{FF2B5EF4-FFF2-40B4-BE49-F238E27FC236}">
                <a16:creationId xmlns:a16="http://schemas.microsoft.com/office/drawing/2014/main" id="{14AEE98B-386E-DC9E-FB6F-31DA48EF0EE6}"/>
              </a:ext>
            </a:extLst>
          </p:cNvPr>
          <p:cNvSpPr>
            <a:spLocks noGrp="1"/>
          </p:cNvSpPr>
          <p:nvPr>
            <p:ph type="sldNum" sz="quarter" idx="12"/>
          </p:nvPr>
        </p:nvSpPr>
        <p:spPr>
          <a:xfrm>
            <a:off x="11619554" y="6373707"/>
            <a:ext cx="550930" cy="365125"/>
          </a:xfrm>
        </p:spPr>
        <p:txBody>
          <a:bodyPr/>
          <a:lstStyle/>
          <a:p>
            <a:pPr algn="ctr"/>
            <a:fld id="{D290E156-FAFE-5144-A047-A692DE980B3A}" type="slidenum">
              <a:rPr kumimoji="1" lang="zh-CN" altLang="en-US" smtClean="0">
                <a:solidFill>
                  <a:schemeClr val="accent1"/>
                </a:solidFill>
                <a:latin typeface="Arial" panose="020B0604020202020204" pitchFamily="34" charset="0"/>
                <a:cs typeface="Arial" panose="020B0604020202020204" pitchFamily="34" charset="0"/>
              </a:rPr>
              <a:t>12</a:t>
            </a:fld>
            <a:endParaRPr kumimoji="1" lang="zh-CN" altLang="en-US" dirty="0">
              <a:solidFill>
                <a:schemeClr val="accent1"/>
              </a:solidFill>
              <a:latin typeface="Arial" panose="020B0604020202020204" pitchFamily="34" charset="0"/>
              <a:cs typeface="Arial" panose="020B0604020202020204" pitchFamily="34" charset="0"/>
            </a:endParaRPr>
          </a:p>
        </p:txBody>
      </p:sp>
      <p:sp>
        <p:nvSpPr>
          <p:cNvPr id="6" name="文本框 5">
            <a:extLst>
              <a:ext uri="{FF2B5EF4-FFF2-40B4-BE49-F238E27FC236}">
                <a16:creationId xmlns:a16="http://schemas.microsoft.com/office/drawing/2014/main" id="{0ED844EA-6E29-AB3F-3565-A421BD2EFFE3}"/>
              </a:ext>
            </a:extLst>
          </p:cNvPr>
          <p:cNvSpPr txBox="1"/>
          <p:nvPr/>
        </p:nvSpPr>
        <p:spPr>
          <a:xfrm>
            <a:off x="5032257" y="179975"/>
            <a:ext cx="1985202" cy="369332"/>
          </a:xfrm>
          <a:prstGeom prst="rect">
            <a:avLst/>
          </a:prstGeom>
          <a:noFill/>
        </p:spPr>
        <p:txBody>
          <a:bodyPr wrap="square" rtlCol="0">
            <a:spAutoFit/>
          </a:bodyPr>
          <a:lstStyle/>
          <a:p>
            <a:pPr algn="ctr"/>
            <a:r>
              <a:rPr kumimoji="1" lang="zh-CN" altLang="en-US" b="1" spc="110" dirty="0">
                <a:solidFill>
                  <a:schemeClr val="bg1"/>
                </a:solidFill>
                <a:latin typeface="微软雅黑" panose="020B0503020204020204" pitchFamily="34" charset="-122"/>
                <a:ea typeface="微软雅黑" panose="020B0503020204020204" pitchFamily="34" charset="-122"/>
              </a:rPr>
              <a:t>本科经历</a:t>
            </a:r>
          </a:p>
        </p:txBody>
      </p:sp>
      <p:sp>
        <p:nvSpPr>
          <p:cNvPr id="3" name="任意形状 2">
            <a:extLst>
              <a:ext uri="{FF2B5EF4-FFF2-40B4-BE49-F238E27FC236}">
                <a16:creationId xmlns:a16="http://schemas.microsoft.com/office/drawing/2014/main" id="{E2E0D9F7-30A1-A3A2-05D5-C71FBA8A6AC1}"/>
              </a:ext>
            </a:extLst>
          </p:cNvPr>
          <p:cNvSpPr/>
          <p:nvPr/>
        </p:nvSpPr>
        <p:spPr>
          <a:xfrm>
            <a:off x="0" y="0"/>
            <a:ext cx="9896847" cy="662946"/>
          </a:xfrm>
          <a:custGeom>
            <a:avLst/>
            <a:gdLst>
              <a:gd name="connsiteX0" fmla="*/ 0 w 8681972"/>
              <a:gd name="connsiteY0" fmla="*/ 0 h 689675"/>
              <a:gd name="connsiteX1" fmla="*/ 8681972 w 8681972"/>
              <a:gd name="connsiteY1" fmla="*/ 0 h 689675"/>
              <a:gd name="connsiteX2" fmla="*/ 8461124 w 8681972"/>
              <a:gd name="connsiteY2" fmla="*/ 344837 h 689675"/>
              <a:gd name="connsiteX3" fmla="*/ 8681972 w 8681972"/>
              <a:gd name="connsiteY3" fmla="*/ 689675 h 689675"/>
              <a:gd name="connsiteX4" fmla="*/ 0 w 8681972"/>
              <a:gd name="connsiteY4" fmla="*/ 689675 h 689675"/>
              <a:gd name="connsiteX5" fmla="*/ 0 w 8681972"/>
              <a:gd name="connsiteY5" fmla="*/ 0 h 6896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681972" h="689675">
                <a:moveTo>
                  <a:pt x="0" y="0"/>
                </a:moveTo>
                <a:lnTo>
                  <a:pt x="8681972" y="0"/>
                </a:lnTo>
                <a:lnTo>
                  <a:pt x="8461124" y="344837"/>
                </a:lnTo>
                <a:lnTo>
                  <a:pt x="8681972" y="689675"/>
                </a:lnTo>
                <a:lnTo>
                  <a:pt x="0" y="689675"/>
                </a:lnTo>
                <a:lnTo>
                  <a:pt x="0" y="0"/>
                </a:lnTo>
                <a:close/>
              </a:path>
            </a:pathLst>
          </a:custGeom>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zh-CN" altLang="en-US" sz="1600"/>
          </a:p>
        </p:txBody>
      </p:sp>
      <p:sp>
        <p:nvSpPr>
          <p:cNvPr id="14" name="文本框 13">
            <a:extLst>
              <a:ext uri="{FF2B5EF4-FFF2-40B4-BE49-F238E27FC236}">
                <a16:creationId xmlns:a16="http://schemas.microsoft.com/office/drawing/2014/main" id="{EC8885A3-2C1D-5253-37C2-798FEA16F8A1}"/>
              </a:ext>
            </a:extLst>
          </p:cNvPr>
          <p:cNvSpPr txBox="1"/>
          <p:nvPr/>
        </p:nvSpPr>
        <p:spPr>
          <a:xfrm>
            <a:off x="281981" y="79754"/>
            <a:ext cx="9335355" cy="523220"/>
          </a:xfrm>
          <a:prstGeom prst="rect">
            <a:avLst/>
          </a:prstGeom>
          <a:noFill/>
        </p:spPr>
        <p:txBody>
          <a:bodyPr wrap="square" rtlCol="0">
            <a:spAutoFit/>
          </a:bodyPr>
          <a:lstStyle>
            <a:defPPr>
              <a:defRPr lang="zh-CN"/>
            </a:defPPr>
            <a:lvl1pPr algn="ctr">
              <a:defRPr kumimoji="1" sz="4400" b="1" spc="300">
                <a:solidFill>
                  <a:schemeClr val="bg1"/>
                </a:solidFill>
                <a:latin typeface="微软雅黑" panose="020B0503020204020204" pitchFamily="34" charset="-122"/>
                <a:ea typeface="微软雅黑" panose="020B0503020204020204" pitchFamily="34" charset="-122"/>
              </a:defRPr>
            </a:lvl1pPr>
          </a:lstStyle>
          <a:p>
            <a:pPr algn="l"/>
            <a:r>
              <a:rPr lang="en-US" altLang="zh-CN" sz="1400" dirty="0"/>
              <a:t>Predictive Authority Control: Learning When and How Much to Trust Baseline Controllers for Robust Underwater Robot Tracking</a:t>
            </a:r>
            <a:endParaRPr lang="zh-CN" altLang="en-US" sz="1400" dirty="0"/>
          </a:p>
        </p:txBody>
      </p:sp>
      <p:pic>
        <p:nvPicPr>
          <p:cNvPr id="2" name="图片 1">
            <a:extLst>
              <a:ext uri="{FF2B5EF4-FFF2-40B4-BE49-F238E27FC236}">
                <a16:creationId xmlns:a16="http://schemas.microsoft.com/office/drawing/2014/main" id="{527934B5-34A6-5E3B-CCCA-3AAE1AB85CFC}"/>
              </a:ext>
            </a:extLst>
          </p:cNvPr>
          <p:cNvPicPr>
            <a:picLocks noChangeAspect="1"/>
          </p:cNvPicPr>
          <p:nvPr/>
        </p:nvPicPr>
        <p:blipFill>
          <a:blip r:embed="rId2"/>
          <a:stretch>
            <a:fillRect/>
          </a:stretch>
        </p:blipFill>
        <p:spPr>
          <a:xfrm>
            <a:off x="10121441" y="54734"/>
            <a:ext cx="1773578" cy="553478"/>
          </a:xfrm>
          <a:prstGeom prst="rect">
            <a:avLst/>
          </a:prstGeom>
        </p:spPr>
      </p:pic>
      <p:sp>
        <p:nvSpPr>
          <p:cNvPr id="20" name="文本框 19">
            <a:extLst>
              <a:ext uri="{FF2B5EF4-FFF2-40B4-BE49-F238E27FC236}">
                <a16:creationId xmlns:a16="http://schemas.microsoft.com/office/drawing/2014/main" id="{3E50773A-12FC-2570-9E26-39C1D1D73169}"/>
              </a:ext>
            </a:extLst>
          </p:cNvPr>
          <p:cNvSpPr txBox="1"/>
          <p:nvPr/>
        </p:nvSpPr>
        <p:spPr>
          <a:xfrm>
            <a:off x="0" y="738435"/>
            <a:ext cx="12501349" cy="338554"/>
          </a:xfrm>
          <a:prstGeom prst="rect">
            <a:avLst/>
          </a:prstGeom>
          <a:noFill/>
        </p:spPr>
        <p:txBody>
          <a:bodyPr wrap="square" rtlCol="0">
            <a:spAutoFit/>
          </a:bodyPr>
          <a:lstStyle/>
          <a:p>
            <a:pPr marL="342900" indent="-342900">
              <a:buSzPct val="85000"/>
              <a:buFont typeface="Wingdings" panose="05000000000000000000" pitchFamily="2" charset="2"/>
              <a:buChar char="n"/>
            </a:pPr>
            <a:r>
              <a:rPr kumimoji="1" lang="en-US" altLang="zh-CN" sz="1600" b="1" spc="300" dirty="0">
                <a:solidFill>
                  <a:schemeClr val="accent1"/>
                </a:solidFill>
                <a:latin typeface="微软雅黑" panose="020B0503020204020204" pitchFamily="34" charset="-122"/>
                <a:ea typeface="微软雅黑" panose="020B0503020204020204" pitchFamily="34" charset="-122"/>
              </a:rPr>
              <a:t>PAC</a:t>
            </a:r>
            <a:r>
              <a:rPr kumimoji="1" lang="zh-CN" altLang="en-US" sz="1600" b="1" spc="300" dirty="0">
                <a:solidFill>
                  <a:schemeClr val="accent1"/>
                </a:solidFill>
                <a:latin typeface="微软雅黑" panose="020B0503020204020204" pitchFamily="34" charset="-122"/>
                <a:ea typeface="微软雅黑" panose="020B0503020204020204" pitchFamily="34" charset="-122"/>
              </a:rPr>
              <a:t>：面向水下机器人鲁棒跟踪的基线控制器时序信任权重学习</a:t>
            </a:r>
          </a:p>
        </p:txBody>
      </p:sp>
      <p:cxnSp>
        <p:nvCxnSpPr>
          <p:cNvPr id="21" name="直线连接符 12">
            <a:extLst>
              <a:ext uri="{FF2B5EF4-FFF2-40B4-BE49-F238E27FC236}">
                <a16:creationId xmlns:a16="http://schemas.microsoft.com/office/drawing/2014/main" id="{E4572C0D-2B8C-3F30-8544-BE5AAF0AD952}"/>
              </a:ext>
            </a:extLst>
          </p:cNvPr>
          <p:cNvCxnSpPr/>
          <p:nvPr/>
        </p:nvCxnSpPr>
        <p:spPr>
          <a:xfrm>
            <a:off x="908" y="1167007"/>
            <a:ext cx="10978564" cy="0"/>
          </a:xfrm>
          <a:prstGeom prst="line">
            <a:avLst/>
          </a:prstGeom>
        </p:spPr>
        <p:style>
          <a:lnRef idx="1">
            <a:schemeClr val="accent1"/>
          </a:lnRef>
          <a:fillRef idx="0">
            <a:schemeClr val="accent1"/>
          </a:fillRef>
          <a:effectRef idx="0">
            <a:schemeClr val="accent1"/>
          </a:effectRef>
          <a:fontRef idx="minor">
            <a:schemeClr val="tx1"/>
          </a:fontRef>
        </p:style>
      </p:cxnSp>
      <p:sp>
        <p:nvSpPr>
          <p:cNvPr id="11" name="TextBox 10"/>
          <p:cNvSpPr txBox="1"/>
          <p:nvPr/>
        </p:nvSpPr>
        <p:spPr>
          <a:xfrm>
            <a:off x="274320" y="1234440"/>
            <a:ext cx="11612880" cy="457200"/>
          </a:xfrm>
          <a:prstGeom prst="rect">
            <a:avLst/>
          </a:prstGeom>
          <a:noFill/>
        </p:spPr>
        <p:txBody>
          <a:bodyPr wrap="square">
            <a:spAutoFit/>
          </a:bodyPr>
          <a:lstStyle/>
          <a:p>
            <a:pPr>
              <a:lnSpc>
                <a:spcPct val="115000"/>
              </a:lnSpc>
              <a:spcAft>
                <a:spcPts val="300"/>
              </a:spcAft>
            </a:pPr>
            <a:r>
              <a:rPr sz="1700" b="1">
                <a:solidFill>
                  <a:srgbClr val="514D83"/>
                </a:solidFill>
                <a:latin typeface="微软雅黑"/>
              </a:rPr>
              <a:t>执行器延迟+噪声（OOD）★ 核心场景</a:t>
            </a:r>
          </a:p>
        </p:txBody>
      </p:sp>
      <p:pic>
        <p:nvPicPr>
          <p:cNvPr id="12" name="Picture 11" descr="gallery_07_actuator_delay_noise_unseen.png"/>
          <p:cNvPicPr>
            <a:picLocks noChangeAspect="1"/>
          </p:cNvPicPr>
          <p:nvPr/>
        </p:nvPicPr>
        <p:blipFill>
          <a:blip r:embed="rId3"/>
          <a:stretch>
            <a:fillRect/>
          </a:stretch>
        </p:blipFill>
        <p:spPr>
          <a:xfrm>
            <a:off x="457200" y="1828800"/>
            <a:ext cx="3044687" cy="4572000"/>
          </a:xfrm>
          <a:prstGeom prst="rect">
            <a:avLst/>
          </a:prstGeom>
        </p:spPr>
      </p:pic>
      <p:sp>
        <p:nvSpPr>
          <p:cNvPr id="13" name="TextBox 12"/>
          <p:cNvSpPr txBox="1"/>
          <p:nvPr/>
        </p:nvSpPr>
        <p:spPr>
          <a:xfrm>
            <a:off x="5029200" y="2011680"/>
            <a:ext cx="6675120" cy="4754880"/>
          </a:xfrm>
          <a:prstGeom prst="rect">
            <a:avLst/>
          </a:prstGeom>
          <a:noFill/>
        </p:spPr>
        <p:txBody>
          <a:bodyPr wrap="square">
            <a:spAutoFit/>
          </a:bodyPr>
          <a:lstStyle/>
          <a:p>
            <a:pPr>
              <a:lnSpc>
                <a:spcPct val="115000"/>
              </a:lnSpc>
              <a:spcAft>
                <a:spcPts val="300"/>
              </a:spcAft>
            </a:pPr>
            <a:r>
              <a:rPr sz="1500" b="1">
                <a:solidFill>
                  <a:srgbClr val="514D83"/>
                </a:solidFill>
                <a:latin typeface="微软雅黑"/>
              </a:rPr>
              <a:t>参数范围与含义</a:t>
            </a:r>
          </a:p>
          <a:p>
            <a:pPr>
              <a:lnSpc>
                <a:spcPct val="115000"/>
              </a:lnSpc>
              <a:spcAft>
                <a:spcPts val="300"/>
              </a:spcAft>
            </a:pPr>
            <a:r>
              <a:rPr sz="1200" b="0">
                <a:latin typeface="微软雅黑"/>
              </a:rPr>
              <a:t>训练: delay∈[2,4] 步, noise∈[0,0.02]
测试: delay∈[6,10] 步, noise∈[0.04,0.08]
delay=推进器响应延迟（1步=10ms）| noise=加性噪声标准差</a:t>
            </a:r>
          </a:p>
          <a:p>
            <a:pPr>
              <a:lnSpc>
                <a:spcPct val="115000"/>
              </a:lnSpc>
              <a:spcAft>
                <a:spcPts val="300"/>
              </a:spcAft>
            </a:pPr>
            <a:endParaRPr sz="1200" b="0">
              <a:latin typeface="微软雅黑"/>
            </a:endParaRPr>
          </a:p>
          <a:p>
            <a:pPr>
              <a:lnSpc>
                <a:spcPct val="115000"/>
              </a:lnSpc>
              <a:spcAft>
                <a:spcPts val="300"/>
              </a:spcAft>
            </a:pPr>
            <a:r>
              <a:rPr sz="1500" b="1">
                <a:solidFill>
                  <a:srgbClr val="E8730C"/>
                </a:solidFill>
                <a:latin typeface="微软雅黑"/>
              </a:rPr>
              <a:t>物理意义</a:t>
            </a:r>
          </a:p>
          <a:p>
            <a:pPr>
              <a:lnSpc>
                <a:spcPct val="115000"/>
              </a:lnSpc>
              <a:spcAft>
                <a:spcPts val="300"/>
              </a:spcAft>
            </a:pPr>
            <a:r>
              <a:rPr sz="1200" b="0">
                <a:latin typeface="微软雅黑"/>
              </a:rPr>
              <a:t>MPC 因模型失配持续输出发散指令（0.822 m）
残差策略将误差约束至 0.090 m（−89%）</a:t>
            </a:r>
          </a:p>
          <a:p>
            <a:pPr>
              <a:lnSpc>
                <a:spcPct val="115000"/>
              </a:lnSpc>
              <a:spcAft>
                <a:spcPts val="300"/>
              </a:spcAft>
            </a:pPr>
            <a:endParaRPr sz="1200" b="0">
              <a:latin typeface="微软雅黑"/>
            </a:endParaRPr>
          </a:p>
          <a:p>
            <a:pPr>
              <a:lnSpc>
                <a:spcPct val="115000"/>
              </a:lnSpc>
              <a:spcAft>
                <a:spcPts val="300"/>
              </a:spcAft>
            </a:pPr>
            <a:r>
              <a:rPr sz="1500" b="1">
                <a:solidFill>
                  <a:srgbClr val="3F7E72"/>
                </a:solidFill>
                <a:latin typeface="微软雅黑"/>
              </a:rPr>
              <a:t>结果</a:t>
            </a:r>
          </a:p>
          <a:p>
            <a:pPr>
              <a:lnSpc>
                <a:spcPct val="115000"/>
              </a:lnSpc>
              <a:spcAft>
                <a:spcPts val="300"/>
              </a:spcAft>
            </a:pPr>
            <a:r>
              <a:rPr sz="1200" b="1">
                <a:latin typeface="微软雅黑"/>
              </a:rPr>
              <a:t>监督策略 α 振荡至 0.9+；残差策略稳定于 [0.4,0.6]</a:t>
            </a:r>
          </a:p>
          <a:p>
            <a:pPr>
              <a:lnSpc>
                <a:spcPct val="115000"/>
              </a:lnSpc>
              <a:spcAft>
                <a:spcPts val="300"/>
              </a:spcAft>
            </a:pPr>
            <a:endParaRPr sz="1200" b="1">
              <a:latin typeface="微软雅黑"/>
            </a:endParaRPr>
          </a:p>
          <a:p>
            <a:pPr>
              <a:lnSpc>
                <a:spcPct val="115000"/>
              </a:lnSpc>
              <a:spcAft>
                <a:spcPts val="300"/>
              </a:spcAft>
            </a:pPr>
            <a:r>
              <a:rPr sz="1100" b="0">
                <a:solidFill>
                  <a:srgbClr val="6B6F85"/>
                </a:solidFill>
                <a:latin typeface="微软雅黑"/>
              </a:rPr>
              <a:t>每回合 2,100 步（21 s）· 6 方法 × 5 种子</a:t>
            </a:r>
          </a:p>
        </p:txBody>
      </p:sp>
    </p:spTree>
    <p:extLst>
      <p:ext uri="{BB962C8B-B14F-4D97-AF65-F5344CB8AC3E}">
        <p14:creationId xmlns:p14="http://schemas.microsoft.com/office/powerpoint/2010/main" val="3700604973"/>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6D2D31-39F1-46B2-06A7-38FAB9FBE161}"/>
            </a:ext>
          </a:extLst>
        </p:cNvPr>
        <p:cNvGrpSpPr/>
        <p:nvPr/>
      </p:nvGrpSpPr>
      <p:grpSpPr>
        <a:xfrm>
          <a:off x="0" y="0"/>
          <a:ext cx="0" cy="0"/>
          <a:chOff x="0" y="0"/>
          <a:chExt cx="0" cy="0"/>
        </a:xfrm>
      </p:grpSpPr>
      <p:sp>
        <p:nvSpPr>
          <p:cNvPr id="7" name="文本框 6">
            <a:extLst>
              <a:ext uri="{FF2B5EF4-FFF2-40B4-BE49-F238E27FC236}">
                <a16:creationId xmlns:a16="http://schemas.microsoft.com/office/drawing/2014/main" id="{6387CCE4-BA37-D572-E28E-96B498002276}"/>
              </a:ext>
            </a:extLst>
          </p:cNvPr>
          <p:cNvSpPr txBox="1"/>
          <p:nvPr/>
        </p:nvSpPr>
        <p:spPr>
          <a:xfrm>
            <a:off x="10461848" y="299500"/>
            <a:ext cx="1197832" cy="369332"/>
          </a:xfrm>
          <a:prstGeom prst="rect">
            <a:avLst/>
          </a:prstGeom>
          <a:noFill/>
        </p:spPr>
        <p:txBody>
          <a:bodyPr wrap="square" rtlCol="0">
            <a:spAutoFit/>
          </a:bodyPr>
          <a:lstStyle/>
          <a:p>
            <a:pPr algn="ctr"/>
            <a:r>
              <a:rPr kumimoji="1" lang="zh-CN" altLang="en-US" b="1" spc="110" dirty="0">
                <a:solidFill>
                  <a:schemeClr val="bg1"/>
                </a:solidFill>
                <a:latin typeface="微软雅黑" panose="020B0503020204020204" pitchFamily="34" charset="-122"/>
                <a:ea typeface="微软雅黑" panose="020B0503020204020204" pitchFamily="34" charset="-122"/>
              </a:rPr>
              <a:t>读研展望</a:t>
            </a:r>
          </a:p>
        </p:txBody>
      </p:sp>
      <p:sp>
        <p:nvSpPr>
          <p:cNvPr id="9" name="文本框 8">
            <a:extLst>
              <a:ext uri="{FF2B5EF4-FFF2-40B4-BE49-F238E27FC236}">
                <a16:creationId xmlns:a16="http://schemas.microsoft.com/office/drawing/2014/main" id="{D9CB865F-0A73-4BB6-152B-38EC4215CF95}"/>
              </a:ext>
            </a:extLst>
          </p:cNvPr>
          <p:cNvSpPr txBox="1"/>
          <p:nvPr/>
        </p:nvSpPr>
        <p:spPr>
          <a:xfrm>
            <a:off x="2875146" y="179975"/>
            <a:ext cx="1336142" cy="369332"/>
          </a:xfrm>
          <a:prstGeom prst="rect">
            <a:avLst/>
          </a:prstGeom>
          <a:noFill/>
        </p:spPr>
        <p:txBody>
          <a:bodyPr wrap="square" rtlCol="0">
            <a:spAutoFit/>
          </a:bodyPr>
          <a:lstStyle/>
          <a:p>
            <a:pPr algn="ctr"/>
            <a:r>
              <a:rPr kumimoji="1" lang="zh-CN" altLang="en-US" b="1" spc="110" dirty="0">
                <a:solidFill>
                  <a:schemeClr val="bg1"/>
                </a:solidFill>
                <a:latin typeface="微软雅黑" panose="020B0503020204020204" pitchFamily="34" charset="-122"/>
                <a:ea typeface="微软雅黑" panose="020B0503020204020204" pitchFamily="34" charset="-122"/>
              </a:rPr>
              <a:t>个人简介</a:t>
            </a:r>
          </a:p>
        </p:txBody>
      </p:sp>
      <p:sp>
        <p:nvSpPr>
          <p:cNvPr id="15" name="椭圆 14">
            <a:extLst>
              <a:ext uri="{FF2B5EF4-FFF2-40B4-BE49-F238E27FC236}">
                <a16:creationId xmlns:a16="http://schemas.microsoft.com/office/drawing/2014/main" id="{280F391C-C90F-83CD-BB9D-6EC58F65391F}"/>
              </a:ext>
            </a:extLst>
          </p:cNvPr>
          <p:cNvSpPr/>
          <p:nvPr/>
        </p:nvSpPr>
        <p:spPr>
          <a:xfrm>
            <a:off x="11750347" y="6411598"/>
            <a:ext cx="289344" cy="289344"/>
          </a:xfrm>
          <a:prstGeom prst="ellipse">
            <a:avLst/>
          </a:prstGeom>
          <a:solidFill>
            <a:schemeClr val="bg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CN" altLang="en-US">
              <a:solidFill>
                <a:schemeClr val="accent1"/>
              </a:solidFill>
            </a:endParaRPr>
          </a:p>
        </p:txBody>
      </p:sp>
      <p:sp>
        <p:nvSpPr>
          <p:cNvPr id="16" name="灯片编号占位符 18">
            <a:extLst>
              <a:ext uri="{FF2B5EF4-FFF2-40B4-BE49-F238E27FC236}">
                <a16:creationId xmlns:a16="http://schemas.microsoft.com/office/drawing/2014/main" id="{13413194-580A-E3B1-4930-6CCEF93F1332}"/>
              </a:ext>
            </a:extLst>
          </p:cNvPr>
          <p:cNvSpPr>
            <a:spLocks noGrp="1"/>
          </p:cNvSpPr>
          <p:nvPr>
            <p:ph type="sldNum" sz="quarter" idx="12"/>
          </p:nvPr>
        </p:nvSpPr>
        <p:spPr>
          <a:xfrm>
            <a:off x="11619554" y="6373707"/>
            <a:ext cx="550930" cy="365125"/>
          </a:xfrm>
        </p:spPr>
        <p:txBody>
          <a:bodyPr/>
          <a:lstStyle/>
          <a:p>
            <a:pPr algn="ctr"/>
            <a:fld id="{D290E156-FAFE-5144-A047-A692DE980B3A}" type="slidenum">
              <a:rPr kumimoji="1" lang="zh-CN" altLang="en-US" smtClean="0">
                <a:solidFill>
                  <a:schemeClr val="accent1"/>
                </a:solidFill>
                <a:latin typeface="Arial" panose="020B0604020202020204" pitchFamily="34" charset="0"/>
                <a:cs typeface="Arial" panose="020B0604020202020204" pitchFamily="34" charset="0"/>
              </a:rPr>
              <a:t>13</a:t>
            </a:fld>
            <a:endParaRPr kumimoji="1" lang="zh-CN" altLang="en-US" dirty="0">
              <a:solidFill>
                <a:schemeClr val="accent1"/>
              </a:solidFill>
              <a:latin typeface="Arial" panose="020B0604020202020204" pitchFamily="34" charset="0"/>
              <a:cs typeface="Arial" panose="020B0604020202020204" pitchFamily="34" charset="0"/>
            </a:endParaRPr>
          </a:p>
        </p:txBody>
      </p:sp>
      <p:sp>
        <p:nvSpPr>
          <p:cNvPr id="6" name="文本框 5">
            <a:extLst>
              <a:ext uri="{FF2B5EF4-FFF2-40B4-BE49-F238E27FC236}">
                <a16:creationId xmlns:a16="http://schemas.microsoft.com/office/drawing/2014/main" id="{C88B3E8D-7FD2-31F8-CC57-50FE89F93017}"/>
              </a:ext>
            </a:extLst>
          </p:cNvPr>
          <p:cNvSpPr txBox="1"/>
          <p:nvPr/>
        </p:nvSpPr>
        <p:spPr>
          <a:xfrm>
            <a:off x="5032257" y="179975"/>
            <a:ext cx="1985202" cy="369332"/>
          </a:xfrm>
          <a:prstGeom prst="rect">
            <a:avLst/>
          </a:prstGeom>
          <a:noFill/>
        </p:spPr>
        <p:txBody>
          <a:bodyPr wrap="square" rtlCol="0">
            <a:spAutoFit/>
          </a:bodyPr>
          <a:lstStyle/>
          <a:p>
            <a:pPr algn="ctr"/>
            <a:r>
              <a:rPr kumimoji="1" lang="zh-CN" altLang="en-US" b="1" spc="110" dirty="0">
                <a:solidFill>
                  <a:schemeClr val="bg1"/>
                </a:solidFill>
                <a:latin typeface="微软雅黑" panose="020B0503020204020204" pitchFamily="34" charset="-122"/>
                <a:ea typeface="微软雅黑" panose="020B0503020204020204" pitchFamily="34" charset="-122"/>
              </a:rPr>
              <a:t>本科经历</a:t>
            </a:r>
          </a:p>
        </p:txBody>
      </p:sp>
      <p:sp>
        <p:nvSpPr>
          <p:cNvPr id="3" name="任意形状 2">
            <a:extLst>
              <a:ext uri="{FF2B5EF4-FFF2-40B4-BE49-F238E27FC236}">
                <a16:creationId xmlns:a16="http://schemas.microsoft.com/office/drawing/2014/main" id="{A788A626-A508-A335-DA00-8B2060EFD7AE}"/>
              </a:ext>
            </a:extLst>
          </p:cNvPr>
          <p:cNvSpPr/>
          <p:nvPr/>
        </p:nvSpPr>
        <p:spPr>
          <a:xfrm>
            <a:off x="0" y="0"/>
            <a:ext cx="9896847" cy="662946"/>
          </a:xfrm>
          <a:custGeom>
            <a:avLst/>
            <a:gdLst>
              <a:gd name="connsiteX0" fmla="*/ 0 w 8681972"/>
              <a:gd name="connsiteY0" fmla="*/ 0 h 689675"/>
              <a:gd name="connsiteX1" fmla="*/ 8681972 w 8681972"/>
              <a:gd name="connsiteY1" fmla="*/ 0 h 689675"/>
              <a:gd name="connsiteX2" fmla="*/ 8461124 w 8681972"/>
              <a:gd name="connsiteY2" fmla="*/ 344837 h 689675"/>
              <a:gd name="connsiteX3" fmla="*/ 8681972 w 8681972"/>
              <a:gd name="connsiteY3" fmla="*/ 689675 h 689675"/>
              <a:gd name="connsiteX4" fmla="*/ 0 w 8681972"/>
              <a:gd name="connsiteY4" fmla="*/ 689675 h 689675"/>
              <a:gd name="connsiteX5" fmla="*/ 0 w 8681972"/>
              <a:gd name="connsiteY5" fmla="*/ 0 h 6896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681972" h="689675">
                <a:moveTo>
                  <a:pt x="0" y="0"/>
                </a:moveTo>
                <a:lnTo>
                  <a:pt x="8681972" y="0"/>
                </a:lnTo>
                <a:lnTo>
                  <a:pt x="8461124" y="344837"/>
                </a:lnTo>
                <a:lnTo>
                  <a:pt x="8681972" y="689675"/>
                </a:lnTo>
                <a:lnTo>
                  <a:pt x="0" y="689675"/>
                </a:lnTo>
                <a:lnTo>
                  <a:pt x="0" y="0"/>
                </a:lnTo>
                <a:close/>
              </a:path>
            </a:pathLst>
          </a:custGeom>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zh-CN" altLang="en-US" sz="1600"/>
          </a:p>
        </p:txBody>
      </p:sp>
      <p:sp>
        <p:nvSpPr>
          <p:cNvPr id="14" name="文本框 13">
            <a:extLst>
              <a:ext uri="{FF2B5EF4-FFF2-40B4-BE49-F238E27FC236}">
                <a16:creationId xmlns:a16="http://schemas.microsoft.com/office/drawing/2014/main" id="{439273E3-B852-570F-D216-62EB8156CA2B}"/>
              </a:ext>
            </a:extLst>
          </p:cNvPr>
          <p:cNvSpPr txBox="1"/>
          <p:nvPr/>
        </p:nvSpPr>
        <p:spPr>
          <a:xfrm>
            <a:off x="281981" y="79754"/>
            <a:ext cx="9335355" cy="523220"/>
          </a:xfrm>
          <a:prstGeom prst="rect">
            <a:avLst/>
          </a:prstGeom>
          <a:noFill/>
        </p:spPr>
        <p:txBody>
          <a:bodyPr wrap="square" rtlCol="0">
            <a:spAutoFit/>
          </a:bodyPr>
          <a:lstStyle>
            <a:defPPr>
              <a:defRPr lang="zh-CN"/>
            </a:defPPr>
            <a:lvl1pPr algn="ctr">
              <a:defRPr kumimoji="1" sz="4400" b="1" spc="300">
                <a:solidFill>
                  <a:schemeClr val="bg1"/>
                </a:solidFill>
                <a:latin typeface="微软雅黑" panose="020B0503020204020204" pitchFamily="34" charset="-122"/>
                <a:ea typeface="微软雅黑" panose="020B0503020204020204" pitchFamily="34" charset="-122"/>
              </a:defRPr>
            </a:lvl1pPr>
          </a:lstStyle>
          <a:p>
            <a:pPr algn="l"/>
            <a:r>
              <a:rPr lang="en-US" altLang="zh-CN" sz="1400" dirty="0"/>
              <a:t>Predictive Authority Control: Learning When and How Much to Trust Baseline Controllers for Robust Underwater Robot Tracking</a:t>
            </a:r>
            <a:endParaRPr lang="zh-CN" altLang="en-US" sz="1400" dirty="0"/>
          </a:p>
        </p:txBody>
      </p:sp>
      <p:pic>
        <p:nvPicPr>
          <p:cNvPr id="2" name="图片 1">
            <a:extLst>
              <a:ext uri="{FF2B5EF4-FFF2-40B4-BE49-F238E27FC236}">
                <a16:creationId xmlns:a16="http://schemas.microsoft.com/office/drawing/2014/main" id="{E73D9C88-510E-ADA7-E13B-1CC74D684B68}"/>
              </a:ext>
            </a:extLst>
          </p:cNvPr>
          <p:cNvPicPr>
            <a:picLocks noChangeAspect="1"/>
          </p:cNvPicPr>
          <p:nvPr/>
        </p:nvPicPr>
        <p:blipFill>
          <a:blip r:embed="rId2"/>
          <a:stretch>
            <a:fillRect/>
          </a:stretch>
        </p:blipFill>
        <p:spPr>
          <a:xfrm>
            <a:off x="10121441" y="54734"/>
            <a:ext cx="1773578" cy="553478"/>
          </a:xfrm>
          <a:prstGeom prst="rect">
            <a:avLst/>
          </a:prstGeom>
        </p:spPr>
      </p:pic>
      <p:sp>
        <p:nvSpPr>
          <p:cNvPr id="20" name="文本框 19">
            <a:extLst>
              <a:ext uri="{FF2B5EF4-FFF2-40B4-BE49-F238E27FC236}">
                <a16:creationId xmlns:a16="http://schemas.microsoft.com/office/drawing/2014/main" id="{DD2DE34A-B66D-F01D-BF41-E05725B1C916}"/>
              </a:ext>
            </a:extLst>
          </p:cNvPr>
          <p:cNvSpPr txBox="1"/>
          <p:nvPr/>
        </p:nvSpPr>
        <p:spPr>
          <a:xfrm>
            <a:off x="0" y="738435"/>
            <a:ext cx="12501349" cy="338554"/>
          </a:xfrm>
          <a:prstGeom prst="rect">
            <a:avLst/>
          </a:prstGeom>
          <a:noFill/>
        </p:spPr>
        <p:txBody>
          <a:bodyPr wrap="square" rtlCol="0">
            <a:spAutoFit/>
          </a:bodyPr>
          <a:lstStyle/>
          <a:p>
            <a:pPr marL="342900" indent="-342900">
              <a:buSzPct val="85000"/>
              <a:buFont typeface="Wingdings" panose="05000000000000000000" pitchFamily="2" charset="2"/>
              <a:buChar char="n"/>
            </a:pPr>
            <a:r>
              <a:rPr kumimoji="1" lang="en-US" altLang="zh-CN" sz="1600" b="1" spc="300" dirty="0">
                <a:solidFill>
                  <a:schemeClr val="accent1"/>
                </a:solidFill>
                <a:latin typeface="微软雅黑" panose="020B0503020204020204" pitchFamily="34" charset="-122"/>
                <a:ea typeface="微软雅黑" panose="020B0503020204020204" pitchFamily="34" charset="-122"/>
              </a:rPr>
              <a:t>PAC</a:t>
            </a:r>
            <a:r>
              <a:rPr kumimoji="1" lang="zh-CN" altLang="en-US" sz="1600" b="1" spc="300" dirty="0">
                <a:solidFill>
                  <a:schemeClr val="accent1"/>
                </a:solidFill>
                <a:latin typeface="微软雅黑" panose="020B0503020204020204" pitchFamily="34" charset="-122"/>
                <a:ea typeface="微软雅黑" panose="020B0503020204020204" pitchFamily="34" charset="-122"/>
              </a:rPr>
              <a:t>：面向水下机器人鲁棒跟踪的基线控制器时序信任权重学习</a:t>
            </a:r>
          </a:p>
        </p:txBody>
      </p:sp>
      <p:cxnSp>
        <p:nvCxnSpPr>
          <p:cNvPr id="21" name="直线连接符 12">
            <a:extLst>
              <a:ext uri="{FF2B5EF4-FFF2-40B4-BE49-F238E27FC236}">
                <a16:creationId xmlns:a16="http://schemas.microsoft.com/office/drawing/2014/main" id="{3C391313-57E8-7573-3114-1A193948D13C}"/>
              </a:ext>
            </a:extLst>
          </p:cNvPr>
          <p:cNvCxnSpPr/>
          <p:nvPr/>
        </p:nvCxnSpPr>
        <p:spPr>
          <a:xfrm>
            <a:off x="908" y="1167007"/>
            <a:ext cx="10978564" cy="0"/>
          </a:xfrm>
          <a:prstGeom prst="line">
            <a:avLst/>
          </a:prstGeom>
        </p:spPr>
        <p:style>
          <a:lnRef idx="1">
            <a:schemeClr val="accent1"/>
          </a:lnRef>
          <a:fillRef idx="0">
            <a:schemeClr val="accent1"/>
          </a:fillRef>
          <a:effectRef idx="0">
            <a:schemeClr val="accent1"/>
          </a:effectRef>
          <a:fontRef idx="minor">
            <a:schemeClr val="tx1"/>
          </a:fontRef>
        </p:style>
      </p:cxnSp>
      <p:sp>
        <p:nvSpPr>
          <p:cNvPr id="4" name="TextBox 10"/>
          <p:cNvSpPr txBox="1"/>
          <p:nvPr/>
        </p:nvSpPr>
        <p:spPr>
          <a:xfrm>
            <a:off x="274320" y="1234440"/>
            <a:ext cx="11612880" cy="457200"/>
          </a:xfrm>
          <a:prstGeom prst="rect">
            <a:avLst/>
          </a:prstGeom>
          <a:noFill/>
        </p:spPr>
        <p:txBody>
          <a:bodyPr wrap="square">
            <a:spAutoFit/>
          </a:bodyPr>
          <a:lstStyle/>
          <a:p>
            <a:pPr>
              <a:lnSpc>
                <a:spcPct val="115000"/>
              </a:lnSpc>
              <a:spcAft>
                <a:spcPts val="300"/>
              </a:spcAft>
            </a:pPr>
            <a:r>
              <a:rPr sz="1700" b="1">
                <a:solidFill>
                  <a:srgbClr val="514D83"/>
                </a:solidFill>
                <a:latin typeface="微软雅黑"/>
              </a:rPr>
              <a:t>快变 OU 海流（OOD）</a:t>
            </a:r>
          </a:p>
        </p:txBody>
      </p:sp>
      <p:pic>
        <p:nvPicPr>
          <p:cNvPr id="5" name="Picture 11" descr="gallery_08_fast_ou_unseen.png"/>
          <p:cNvPicPr>
            <a:picLocks noChangeAspect="1"/>
          </p:cNvPicPr>
          <p:nvPr/>
        </p:nvPicPr>
        <p:blipFill>
          <a:blip r:embed="rId3"/>
          <a:stretch>
            <a:fillRect/>
          </a:stretch>
        </p:blipFill>
        <p:spPr>
          <a:xfrm>
            <a:off x="457200" y="1828800"/>
            <a:ext cx="3044687" cy="4572000"/>
          </a:xfrm>
          <a:prstGeom prst="rect">
            <a:avLst/>
          </a:prstGeom>
        </p:spPr>
      </p:pic>
      <p:sp>
        <p:nvSpPr>
          <p:cNvPr id="8" name="TextBox 12"/>
          <p:cNvSpPr txBox="1"/>
          <p:nvPr/>
        </p:nvSpPr>
        <p:spPr>
          <a:xfrm>
            <a:off x="5029200" y="2011680"/>
            <a:ext cx="6675120" cy="4754880"/>
          </a:xfrm>
          <a:prstGeom prst="rect">
            <a:avLst/>
          </a:prstGeom>
          <a:noFill/>
        </p:spPr>
        <p:txBody>
          <a:bodyPr wrap="square">
            <a:spAutoFit/>
          </a:bodyPr>
          <a:lstStyle/>
          <a:p>
            <a:pPr>
              <a:lnSpc>
                <a:spcPct val="115000"/>
              </a:lnSpc>
              <a:spcAft>
                <a:spcPts val="300"/>
              </a:spcAft>
            </a:pPr>
            <a:r>
              <a:rPr sz="1500" b="1">
                <a:solidFill>
                  <a:srgbClr val="514D83"/>
                </a:solidFill>
                <a:latin typeface="微软雅黑"/>
              </a:rPr>
              <a:t>参数范围与含义</a:t>
            </a:r>
          </a:p>
          <a:p>
            <a:pPr>
              <a:lnSpc>
                <a:spcPct val="115000"/>
              </a:lnSpc>
              <a:spcAft>
                <a:spcPts val="300"/>
              </a:spcAft>
            </a:pPr>
            <a:r>
              <a:rPr sz="1200" b="0">
                <a:latin typeface="微软雅黑"/>
              </a:rPr>
              <a:t>仅评估（无训练对应）:
θ∈[3.0,6.0] rad/s, σ∈[0.30,0.50]
θ 远超全部训练族（最快训练值 θ=1.0）</a:t>
            </a:r>
          </a:p>
          <a:p>
            <a:pPr>
              <a:lnSpc>
                <a:spcPct val="115000"/>
              </a:lnSpc>
              <a:spcAft>
                <a:spcPts val="300"/>
              </a:spcAft>
            </a:pPr>
            <a:endParaRPr sz="1200" b="0">
              <a:latin typeface="微软雅黑"/>
            </a:endParaRPr>
          </a:p>
          <a:p>
            <a:pPr>
              <a:lnSpc>
                <a:spcPct val="115000"/>
              </a:lnSpc>
              <a:spcAft>
                <a:spcPts val="300"/>
              </a:spcAft>
            </a:pPr>
            <a:r>
              <a:rPr sz="1500" b="1">
                <a:solidFill>
                  <a:srgbClr val="E8730C"/>
                </a:solidFill>
                <a:latin typeface="微软雅黑"/>
              </a:rPr>
              <a:t>物理意义</a:t>
            </a:r>
          </a:p>
          <a:p>
            <a:pPr>
              <a:lnSpc>
                <a:spcPct val="115000"/>
              </a:lnSpc>
              <a:spcAft>
                <a:spcPts val="300"/>
              </a:spcAft>
            </a:pPr>
            <a:r>
              <a:rPr sz="1200" b="0">
                <a:latin typeface="微软雅黑"/>
              </a:rPr>
              <a:t>时间尺度为最快训练族的 3–6 倍</a:t>
            </a:r>
          </a:p>
          <a:p>
            <a:pPr>
              <a:lnSpc>
                <a:spcPct val="115000"/>
              </a:lnSpc>
              <a:spcAft>
                <a:spcPts val="300"/>
              </a:spcAft>
            </a:pPr>
            <a:endParaRPr sz="1200" b="0">
              <a:latin typeface="微软雅黑"/>
            </a:endParaRPr>
          </a:p>
          <a:p>
            <a:pPr>
              <a:lnSpc>
                <a:spcPct val="115000"/>
              </a:lnSpc>
              <a:spcAft>
                <a:spcPts val="300"/>
              </a:spcAft>
            </a:pPr>
            <a:r>
              <a:rPr sz="1500" b="1">
                <a:solidFill>
                  <a:srgbClr val="3F7E72"/>
                </a:solidFill>
                <a:latin typeface="微软雅黑"/>
              </a:rPr>
              <a:t>结果</a:t>
            </a:r>
          </a:p>
          <a:p>
            <a:pPr>
              <a:lnSpc>
                <a:spcPct val="115000"/>
              </a:lnSpc>
              <a:spcAft>
                <a:spcPts val="300"/>
              </a:spcAft>
            </a:pPr>
            <a:r>
              <a:rPr sz="1200" b="1">
                <a:latin typeface="微软雅黑"/>
              </a:rPr>
              <a:t>极端外推场景，检验最远泛化边界</a:t>
            </a:r>
          </a:p>
          <a:p>
            <a:pPr>
              <a:lnSpc>
                <a:spcPct val="115000"/>
              </a:lnSpc>
              <a:spcAft>
                <a:spcPts val="300"/>
              </a:spcAft>
            </a:pPr>
            <a:endParaRPr sz="1200" b="1">
              <a:latin typeface="微软雅黑"/>
            </a:endParaRPr>
          </a:p>
          <a:p>
            <a:pPr>
              <a:lnSpc>
                <a:spcPct val="115000"/>
              </a:lnSpc>
              <a:spcAft>
                <a:spcPts val="300"/>
              </a:spcAft>
            </a:pPr>
            <a:r>
              <a:rPr sz="1100" b="0">
                <a:solidFill>
                  <a:srgbClr val="6B6F85"/>
                </a:solidFill>
                <a:latin typeface="微软雅黑"/>
              </a:rPr>
              <a:t>每回合 2,100 步（21 s）· 6 方法 × 5 种子</a:t>
            </a:r>
          </a:p>
        </p:txBody>
      </p:sp>
    </p:spTree>
    <p:extLst>
      <p:ext uri="{BB962C8B-B14F-4D97-AF65-F5344CB8AC3E}">
        <p14:creationId xmlns:p14="http://schemas.microsoft.com/office/powerpoint/2010/main" val="3277773025"/>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804438-BE05-B127-3FB7-C92A23B6F7DA}"/>
            </a:ext>
          </a:extLst>
        </p:cNvPr>
        <p:cNvGrpSpPr/>
        <p:nvPr/>
      </p:nvGrpSpPr>
      <p:grpSpPr>
        <a:xfrm>
          <a:off x="0" y="0"/>
          <a:ext cx="0" cy="0"/>
          <a:chOff x="0" y="0"/>
          <a:chExt cx="0" cy="0"/>
        </a:xfrm>
      </p:grpSpPr>
      <p:sp>
        <p:nvSpPr>
          <p:cNvPr id="7" name="文本框 6">
            <a:extLst>
              <a:ext uri="{FF2B5EF4-FFF2-40B4-BE49-F238E27FC236}">
                <a16:creationId xmlns:a16="http://schemas.microsoft.com/office/drawing/2014/main" id="{5633E35F-7ADE-9B2C-9639-E8C6284076D4}"/>
              </a:ext>
            </a:extLst>
          </p:cNvPr>
          <p:cNvSpPr txBox="1"/>
          <p:nvPr/>
        </p:nvSpPr>
        <p:spPr>
          <a:xfrm>
            <a:off x="10461848" y="299500"/>
            <a:ext cx="1197832" cy="369332"/>
          </a:xfrm>
          <a:prstGeom prst="rect">
            <a:avLst/>
          </a:prstGeom>
          <a:noFill/>
        </p:spPr>
        <p:txBody>
          <a:bodyPr wrap="square" rtlCol="0">
            <a:spAutoFit/>
          </a:bodyPr>
          <a:lstStyle/>
          <a:p>
            <a:pPr algn="ctr"/>
            <a:r>
              <a:rPr kumimoji="1" lang="zh-CN" altLang="en-US" b="1" spc="110" dirty="0">
                <a:solidFill>
                  <a:schemeClr val="bg1"/>
                </a:solidFill>
                <a:latin typeface="微软雅黑" panose="020B0503020204020204" pitchFamily="34" charset="-122"/>
                <a:ea typeface="微软雅黑" panose="020B0503020204020204" pitchFamily="34" charset="-122"/>
              </a:rPr>
              <a:t>读研展望</a:t>
            </a:r>
          </a:p>
        </p:txBody>
      </p:sp>
      <p:sp>
        <p:nvSpPr>
          <p:cNvPr id="9" name="文本框 8">
            <a:extLst>
              <a:ext uri="{FF2B5EF4-FFF2-40B4-BE49-F238E27FC236}">
                <a16:creationId xmlns:a16="http://schemas.microsoft.com/office/drawing/2014/main" id="{94F6AC38-CE6A-C484-3B6A-20073327B134}"/>
              </a:ext>
            </a:extLst>
          </p:cNvPr>
          <p:cNvSpPr txBox="1"/>
          <p:nvPr/>
        </p:nvSpPr>
        <p:spPr>
          <a:xfrm>
            <a:off x="2875146" y="179975"/>
            <a:ext cx="1336142" cy="369332"/>
          </a:xfrm>
          <a:prstGeom prst="rect">
            <a:avLst/>
          </a:prstGeom>
          <a:noFill/>
        </p:spPr>
        <p:txBody>
          <a:bodyPr wrap="square" rtlCol="0">
            <a:spAutoFit/>
          </a:bodyPr>
          <a:lstStyle/>
          <a:p>
            <a:pPr algn="ctr"/>
            <a:r>
              <a:rPr kumimoji="1" lang="zh-CN" altLang="en-US" b="1" spc="110" dirty="0">
                <a:solidFill>
                  <a:schemeClr val="bg1"/>
                </a:solidFill>
                <a:latin typeface="微软雅黑" panose="020B0503020204020204" pitchFamily="34" charset="-122"/>
                <a:ea typeface="微软雅黑" panose="020B0503020204020204" pitchFamily="34" charset="-122"/>
              </a:rPr>
              <a:t>个人简介</a:t>
            </a:r>
          </a:p>
        </p:txBody>
      </p:sp>
      <p:sp>
        <p:nvSpPr>
          <p:cNvPr id="15" name="椭圆 14">
            <a:extLst>
              <a:ext uri="{FF2B5EF4-FFF2-40B4-BE49-F238E27FC236}">
                <a16:creationId xmlns:a16="http://schemas.microsoft.com/office/drawing/2014/main" id="{28A7DA17-6F51-7366-C9D3-C00D30339335}"/>
              </a:ext>
            </a:extLst>
          </p:cNvPr>
          <p:cNvSpPr/>
          <p:nvPr/>
        </p:nvSpPr>
        <p:spPr>
          <a:xfrm>
            <a:off x="11750347" y="6411598"/>
            <a:ext cx="289344" cy="289344"/>
          </a:xfrm>
          <a:prstGeom prst="ellipse">
            <a:avLst/>
          </a:prstGeom>
          <a:solidFill>
            <a:schemeClr val="bg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CN" altLang="en-US">
              <a:solidFill>
                <a:schemeClr val="accent1"/>
              </a:solidFill>
            </a:endParaRPr>
          </a:p>
        </p:txBody>
      </p:sp>
      <p:sp>
        <p:nvSpPr>
          <p:cNvPr id="16" name="灯片编号占位符 18">
            <a:extLst>
              <a:ext uri="{FF2B5EF4-FFF2-40B4-BE49-F238E27FC236}">
                <a16:creationId xmlns:a16="http://schemas.microsoft.com/office/drawing/2014/main" id="{12E3FEDC-A3B9-809A-6C6F-6D2E4E8FEDDE}"/>
              </a:ext>
            </a:extLst>
          </p:cNvPr>
          <p:cNvSpPr>
            <a:spLocks noGrp="1"/>
          </p:cNvSpPr>
          <p:nvPr>
            <p:ph type="sldNum" sz="quarter" idx="12"/>
          </p:nvPr>
        </p:nvSpPr>
        <p:spPr>
          <a:xfrm>
            <a:off x="11619554" y="6373707"/>
            <a:ext cx="550930" cy="365125"/>
          </a:xfrm>
        </p:spPr>
        <p:txBody>
          <a:bodyPr/>
          <a:lstStyle/>
          <a:p>
            <a:pPr algn="ctr"/>
            <a:fld id="{D290E156-FAFE-5144-A047-A692DE980B3A}" type="slidenum">
              <a:rPr kumimoji="1" lang="zh-CN" altLang="en-US" smtClean="0">
                <a:solidFill>
                  <a:schemeClr val="accent1"/>
                </a:solidFill>
                <a:latin typeface="Arial" panose="020B0604020202020204" pitchFamily="34" charset="0"/>
                <a:cs typeface="Arial" panose="020B0604020202020204" pitchFamily="34" charset="0"/>
              </a:rPr>
              <a:t>14</a:t>
            </a:fld>
            <a:endParaRPr kumimoji="1" lang="zh-CN" altLang="en-US" dirty="0">
              <a:solidFill>
                <a:schemeClr val="accent1"/>
              </a:solidFill>
              <a:latin typeface="Arial" panose="020B0604020202020204" pitchFamily="34" charset="0"/>
              <a:cs typeface="Arial" panose="020B0604020202020204" pitchFamily="34" charset="0"/>
            </a:endParaRPr>
          </a:p>
        </p:txBody>
      </p:sp>
      <p:sp>
        <p:nvSpPr>
          <p:cNvPr id="6" name="文本框 5">
            <a:extLst>
              <a:ext uri="{FF2B5EF4-FFF2-40B4-BE49-F238E27FC236}">
                <a16:creationId xmlns:a16="http://schemas.microsoft.com/office/drawing/2014/main" id="{FE54E81E-B7D6-9D43-E0D7-EF2C6CFC59CD}"/>
              </a:ext>
            </a:extLst>
          </p:cNvPr>
          <p:cNvSpPr txBox="1"/>
          <p:nvPr/>
        </p:nvSpPr>
        <p:spPr>
          <a:xfrm>
            <a:off x="5032257" y="179975"/>
            <a:ext cx="1985202" cy="369332"/>
          </a:xfrm>
          <a:prstGeom prst="rect">
            <a:avLst/>
          </a:prstGeom>
          <a:noFill/>
        </p:spPr>
        <p:txBody>
          <a:bodyPr wrap="square" rtlCol="0">
            <a:spAutoFit/>
          </a:bodyPr>
          <a:lstStyle/>
          <a:p>
            <a:pPr algn="ctr"/>
            <a:r>
              <a:rPr kumimoji="1" lang="zh-CN" altLang="en-US" b="1" spc="110" dirty="0">
                <a:solidFill>
                  <a:schemeClr val="bg1"/>
                </a:solidFill>
                <a:latin typeface="微软雅黑" panose="020B0503020204020204" pitchFamily="34" charset="-122"/>
                <a:ea typeface="微软雅黑" panose="020B0503020204020204" pitchFamily="34" charset="-122"/>
              </a:rPr>
              <a:t>本科经历</a:t>
            </a:r>
          </a:p>
        </p:txBody>
      </p:sp>
      <p:sp>
        <p:nvSpPr>
          <p:cNvPr id="3" name="任意形状 2">
            <a:extLst>
              <a:ext uri="{FF2B5EF4-FFF2-40B4-BE49-F238E27FC236}">
                <a16:creationId xmlns:a16="http://schemas.microsoft.com/office/drawing/2014/main" id="{58F55843-4454-6899-74E1-1D084DE9F468}"/>
              </a:ext>
            </a:extLst>
          </p:cNvPr>
          <p:cNvSpPr/>
          <p:nvPr/>
        </p:nvSpPr>
        <p:spPr>
          <a:xfrm>
            <a:off x="0" y="0"/>
            <a:ext cx="9896847" cy="662946"/>
          </a:xfrm>
          <a:custGeom>
            <a:avLst/>
            <a:gdLst>
              <a:gd name="connsiteX0" fmla="*/ 0 w 8681972"/>
              <a:gd name="connsiteY0" fmla="*/ 0 h 689675"/>
              <a:gd name="connsiteX1" fmla="*/ 8681972 w 8681972"/>
              <a:gd name="connsiteY1" fmla="*/ 0 h 689675"/>
              <a:gd name="connsiteX2" fmla="*/ 8461124 w 8681972"/>
              <a:gd name="connsiteY2" fmla="*/ 344837 h 689675"/>
              <a:gd name="connsiteX3" fmla="*/ 8681972 w 8681972"/>
              <a:gd name="connsiteY3" fmla="*/ 689675 h 689675"/>
              <a:gd name="connsiteX4" fmla="*/ 0 w 8681972"/>
              <a:gd name="connsiteY4" fmla="*/ 689675 h 689675"/>
              <a:gd name="connsiteX5" fmla="*/ 0 w 8681972"/>
              <a:gd name="connsiteY5" fmla="*/ 0 h 6896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681972" h="689675">
                <a:moveTo>
                  <a:pt x="0" y="0"/>
                </a:moveTo>
                <a:lnTo>
                  <a:pt x="8681972" y="0"/>
                </a:lnTo>
                <a:lnTo>
                  <a:pt x="8461124" y="344837"/>
                </a:lnTo>
                <a:lnTo>
                  <a:pt x="8681972" y="689675"/>
                </a:lnTo>
                <a:lnTo>
                  <a:pt x="0" y="689675"/>
                </a:lnTo>
                <a:lnTo>
                  <a:pt x="0" y="0"/>
                </a:lnTo>
                <a:close/>
              </a:path>
            </a:pathLst>
          </a:custGeom>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zh-CN" altLang="en-US" sz="1600"/>
          </a:p>
        </p:txBody>
      </p:sp>
      <p:sp>
        <p:nvSpPr>
          <p:cNvPr id="14" name="文本框 13">
            <a:extLst>
              <a:ext uri="{FF2B5EF4-FFF2-40B4-BE49-F238E27FC236}">
                <a16:creationId xmlns:a16="http://schemas.microsoft.com/office/drawing/2014/main" id="{EB8E0977-DDE2-FB4D-5781-DD0E86772D75}"/>
              </a:ext>
            </a:extLst>
          </p:cNvPr>
          <p:cNvSpPr txBox="1"/>
          <p:nvPr/>
        </p:nvSpPr>
        <p:spPr>
          <a:xfrm>
            <a:off x="281981" y="79754"/>
            <a:ext cx="9335355" cy="523220"/>
          </a:xfrm>
          <a:prstGeom prst="rect">
            <a:avLst/>
          </a:prstGeom>
          <a:noFill/>
        </p:spPr>
        <p:txBody>
          <a:bodyPr wrap="square" rtlCol="0">
            <a:spAutoFit/>
          </a:bodyPr>
          <a:lstStyle>
            <a:defPPr>
              <a:defRPr lang="zh-CN"/>
            </a:defPPr>
            <a:lvl1pPr algn="ctr">
              <a:defRPr kumimoji="1" sz="4400" b="1" spc="300">
                <a:solidFill>
                  <a:schemeClr val="bg1"/>
                </a:solidFill>
                <a:latin typeface="微软雅黑" panose="020B0503020204020204" pitchFamily="34" charset="-122"/>
                <a:ea typeface="微软雅黑" panose="020B0503020204020204" pitchFamily="34" charset="-122"/>
              </a:defRPr>
            </a:lvl1pPr>
          </a:lstStyle>
          <a:p>
            <a:pPr algn="l"/>
            <a:r>
              <a:rPr lang="en-US" altLang="zh-CN" sz="1400" dirty="0"/>
              <a:t>Predictive Authority Control: Learning When and How Much to Trust Baseline Controllers for Robust Underwater Robot Tracking</a:t>
            </a:r>
            <a:endParaRPr lang="zh-CN" altLang="en-US" sz="1400" dirty="0"/>
          </a:p>
        </p:txBody>
      </p:sp>
      <p:pic>
        <p:nvPicPr>
          <p:cNvPr id="2" name="图片 1">
            <a:extLst>
              <a:ext uri="{FF2B5EF4-FFF2-40B4-BE49-F238E27FC236}">
                <a16:creationId xmlns:a16="http://schemas.microsoft.com/office/drawing/2014/main" id="{F0F67DEE-EC92-057D-10A7-A88AB094FC38}"/>
              </a:ext>
            </a:extLst>
          </p:cNvPr>
          <p:cNvPicPr>
            <a:picLocks noChangeAspect="1"/>
          </p:cNvPicPr>
          <p:nvPr/>
        </p:nvPicPr>
        <p:blipFill>
          <a:blip r:embed="rId2"/>
          <a:stretch>
            <a:fillRect/>
          </a:stretch>
        </p:blipFill>
        <p:spPr>
          <a:xfrm>
            <a:off x="10121441" y="54734"/>
            <a:ext cx="1773578" cy="553478"/>
          </a:xfrm>
          <a:prstGeom prst="rect">
            <a:avLst/>
          </a:prstGeom>
        </p:spPr>
      </p:pic>
      <p:sp>
        <p:nvSpPr>
          <p:cNvPr id="20" name="文本框 19">
            <a:extLst>
              <a:ext uri="{FF2B5EF4-FFF2-40B4-BE49-F238E27FC236}">
                <a16:creationId xmlns:a16="http://schemas.microsoft.com/office/drawing/2014/main" id="{F9970169-22E7-0D91-F083-7682FEED4E48}"/>
              </a:ext>
            </a:extLst>
          </p:cNvPr>
          <p:cNvSpPr txBox="1"/>
          <p:nvPr/>
        </p:nvSpPr>
        <p:spPr>
          <a:xfrm>
            <a:off x="0" y="738435"/>
            <a:ext cx="12501349" cy="338554"/>
          </a:xfrm>
          <a:prstGeom prst="rect">
            <a:avLst/>
          </a:prstGeom>
          <a:noFill/>
        </p:spPr>
        <p:txBody>
          <a:bodyPr wrap="square" rtlCol="0">
            <a:spAutoFit/>
          </a:bodyPr>
          <a:lstStyle/>
          <a:p>
            <a:pPr marL="342900" indent="-342900">
              <a:buSzPct val="85000"/>
              <a:buFont typeface="Wingdings" panose="05000000000000000000" pitchFamily="2" charset="2"/>
              <a:buChar char="n"/>
            </a:pPr>
            <a:r>
              <a:rPr kumimoji="1" lang="en-US" altLang="zh-CN" sz="1600" b="1" spc="300" dirty="0">
                <a:solidFill>
                  <a:schemeClr val="accent1"/>
                </a:solidFill>
                <a:latin typeface="微软雅黑" panose="020B0503020204020204" pitchFamily="34" charset="-122"/>
                <a:ea typeface="微软雅黑" panose="020B0503020204020204" pitchFamily="34" charset="-122"/>
              </a:rPr>
              <a:t>PAC</a:t>
            </a:r>
            <a:r>
              <a:rPr kumimoji="1" lang="zh-CN" altLang="en-US" sz="1600" b="1" spc="300" dirty="0">
                <a:solidFill>
                  <a:schemeClr val="accent1"/>
                </a:solidFill>
                <a:latin typeface="微软雅黑" panose="020B0503020204020204" pitchFamily="34" charset="-122"/>
                <a:ea typeface="微软雅黑" panose="020B0503020204020204" pitchFamily="34" charset="-122"/>
              </a:rPr>
              <a:t>：面向水下机器人鲁棒跟踪的基线控制器时序信任权重学习</a:t>
            </a:r>
          </a:p>
        </p:txBody>
      </p:sp>
      <p:cxnSp>
        <p:nvCxnSpPr>
          <p:cNvPr id="21" name="直线连接符 12">
            <a:extLst>
              <a:ext uri="{FF2B5EF4-FFF2-40B4-BE49-F238E27FC236}">
                <a16:creationId xmlns:a16="http://schemas.microsoft.com/office/drawing/2014/main" id="{725131F4-5D8D-3B7E-6612-1B79BB02867D}"/>
              </a:ext>
            </a:extLst>
          </p:cNvPr>
          <p:cNvCxnSpPr/>
          <p:nvPr/>
        </p:nvCxnSpPr>
        <p:spPr>
          <a:xfrm>
            <a:off x="908" y="1167007"/>
            <a:ext cx="10978564" cy="0"/>
          </a:xfrm>
          <a:prstGeom prst="line">
            <a:avLst/>
          </a:prstGeom>
        </p:spPr>
        <p:style>
          <a:lnRef idx="1">
            <a:schemeClr val="accent1"/>
          </a:lnRef>
          <a:fillRef idx="0">
            <a:schemeClr val="accent1"/>
          </a:fillRef>
          <a:effectRef idx="0">
            <a:schemeClr val="accent1"/>
          </a:effectRef>
          <a:fontRef idx="minor">
            <a:schemeClr val="tx1"/>
          </a:fontRef>
        </p:style>
      </p:cxnSp>
      <p:sp>
        <p:nvSpPr>
          <p:cNvPr id="11" name="TextBox 10"/>
          <p:cNvSpPr txBox="1"/>
          <p:nvPr/>
        </p:nvSpPr>
        <p:spPr>
          <a:xfrm>
            <a:off x="274320" y="1234440"/>
            <a:ext cx="11612880" cy="457200"/>
          </a:xfrm>
          <a:prstGeom prst="rect">
            <a:avLst/>
          </a:prstGeom>
          <a:noFill/>
        </p:spPr>
        <p:txBody>
          <a:bodyPr wrap="square">
            <a:spAutoFit/>
          </a:bodyPr>
          <a:lstStyle/>
          <a:p>
            <a:pPr>
              <a:lnSpc>
                <a:spcPct val="115000"/>
              </a:lnSpc>
              <a:spcAft>
                <a:spcPts val="300"/>
              </a:spcAft>
            </a:pPr>
            <a:r>
              <a:rPr sz="1700" b="1">
                <a:solidFill>
                  <a:srgbClr val="514D83"/>
                </a:solidFill>
                <a:latin typeface="微软雅黑"/>
              </a:rPr>
              <a:t>估计延迟（OOD）</a:t>
            </a:r>
          </a:p>
        </p:txBody>
      </p:sp>
      <p:pic>
        <p:nvPicPr>
          <p:cNvPr id="12" name="Picture 11" descr="gallery_09_estimation_delay_unseen.png"/>
          <p:cNvPicPr>
            <a:picLocks noChangeAspect="1"/>
          </p:cNvPicPr>
          <p:nvPr/>
        </p:nvPicPr>
        <p:blipFill>
          <a:blip r:embed="rId3"/>
          <a:stretch>
            <a:fillRect/>
          </a:stretch>
        </p:blipFill>
        <p:spPr>
          <a:xfrm>
            <a:off x="457200" y="1828800"/>
            <a:ext cx="3044687" cy="4572000"/>
          </a:xfrm>
          <a:prstGeom prst="rect">
            <a:avLst/>
          </a:prstGeom>
        </p:spPr>
      </p:pic>
      <p:sp>
        <p:nvSpPr>
          <p:cNvPr id="13" name="TextBox 12"/>
          <p:cNvSpPr txBox="1"/>
          <p:nvPr/>
        </p:nvSpPr>
        <p:spPr>
          <a:xfrm>
            <a:off x="5029200" y="2011680"/>
            <a:ext cx="6675120" cy="4754880"/>
          </a:xfrm>
          <a:prstGeom prst="rect">
            <a:avLst/>
          </a:prstGeom>
          <a:noFill/>
        </p:spPr>
        <p:txBody>
          <a:bodyPr wrap="square">
            <a:spAutoFit/>
          </a:bodyPr>
          <a:lstStyle/>
          <a:p>
            <a:pPr>
              <a:lnSpc>
                <a:spcPct val="115000"/>
              </a:lnSpc>
              <a:spcAft>
                <a:spcPts val="300"/>
              </a:spcAft>
            </a:pPr>
            <a:r>
              <a:rPr sz="1500" b="1">
                <a:solidFill>
                  <a:srgbClr val="514D83"/>
                </a:solidFill>
                <a:latin typeface="微软雅黑"/>
              </a:rPr>
              <a:t>参数范围与含义</a:t>
            </a:r>
          </a:p>
          <a:p>
            <a:pPr>
              <a:lnSpc>
                <a:spcPct val="115000"/>
              </a:lnSpc>
              <a:spcAft>
                <a:spcPts val="300"/>
              </a:spcAft>
            </a:pPr>
            <a:r>
              <a:rPr sz="1200" b="0">
                <a:latin typeface="微软雅黑"/>
              </a:rPr>
              <a:t>仅评估（无训练对应）:
delay∈[10,20] 步, noise∈[0.05,0.10]
delay=传感器数据滞后 | noise=观测噪声</a:t>
            </a:r>
          </a:p>
          <a:p>
            <a:pPr>
              <a:lnSpc>
                <a:spcPct val="115000"/>
              </a:lnSpc>
              <a:spcAft>
                <a:spcPts val="300"/>
              </a:spcAft>
            </a:pPr>
            <a:endParaRPr sz="1200" b="0">
              <a:latin typeface="微软雅黑"/>
            </a:endParaRPr>
          </a:p>
          <a:p>
            <a:pPr>
              <a:lnSpc>
                <a:spcPct val="115000"/>
              </a:lnSpc>
              <a:spcAft>
                <a:spcPts val="300"/>
              </a:spcAft>
            </a:pPr>
            <a:r>
              <a:rPr sz="1500" b="1">
                <a:solidFill>
                  <a:srgbClr val="E8730C"/>
                </a:solidFill>
                <a:latin typeface="微软雅黑"/>
              </a:rPr>
              <a:t>物理意义</a:t>
            </a:r>
          </a:p>
          <a:p>
            <a:pPr>
              <a:lnSpc>
                <a:spcPct val="115000"/>
              </a:lnSpc>
              <a:spcAft>
                <a:spcPts val="300"/>
              </a:spcAft>
            </a:pPr>
            <a:r>
              <a:rPr sz="1200" b="0">
                <a:latin typeface="微软雅黑"/>
              </a:rPr>
              <a:t>传感器信息延迟 100–200 ms + 噪声</a:t>
            </a:r>
          </a:p>
          <a:p>
            <a:pPr>
              <a:lnSpc>
                <a:spcPct val="115000"/>
              </a:lnSpc>
              <a:spcAft>
                <a:spcPts val="300"/>
              </a:spcAft>
            </a:pPr>
            <a:endParaRPr sz="1200" b="0">
              <a:latin typeface="微软雅黑"/>
            </a:endParaRPr>
          </a:p>
          <a:p>
            <a:pPr>
              <a:lnSpc>
                <a:spcPct val="115000"/>
              </a:lnSpc>
              <a:spcAft>
                <a:spcPts val="300"/>
              </a:spcAft>
            </a:pPr>
            <a:r>
              <a:rPr sz="1500" b="1">
                <a:solidFill>
                  <a:srgbClr val="3F7E72"/>
                </a:solidFill>
                <a:latin typeface="微软雅黑"/>
              </a:rPr>
              <a:t>结果</a:t>
            </a:r>
          </a:p>
          <a:p>
            <a:pPr>
              <a:lnSpc>
                <a:spcPct val="115000"/>
              </a:lnSpc>
              <a:spcAft>
                <a:spcPts val="300"/>
              </a:spcAft>
            </a:pPr>
            <a:r>
              <a:rPr sz="1200" b="1">
                <a:latin typeface="微软雅黑"/>
              </a:rPr>
              <a:t>检验因果估计下的控制鲁棒性</a:t>
            </a:r>
          </a:p>
          <a:p>
            <a:pPr>
              <a:lnSpc>
                <a:spcPct val="115000"/>
              </a:lnSpc>
              <a:spcAft>
                <a:spcPts val="300"/>
              </a:spcAft>
            </a:pPr>
            <a:endParaRPr sz="1200" b="1">
              <a:latin typeface="微软雅黑"/>
            </a:endParaRPr>
          </a:p>
          <a:p>
            <a:pPr>
              <a:lnSpc>
                <a:spcPct val="115000"/>
              </a:lnSpc>
              <a:spcAft>
                <a:spcPts val="300"/>
              </a:spcAft>
            </a:pPr>
            <a:r>
              <a:rPr sz="1100" b="0">
                <a:solidFill>
                  <a:srgbClr val="6B6F85"/>
                </a:solidFill>
                <a:latin typeface="微软雅黑"/>
              </a:rPr>
              <a:t>每回合 2,100 步（21 s）· 6 方法 × 5 种子</a:t>
            </a:r>
          </a:p>
        </p:txBody>
      </p:sp>
    </p:spTree>
    <p:extLst>
      <p:ext uri="{BB962C8B-B14F-4D97-AF65-F5344CB8AC3E}">
        <p14:creationId xmlns:p14="http://schemas.microsoft.com/office/powerpoint/2010/main" val="2069135721"/>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5FDD7E-57C2-E5D2-C0A5-FACB1BE7B6C4}"/>
            </a:ext>
          </a:extLst>
        </p:cNvPr>
        <p:cNvGrpSpPr/>
        <p:nvPr/>
      </p:nvGrpSpPr>
      <p:grpSpPr>
        <a:xfrm>
          <a:off x="0" y="0"/>
          <a:ext cx="0" cy="0"/>
          <a:chOff x="0" y="0"/>
          <a:chExt cx="0" cy="0"/>
        </a:xfrm>
      </p:grpSpPr>
      <p:sp>
        <p:nvSpPr>
          <p:cNvPr id="7" name="文本框 6">
            <a:extLst>
              <a:ext uri="{FF2B5EF4-FFF2-40B4-BE49-F238E27FC236}">
                <a16:creationId xmlns:a16="http://schemas.microsoft.com/office/drawing/2014/main" id="{6477257A-DE91-568B-729F-653178A889ED}"/>
              </a:ext>
            </a:extLst>
          </p:cNvPr>
          <p:cNvSpPr txBox="1"/>
          <p:nvPr/>
        </p:nvSpPr>
        <p:spPr>
          <a:xfrm>
            <a:off x="10461848" y="299500"/>
            <a:ext cx="1197832" cy="369332"/>
          </a:xfrm>
          <a:prstGeom prst="rect">
            <a:avLst/>
          </a:prstGeom>
          <a:noFill/>
        </p:spPr>
        <p:txBody>
          <a:bodyPr wrap="square" rtlCol="0">
            <a:spAutoFit/>
          </a:bodyPr>
          <a:lstStyle/>
          <a:p>
            <a:pPr algn="ctr"/>
            <a:r>
              <a:rPr kumimoji="1" lang="zh-CN" altLang="en-US" b="1" spc="110" dirty="0">
                <a:solidFill>
                  <a:schemeClr val="bg1"/>
                </a:solidFill>
                <a:latin typeface="微软雅黑" panose="020B0503020204020204" pitchFamily="34" charset="-122"/>
                <a:ea typeface="微软雅黑" panose="020B0503020204020204" pitchFamily="34" charset="-122"/>
              </a:rPr>
              <a:t>读研展望</a:t>
            </a:r>
          </a:p>
        </p:txBody>
      </p:sp>
      <p:sp>
        <p:nvSpPr>
          <p:cNvPr id="9" name="文本框 8">
            <a:extLst>
              <a:ext uri="{FF2B5EF4-FFF2-40B4-BE49-F238E27FC236}">
                <a16:creationId xmlns:a16="http://schemas.microsoft.com/office/drawing/2014/main" id="{7B788532-0E31-1AFE-ED41-C645C929C4A4}"/>
              </a:ext>
            </a:extLst>
          </p:cNvPr>
          <p:cNvSpPr txBox="1"/>
          <p:nvPr/>
        </p:nvSpPr>
        <p:spPr>
          <a:xfrm>
            <a:off x="2875146" y="179975"/>
            <a:ext cx="1336142" cy="369332"/>
          </a:xfrm>
          <a:prstGeom prst="rect">
            <a:avLst/>
          </a:prstGeom>
          <a:noFill/>
        </p:spPr>
        <p:txBody>
          <a:bodyPr wrap="square" rtlCol="0">
            <a:spAutoFit/>
          </a:bodyPr>
          <a:lstStyle/>
          <a:p>
            <a:pPr algn="ctr"/>
            <a:r>
              <a:rPr kumimoji="1" lang="zh-CN" altLang="en-US" b="1" spc="110" dirty="0">
                <a:solidFill>
                  <a:schemeClr val="bg1"/>
                </a:solidFill>
                <a:latin typeface="微软雅黑" panose="020B0503020204020204" pitchFamily="34" charset="-122"/>
                <a:ea typeface="微软雅黑" panose="020B0503020204020204" pitchFamily="34" charset="-122"/>
              </a:rPr>
              <a:t>个人简介</a:t>
            </a:r>
          </a:p>
        </p:txBody>
      </p:sp>
      <p:sp>
        <p:nvSpPr>
          <p:cNvPr id="15" name="椭圆 14">
            <a:extLst>
              <a:ext uri="{FF2B5EF4-FFF2-40B4-BE49-F238E27FC236}">
                <a16:creationId xmlns:a16="http://schemas.microsoft.com/office/drawing/2014/main" id="{8E960C35-0855-3D1E-28E4-548200A1CDAA}"/>
              </a:ext>
            </a:extLst>
          </p:cNvPr>
          <p:cNvSpPr/>
          <p:nvPr/>
        </p:nvSpPr>
        <p:spPr>
          <a:xfrm>
            <a:off x="11750347" y="6411598"/>
            <a:ext cx="289344" cy="289344"/>
          </a:xfrm>
          <a:prstGeom prst="ellipse">
            <a:avLst/>
          </a:prstGeom>
          <a:solidFill>
            <a:schemeClr val="bg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CN" altLang="en-US">
              <a:solidFill>
                <a:schemeClr val="accent1"/>
              </a:solidFill>
            </a:endParaRPr>
          </a:p>
        </p:txBody>
      </p:sp>
      <p:sp>
        <p:nvSpPr>
          <p:cNvPr id="16" name="灯片编号占位符 18">
            <a:extLst>
              <a:ext uri="{FF2B5EF4-FFF2-40B4-BE49-F238E27FC236}">
                <a16:creationId xmlns:a16="http://schemas.microsoft.com/office/drawing/2014/main" id="{9699A36E-A519-E247-561D-17FD67FFB8A5}"/>
              </a:ext>
            </a:extLst>
          </p:cNvPr>
          <p:cNvSpPr>
            <a:spLocks noGrp="1"/>
          </p:cNvSpPr>
          <p:nvPr>
            <p:ph type="sldNum" sz="quarter" idx="12"/>
          </p:nvPr>
        </p:nvSpPr>
        <p:spPr>
          <a:xfrm>
            <a:off x="11619554" y="6373707"/>
            <a:ext cx="550930" cy="365125"/>
          </a:xfrm>
        </p:spPr>
        <p:txBody>
          <a:bodyPr/>
          <a:lstStyle/>
          <a:p>
            <a:pPr algn="ctr"/>
            <a:fld id="{D290E156-FAFE-5144-A047-A692DE980B3A}" type="slidenum">
              <a:rPr kumimoji="1" lang="zh-CN" altLang="en-US" smtClean="0">
                <a:solidFill>
                  <a:schemeClr val="accent1"/>
                </a:solidFill>
                <a:latin typeface="Arial" panose="020B0604020202020204" pitchFamily="34" charset="0"/>
                <a:cs typeface="Arial" panose="020B0604020202020204" pitchFamily="34" charset="0"/>
              </a:rPr>
              <a:t>15</a:t>
            </a:fld>
            <a:endParaRPr kumimoji="1" lang="zh-CN" altLang="en-US" dirty="0">
              <a:solidFill>
                <a:schemeClr val="accent1"/>
              </a:solidFill>
              <a:latin typeface="Arial" panose="020B0604020202020204" pitchFamily="34" charset="0"/>
              <a:cs typeface="Arial" panose="020B0604020202020204" pitchFamily="34" charset="0"/>
            </a:endParaRPr>
          </a:p>
        </p:txBody>
      </p:sp>
      <p:sp>
        <p:nvSpPr>
          <p:cNvPr id="6" name="文本框 5">
            <a:extLst>
              <a:ext uri="{FF2B5EF4-FFF2-40B4-BE49-F238E27FC236}">
                <a16:creationId xmlns:a16="http://schemas.microsoft.com/office/drawing/2014/main" id="{FFA5F5BE-1278-FE23-EC15-6169BC7E7118}"/>
              </a:ext>
            </a:extLst>
          </p:cNvPr>
          <p:cNvSpPr txBox="1"/>
          <p:nvPr/>
        </p:nvSpPr>
        <p:spPr>
          <a:xfrm>
            <a:off x="5032257" y="179975"/>
            <a:ext cx="1985202" cy="369332"/>
          </a:xfrm>
          <a:prstGeom prst="rect">
            <a:avLst/>
          </a:prstGeom>
          <a:noFill/>
        </p:spPr>
        <p:txBody>
          <a:bodyPr wrap="square" rtlCol="0">
            <a:spAutoFit/>
          </a:bodyPr>
          <a:lstStyle/>
          <a:p>
            <a:pPr algn="ctr"/>
            <a:r>
              <a:rPr kumimoji="1" lang="zh-CN" altLang="en-US" b="1" spc="110" dirty="0">
                <a:solidFill>
                  <a:schemeClr val="bg1"/>
                </a:solidFill>
                <a:latin typeface="微软雅黑" panose="020B0503020204020204" pitchFamily="34" charset="-122"/>
                <a:ea typeface="微软雅黑" panose="020B0503020204020204" pitchFamily="34" charset="-122"/>
              </a:rPr>
              <a:t>本科经历</a:t>
            </a:r>
          </a:p>
        </p:txBody>
      </p:sp>
      <p:sp>
        <p:nvSpPr>
          <p:cNvPr id="3" name="任意形状 2">
            <a:extLst>
              <a:ext uri="{FF2B5EF4-FFF2-40B4-BE49-F238E27FC236}">
                <a16:creationId xmlns:a16="http://schemas.microsoft.com/office/drawing/2014/main" id="{D3E1E1D8-564F-7ED8-C4AD-AA4535682BEF}"/>
              </a:ext>
            </a:extLst>
          </p:cNvPr>
          <p:cNvSpPr/>
          <p:nvPr/>
        </p:nvSpPr>
        <p:spPr>
          <a:xfrm>
            <a:off x="0" y="0"/>
            <a:ext cx="9896847" cy="662946"/>
          </a:xfrm>
          <a:custGeom>
            <a:avLst/>
            <a:gdLst>
              <a:gd name="connsiteX0" fmla="*/ 0 w 8681972"/>
              <a:gd name="connsiteY0" fmla="*/ 0 h 689675"/>
              <a:gd name="connsiteX1" fmla="*/ 8681972 w 8681972"/>
              <a:gd name="connsiteY1" fmla="*/ 0 h 689675"/>
              <a:gd name="connsiteX2" fmla="*/ 8461124 w 8681972"/>
              <a:gd name="connsiteY2" fmla="*/ 344837 h 689675"/>
              <a:gd name="connsiteX3" fmla="*/ 8681972 w 8681972"/>
              <a:gd name="connsiteY3" fmla="*/ 689675 h 689675"/>
              <a:gd name="connsiteX4" fmla="*/ 0 w 8681972"/>
              <a:gd name="connsiteY4" fmla="*/ 689675 h 689675"/>
              <a:gd name="connsiteX5" fmla="*/ 0 w 8681972"/>
              <a:gd name="connsiteY5" fmla="*/ 0 h 6896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681972" h="689675">
                <a:moveTo>
                  <a:pt x="0" y="0"/>
                </a:moveTo>
                <a:lnTo>
                  <a:pt x="8681972" y="0"/>
                </a:lnTo>
                <a:lnTo>
                  <a:pt x="8461124" y="344837"/>
                </a:lnTo>
                <a:lnTo>
                  <a:pt x="8681972" y="689675"/>
                </a:lnTo>
                <a:lnTo>
                  <a:pt x="0" y="689675"/>
                </a:lnTo>
                <a:lnTo>
                  <a:pt x="0" y="0"/>
                </a:lnTo>
                <a:close/>
              </a:path>
            </a:pathLst>
          </a:custGeom>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zh-CN" altLang="en-US" sz="1600"/>
          </a:p>
        </p:txBody>
      </p:sp>
      <p:sp>
        <p:nvSpPr>
          <p:cNvPr id="14" name="文本框 13">
            <a:extLst>
              <a:ext uri="{FF2B5EF4-FFF2-40B4-BE49-F238E27FC236}">
                <a16:creationId xmlns:a16="http://schemas.microsoft.com/office/drawing/2014/main" id="{7262D478-33C1-0F6B-FBB2-F3EC769744B1}"/>
              </a:ext>
            </a:extLst>
          </p:cNvPr>
          <p:cNvSpPr txBox="1"/>
          <p:nvPr/>
        </p:nvSpPr>
        <p:spPr>
          <a:xfrm>
            <a:off x="281981" y="79754"/>
            <a:ext cx="9335355" cy="523220"/>
          </a:xfrm>
          <a:prstGeom prst="rect">
            <a:avLst/>
          </a:prstGeom>
          <a:noFill/>
        </p:spPr>
        <p:txBody>
          <a:bodyPr wrap="square" rtlCol="0">
            <a:spAutoFit/>
          </a:bodyPr>
          <a:lstStyle>
            <a:defPPr>
              <a:defRPr lang="zh-CN"/>
            </a:defPPr>
            <a:lvl1pPr algn="ctr">
              <a:defRPr kumimoji="1" sz="4400" b="1" spc="300">
                <a:solidFill>
                  <a:schemeClr val="bg1"/>
                </a:solidFill>
                <a:latin typeface="微软雅黑" panose="020B0503020204020204" pitchFamily="34" charset="-122"/>
                <a:ea typeface="微软雅黑" panose="020B0503020204020204" pitchFamily="34" charset="-122"/>
              </a:defRPr>
            </a:lvl1pPr>
          </a:lstStyle>
          <a:p>
            <a:pPr algn="l"/>
            <a:r>
              <a:rPr lang="en-US" altLang="zh-CN" sz="1400" dirty="0"/>
              <a:t>Predictive Authority Control: Learning When and How Much to Trust Baseline Controllers for Robust Underwater Robot Tracking</a:t>
            </a:r>
            <a:endParaRPr lang="zh-CN" altLang="en-US" sz="1400" dirty="0"/>
          </a:p>
        </p:txBody>
      </p:sp>
      <p:pic>
        <p:nvPicPr>
          <p:cNvPr id="2" name="图片 1">
            <a:extLst>
              <a:ext uri="{FF2B5EF4-FFF2-40B4-BE49-F238E27FC236}">
                <a16:creationId xmlns:a16="http://schemas.microsoft.com/office/drawing/2014/main" id="{BA9DA9CE-F44F-1914-6C93-B8F67DF3608A}"/>
              </a:ext>
            </a:extLst>
          </p:cNvPr>
          <p:cNvPicPr>
            <a:picLocks noChangeAspect="1"/>
          </p:cNvPicPr>
          <p:nvPr/>
        </p:nvPicPr>
        <p:blipFill>
          <a:blip r:embed="rId2"/>
          <a:stretch>
            <a:fillRect/>
          </a:stretch>
        </p:blipFill>
        <p:spPr>
          <a:xfrm>
            <a:off x="10121441" y="54734"/>
            <a:ext cx="1773578" cy="553478"/>
          </a:xfrm>
          <a:prstGeom prst="rect">
            <a:avLst/>
          </a:prstGeom>
        </p:spPr>
      </p:pic>
      <p:sp>
        <p:nvSpPr>
          <p:cNvPr id="20" name="文本框 19">
            <a:extLst>
              <a:ext uri="{FF2B5EF4-FFF2-40B4-BE49-F238E27FC236}">
                <a16:creationId xmlns:a16="http://schemas.microsoft.com/office/drawing/2014/main" id="{FB36BF18-01CF-3752-825B-36433DDD0726}"/>
              </a:ext>
            </a:extLst>
          </p:cNvPr>
          <p:cNvSpPr txBox="1"/>
          <p:nvPr/>
        </p:nvSpPr>
        <p:spPr>
          <a:xfrm>
            <a:off x="0" y="738435"/>
            <a:ext cx="12501349" cy="338554"/>
          </a:xfrm>
          <a:prstGeom prst="rect">
            <a:avLst/>
          </a:prstGeom>
          <a:noFill/>
        </p:spPr>
        <p:txBody>
          <a:bodyPr wrap="square" rtlCol="0">
            <a:spAutoFit/>
          </a:bodyPr>
          <a:lstStyle/>
          <a:p>
            <a:pPr marL="342900" indent="-342900">
              <a:buSzPct val="85000"/>
              <a:buFont typeface="Wingdings" panose="05000000000000000000" pitchFamily="2" charset="2"/>
              <a:buChar char="n"/>
            </a:pPr>
            <a:r>
              <a:rPr kumimoji="1" lang="en-US" altLang="zh-CN" sz="1600" b="1" spc="300" dirty="0">
                <a:solidFill>
                  <a:schemeClr val="accent1"/>
                </a:solidFill>
                <a:latin typeface="微软雅黑" panose="020B0503020204020204" pitchFamily="34" charset="-122"/>
                <a:ea typeface="微软雅黑" panose="020B0503020204020204" pitchFamily="34" charset="-122"/>
              </a:rPr>
              <a:t>PAC</a:t>
            </a:r>
            <a:r>
              <a:rPr kumimoji="1" lang="zh-CN" altLang="en-US" sz="1600" b="1" spc="300" dirty="0">
                <a:solidFill>
                  <a:schemeClr val="accent1"/>
                </a:solidFill>
                <a:latin typeface="微软雅黑" panose="020B0503020204020204" pitchFamily="34" charset="-122"/>
                <a:ea typeface="微软雅黑" panose="020B0503020204020204" pitchFamily="34" charset="-122"/>
              </a:rPr>
              <a:t>：面向水下机器人鲁棒跟踪的基线控制器时序信任权重学习</a:t>
            </a:r>
          </a:p>
        </p:txBody>
      </p:sp>
      <p:cxnSp>
        <p:nvCxnSpPr>
          <p:cNvPr id="21" name="直线连接符 12">
            <a:extLst>
              <a:ext uri="{FF2B5EF4-FFF2-40B4-BE49-F238E27FC236}">
                <a16:creationId xmlns:a16="http://schemas.microsoft.com/office/drawing/2014/main" id="{E9B0FC13-6585-B6AB-49E7-AFA949D4BD37}"/>
              </a:ext>
            </a:extLst>
          </p:cNvPr>
          <p:cNvCxnSpPr/>
          <p:nvPr/>
        </p:nvCxnSpPr>
        <p:spPr>
          <a:xfrm>
            <a:off x="908" y="1167007"/>
            <a:ext cx="10978564" cy="0"/>
          </a:xfrm>
          <a:prstGeom prst="line">
            <a:avLst/>
          </a:prstGeom>
        </p:spPr>
        <p:style>
          <a:lnRef idx="1">
            <a:schemeClr val="accent1"/>
          </a:lnRef>
          <a:fillRef idx="0">
            <a:schemeClr val="accent1"/>
          </a:fillRef>
          <a:effectRef idx="0">
            <a:schemeClr val="accent1"/>
          </a:effectRef>
          <a:fontRef idx="minor">
            <a:schemeClr val="tx1"/>
          </a:fontRef>
        </p:style>
      </p:cxnSp>
      <p:sp>
        <p:nvSpPr>
          <p:cNvPr id="12" name="文本框 11">
            <a:extLst>
              <a:ext uri="{FF2B5EF4-FFF2-40B4-BE49-F238E27FC236}">
                <a16:creationId xmlns:a16="http://schemas.microsoft.com/office/drawing/2014/main" id="{0BE75F6E-FF58-DF4B-8189-4535D0A5CE03}"/>
              </a:ext>
            </a:extLst>
          </p:cNvPr>
          <p:cNvSpPr txBox="1"/>
          <p:nvPr/>
        </p:nvSpPr>
        <p:spPr>
          <a:xfrm>
            <a:off x="0" y="1244052"/>
            <a:ext cx="12192000" cy="846001"/>
          </a:xfrm>
          <a:prstGeom prst="rect">
            <a:avLst/>
          </a:prstGeom>
          <a:noFill/>
        </p:spPr>
        <p:txBody>
          <a:bodyPr wrap="square" rtlCol="0">
            <a:spAutoFit/>
          </a:bodyPr>
          <a:lstStyle>
            <a:defPPr>
              <a:defRPr lang="zh-CN"/>
            </a:defPPr>
            <a:lvl1pPr algn="ctr">
              <a:defRPr kumimoji="1" sz="4400" b="1" spc="300">
                <a:solidFill>
                  <a:schemeClr val="bg1"/>
                </a:solidFill>
                <a:latin typeface="微软雅黑" panose="020B0503020204020204" pitchFamily="34" charset="-122"/>
                <a:ea typeface="微软雅黑" panose="020B0503020204020204" pitchFamily="34" charset="-122"/>
              </a:defRPr>
            </a:lvl1pPr>
          </a:lstStyle>
          <a:p>
            <a:pPr marL="342900" indent="-342900" algn="l">
              <a:lnSpc>
                <a:spcPct val="120000"/>
              </a:lnSpc>
              <a:buClr>
                <a:schemeClr val="accent1"/>
              </a:buClr>
              <a:buSzPct val="80000"/>
              <a:buFont typeface="Wingdings" panose="05000000000000000000" pitchFamily="2" charset="2"/>
              <a:buChar char="p"/>
            </a:pPr>
            <a:r>
              <a:rPr lang="zh-CN" altLang="en-US" sz="1400" dirty="0">
                <a:solidFill>
                  <a:schemeClr val="tx1">
                    <a:lumMod val="75000"/>
                    <a:lumOff val="25000"/>
                  </a:schemeClr>
                </a:solidFill>
              </a:rPr>
              <a:t>运动层证据：航行器实际如何运动。左：三维路径/水平投影/垂向误差（列=ID 正弦海流、OOD 执行器退化；检查前固定的保留种子）。右：位置误差/艏向误差/俯仰角时序——退化下 MPC 发散随回合增长（持续错误的内部模型），残差策略两工况都贴近参考。</a:t>
            </a:r>
            <a:endParaRPr lang="en-US" altLang="zh-CN" sz="1600" dirty="0">
              <a:solidFill>
                <a:schemeClr val="tx1">
                  <a:lumMod val="75000"/>
                  <a:lumOff val="25000"/>
                </a:schemeClr>
              </a:solidFill>
            </a:endParaRPr>
          </a:p>
        </p:txBody>
      </p:sp>
      <p:pic>
        <p:nvPicPr>
          <p:cNvPr id="22" name="Picture 21" descr="fig3_error_attitude.png"/>
          <p:cNvPicPr>
            <a:picLocks noChangeAspect="1"/>
          </p:cNvPicPr>
          <p:nvPr/>
        </p:nvPicPr>
        <p:blipFill>
          <a:blip r:embed="rId3"/>
          <a:stretch>
            <a:fillRect/>
          </a:stretch>
        </p:blipFill>
        <p:spPr>
          <a:xfrm>
            <a:off x="5377951" y="2356698"/>
            <a:ext cx="5669280" cy="4502822"/>
          </a:xfrm>
          <a:prstGeom prst="rect">
            <a:avLst/>
          </a:prstGeom>
        </p:spPr>
      </p:pic>
      <p:pic>
        <p:nvPicPr>
          <p:cNvPr id="4" name="Picture 3">
            <a:extLst>
              <a:ext uri="{FF2B5EF4-FFF2-40B4-BE49-F238E27FC236}">
                <a16:creationId xmlns:a16="http://schemas.microsoft.com/office/drawing/2014/main" id="{DA86A6DA-D116-7FA7-E320-D9B6874C80C9}"/>
              </a:ext>
            </a:extLst>
          </p:cNvPr>
          <p:cNvPicPr>
            <a:picLocks noChangeAspect="1"/>
          </p:cNvPicPr>
          <p:nvPr/>
        </p:nvPicPr>
        <p:blipFill>
          <a:blip r:embed="rId4"/>
          <a:stretch>
            <a:fillRect/>
          </a:stretch>
        </p:blipFill>
        <p:spPr>
          <a:xfrm>
            <a:off x="600031" y="2196247"/>
            <a:ext cx="4452332" cy="4481778"/>
          </a:xfrm>
          <a:prstGeom prst="rect">
            <a:avLst/>
          </a:prstGeom>
        </p:spPr>
      </p:pic>
    </p:spTree>
    <p:extLst>
      <p:ext uri="{BB962C8B-B14F-4D97-AF65-F5344CB8AC3E}">
        <p14:creationId xmlns:p14="http://schemas.microsoft.com/office/powerpoint/2010/main" val="2225969127"/>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B50BCE-D83E-E439-8FD8-B2E7E54CA86A}"/>
            </a:ext>
          </a:extLst>
        </p:cNvPr>
        <p:cNvGrpSpPr/>
        <p:nvPr/>
      </p:nvGrpSpPr>
      <p:grpSpPr>
        <a:xfrm>
          <a:off x="0" y="0"/>
          <a:ext cx="0" cy="0"/>
          <a:chOff x="0" y="0"/>
          <a:chExt cx="0" cy="0"/>
        </a:xfrm>
      </p:grpSpPr>
      <p:sp>
        <p:nvSpPr>
          <p:cNvPr id="7" name="文本框 6">
            <a:extLst>
              <a:ext uri="{FF2B5EF4-FFF2-40B4-BE49-F238E27FC236}">
                <a16:creationId xmlns:a16="http://schemas.microsoft.com/office/drawing/2014/main" id="{81B4E730-23DC-247B-072A-D9FC2C2380D9}"/>
              </a:ext>
            </a:extLst>
          </p:cNvPr>
          <p:cNvSpPr txBox="1"/>
          <p:nvPr/>
        </p:nvSpPr>
        <p:spPr>
          <a:xfrm>
            <a:off x="10461848" y="299500"/>
            <a:ext cx="1197832" cy="369332"/>
          </a:xfrm>
          <a:prstGeom prst="rect">
            <a:avLst/>
          </a:prstGeom>
          <a:noFill/>
        </p:spPr>
        <p:txBody>
          <a:bodyPr wrap="square" rtlCol="0">
            <a:spAutoFit/>
          </a:bodyPr>
          <a:lstStyle/>
          <a:p>
            <a:pPr algn="ctr"/>
            <a:r>
              <a:rPr kumimoji="1" lang="zh-CN" altLang="en-US" b="1" spc="110" dirty="0">
                <a:solidFill>
                  <a:schemeClr val="bg1"/>
                </a:solidFill>
                <a:latin typeface="微软雅黑" panose="020B0503020204020204" pitchFamily="34" charset="-122"/>
                <a:ea typeface="微软雅黑" panose="020B0503020204020204" pitchFamily="34" charset="-122"/>
              </a:rPr>
              <a:t>读研展望</a:t>
            </a:r>
          </a:p>
        </p:txBody>
      </p:sp>
      <p:sp>
        <p:nvSpPr>
          <p:cNvPr id="9" name="文本框 8">
            <a:extLst>
              <a:ext uri="{FF2B5EF4-FFF2-40B4-BE49-F238E27FC236}">
                <a16:creationId xmlns:a16="http://schemas.microsoft.com/office/drawing/2014/main" id="{4A5B7DFF-DA23-A5E7-A479-248A1FF205E1}"/>
              </a:ext>
            </a:extLst>
          </p:cNvPr>
          <p:cNvSpPr txBox="1"/>
          <p:nvPr/>
        </p:nvSpPr>
        <p:spPr>
          <a:xfrm>
            <a:off x="2875146" y="179975"/>
            <a:ext cx="1336142" cy="369332"/>
          </a:xfrm>
          <a:prstGeom prst="rect">
            <a:avLst/>
          </a:prstGeom>
          <a:noFill/>
        </p:spPr>
        <p:txBody>
          <a:bodyPr wrap="square" rtlCol="0">
            <a:spAutoFit/>
          </a:bodyPr>
          <a:lstStyle/>
          <a:p>
            <a:pPr algn="ctr"/>
            <a:r>
              <a:rPr kumimoji="1" lang="zh-CN" altLang="en-US" b="1" spc="110" dirty="0">
                <a:solidFill>
                  <a:schemeClr val="bg1"/>
                </a:solidFill>
                <a:latin typeface="微软雅黑" panose="020B0503020204020204" pitchFamily="34" charset="-122"/>
                <a:ea typeface="微软雅黑" panose="020B0503020204020204" pitchFamily="34" charset="-122"/>
              </a:rPr>
              <a:t>个人简介</a:t>
            </a:r>
          </a:p>
        </p:txBody>
      </p:sp>
      <p:sp>
        <p:nvSpPr>
          <p:cNvPr id="15" name="椭圆 14">
            <a:extLst>
              <a:ext uri="{FF2B5EF4-FFF2-40B4-BE49-F238E27FC236}">
                <a16:creationId xmlns:a16="http://schemas.microsoft.com/office/drawing/2014/main" id="{B3AD2212-D4FB-ADF2-84FB-65FB283DF901}"/>
              </a:ext>
            </a:extLst>
          </p:cNvPr>
          <p:cNvSpPr/>
          <p:nvPr/>
        </p:nvSpPr>
        <p:spPr>
          <a:xfrm>
            <a:off x="11750347" y="6411598"/>
            <a:ext cx="289344" cy="289344"/>
          </a:xfrm>
          <a:prstGeom prst="ellipse">
            <a:avLst/>
          </a:prstGeom>
          <a:solidFill>
            <a:schemeClr val="bg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CN" altLang="en-US">
              <a:solidFill>
                <a:schemeClr val="accent1"/>
              </a:solidFill>
            </a:endParaRPr>
          </a:p>
        </p:txBody>
      </p:sp>
      <p:sp>
        <p:nvSpPr>
          <p:cNvPr id="16" name="灯片编号占位符 18">
            <a:extLst>
              <a:ext uri="{FF2B5EF4-FFF2-40B4-BE49-F238E27FC236}">
                <a16:creationId xmlns:a16="http://schemas.microsoft.com/office/drawing/2014/main" id="{252E9749-CC34-ADF4-AD54-9573D563FB2C}"/>
              </a:ext>
            </a:extLst>
          </p:cNvPr>
          <p:cNvSpPr>
            <a:spLocks noGrp="1"/>
          </p:cNvSpPr>
          <p:nvPr>
            <p:ph type="sldNum" sz="quarter" idx="12"/>
          </p:nvPr>
        </p:nvSpPr>
        <p:spPr>
          <a:xfrm>
            <a:off x="11619554" y="6373707"/>
            <a:ext cx="550930" cy="365125"/>
          </a:xfrm>
        </p:spPr>
        <p:txBody>
          <a:bodyPr/>
          <a:lstStyle/>
          <a:p>
            <a:pPr algn="ctr"/>
            <a:fld id="{D290E156-FAFE-5144-A047-A692DE980B3A}" type="slidenum">
              <a:rPr kumimoji="1" lang="zh-CN" altLang="en-US" smtClean="0">
                <a:solidFill>
                  <a:schemeClr val="accent1"/>
                </a:solidFill>
                <a:latin typeface="Arial" panose="020B0604020202020204" pitchFamily="34" charset="0"/>
                <a:cs typeface="Arial" panose="020B0604020202020204" pitchFamily="34" charset="0"/>
              </a:rPr>
              <a:t>16</a:t>
            </a:fld>
            <a:endParaRPr kumimoji="1" lang="zh-CN" altLang="en-US" dirty="0">
              <a:solidFill>
                <a:schemeClr val="accent1"/>
              </a:solidFill>
              <a:latin typeface="Arial" panose="020B0604020202020204" pitchFamily="34" charset="0"/>
              <a:cs typeface="Arial" panose="020B0604020202020204" pitchFamily="34" charset="0"/>
            </a:endParaRPr>
          </a:p>
        </p:txBody>
      </p:sp>
      <p:sp>
        <p:nvSpPr>
          <p:cNvPr id="6" name="文本框 5">
            <a:extLst>
              <a:ext uri="{FF2B5EF4-FFF2-40B4-BE49-F238E27FC236}">
                <a16:creationId xmlns:a16="http://schemas.microsoft.com/office/drawing/2014/main" id="{C18C2A02-AD55-38D3-6BFC-0D4B624F7893}"/>
              </a:ext>
            </a:extLst>
          </p:cNvPr>
          <p:cNvSpPr txBox="1"/>
          <p:nvPr/>
        </p:nvSpPr>
        <p:spPr>
          <a:xfrm>
            <a:off x="5032257" y="179975"/>
            <a:ext cx="1985202" cy="369332"/>
          </a:xfrm>
          <a:prstGeom prst="rect">
            <a:avLst/>
          </a:prstGeom>
          <a:noFill/>
        </p:spPr>
        <p:txBody>
          <a:bodyPr wrap="square" rtlCol="0">
            <a:spAutoFit/>
          </a:bodyPr>
          <a:lstStyle/>
          <a:p>
            <a:pPr algn="ctr"/>
            <a:r>
              <a:rPr kumimoji="1" lang="zh-CN" altLang="en-US" b="1" spc="110" dirty="0">
                <a:solidFill>
                  <a:schemeClr val="bg1"/>
                </a:solidFill>
                <a:latin typeface="微软雅黑" panose="020B0503020204020204" pitchFamily="34" charset="-122"/>
                <a:ea typeface="微软雅黑" panose="020B0503020204020204" pitchFamily="34" charset="-122"/>
              </a:rPr>
              <a:t>本科经历</a:t>
            </a:r>
          </a:p>
        </p:txBody>
      </p:sp>
      <p:sp>
        <p:nvSpPr>
          <p:cNvPr id="3" name="任意形状 2">
            <a:extLst>
              <a:ext uri="{FF2B5EF4-FFF2-40B4-BE49-F238E27FC236}">
                <a16:creationId xmlns:a16="http://schemas.microsoft.com/office/drawing/2014/main" id="{06D57195-9104-0907-5C78-7F6580B3BD6E}"/>
              </a:ext>
            </a:extLst>
          </p:cNvPr>
          <p:cNvSpPr/>
          <p:nvPr/>
        </p:nvSpPr>
        <p:spPr>
          <a:xfrm>
            <a:off x="0" y="0"/>
            <a:ext cx="9896847" cy="662946"/>
          </a:xfrm>
          <a:custGeom>
            <a:avLst/>
            <a:gdLst>
              <a:gd name="connsiteX0" fmla="*/ 0 w 8681972"/>
              <a:gd name="connsiteY0" fmla="*/ 0 h 689675"/>
              <a:gd name="connsiteX1" fmla="*/ 8681972 w 8681972"/>
              <a:gd name="connsiteY1" fmla="*/ 0 h 689675"/>
              <a:gd name="connsiteX2" fmla="*/ 8461124 w 8681972"/>
              <a:gd name="connsiteY2" fmla="*/ 344837 h 689675"/>
              <a:gd name="connsiteX3" fmla="*/ 8681972 w 8681972"/>
              <a:gd name="connsiteY3" fmla="*/ 689675 h 689675"/>
              <a:gd name="connsiteX4" fmla="*/ 0 w 8681972"/>
              <a:gd name="connsiteY4" fmla="*/ 689675 h 689675"/>
              <a:gd name="connsiteX5" fmla="*/ 0 w 8681972"/>
              <a:gd name="connsiteY5" fmla="*/ 0 h 6896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681972" h="689675">
                <a:moveTo>
                  <a:pt x="0" y="0"/>
                </a:moveTo>
                <a:lnTo>
                  <a:pt x="8681972" y="0"/>
                </a:lnTo>
                <a:lnTo>
                  <a:pt x="8461124" y="344837"/>
                </a:lnTo>
                <a:lnTo>
                  <a:pt x="8681972" y="689675"/>
                </a:lnTo>
                <a:lnTo>
                  <a:pt x="0" y="689675"/>
                </a:lnTo>
                <a:lnTo>
                  <a:pt x="0" y="0"/>
                </a:lnTo>
                <a:close/>
              </a:path>
            </a:pathLst>
          </a:custGeom>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zh-CN" altLang="en-US" sz="1600"/>
          </a:p>
        </p:txBody>
      </p:sp>
      <p:sp>
        <p:nvSpPr>
          <p:cNvPr id="14" name="文本框 13">
            <a:extLst>
              <a:ext uri="{FF2B5EF4-FFF2-40B4-BE49-F238E27FC236}">
                <a16:creationId xmlns:a16="http://schemas.microsoft.com/office/drawing/2014/main" id="{FB0CBB9C-EFE9-DF5A-2B02-E8D255F3C794}"/>
              </a:ext>
            </a:extLst>
          </p:cNvPr>
          <p:cNvSpPr txBox="1"/>
          <p:nvPr/>
        </p:nvSpPr>
        <p:spPr>
          <a:xfrm>
            <a:off x="281981" y="79754"/>
            <a:ext cx="9335355" cy="523220"/>
          </a:xfrm>
          <a:prstGeom prst="rect">
            <a:avLst/>
          </a:prstGeom>
          <a:noFill/>
        </p:spPr>
        <p:txBody>
          <a:bodyPr wrap="square" rtlCol="0">
            <a:spAutoFit/>
          </a:bodyPr>
          <a:lstStyle>
            <a:defPPr>
              <a:defRPr lang="zh-CN"/>
            </a:defPPr>
            <a:lvl1pPr algn="ctr">
              <a:defRPr kumimoji="1" sz="4400" b="1" spc="300">
                <a:solidFill>
                  <a:schemeClr val="bg1"/>
                </a:solidFill>
                <a:latin typeface="微软雅黑" panose="020B0503020204020204" pitchFamily="34" charset="-122"/>
                <a:ea typeface="微软雅黑" panose="020B0503020204020204" pitchFamily="34" charset="-122"/>
              </a:defRPr>
            </a:lvl1pPr>
          </a:lstStyle>
          <a:p>
            <a:pPr algn="l"/>
            <a:r>
              <a:rPr lang="en-US" altLang="zh-CN" sz="1400" dirty="0"/>
              <a:t>Predictive Authority Control: Learning When and How Much to Trust Baseline Controllers for Robust Underwater Robot Tracking</a:t>
            </a:r>
            <a:endParaRPr lang="zh-CN" altLang="en-US" sz="1400" dirty="0"/>
          </a:p>
        </p:txBody>
      </p:sp>
      <p:pic>
        <p:nvPicPr>
          <p:cNvPr id="2" name="图片 1">
            <a:extLst>
              <a:ext uri="{FF2B5EF4-FFF2-40B4-BE49-F238E27FC236}">
                <a16:creationId xmlns:a16="http://schemas.microsoft.com/office/drawing/2014/main" id="{C9F281FC-86E9-182F-CB61-958B80B25AA3}"/>
              </a:ext>
            </a:extLst>
          </p:cNvPr>
          <p:cNvPicPr>
            <a:picLocks noChangeAspect="1"/>
          </p:cNvPicPr>
          <p:nvPr/>
        </p:nvPicPr>
        <p:blipFill>
          <a:blip r:embed="rId2"/>
          <a:stretch>
            <a:fillRect/>
          </a:stretch>
        </p:blipFill>
        <p:spPr>
          <a:xfrm>
            <a:off x="10121441" y="54734"/>
            <a:ext cx="1773578" cy="553478"/>
          </a:xfrm>
          <a:prstGeom prst="rect">
            <a:avLst/>
          </a:prstGeom>
        </p:spPr>
      </p:pic>
      <p:sp>
        <p:nvSpPr>
          <p:cNvPr id="20" name="文本框 19">
            <a:extLst>
              <a:ext uri="{FF2B5EF4-FFF2-40B4-BE49-F238E27FC236}">
                <a16:creationId xmlns:a16="http://schemas.microsoft.com/office/drawing/2014/main" id="{25332538-A239-8157-2824-B0E2E021044B}"/>
              </a:ext>
            </a:extLst>
          </p:cNvPr>
          <p:cNvSpPr txBox="1"/>
          <p:nvPr/>
        </p:nvSpPr>
        <p:spPr>
          <a:xfrm>
            <a:off x="0" y="738435"/>
            <a:ext cx="12501349" cy="338554"/>
          </a:xfrm>
          <a:prstGeom prst="rect">
            <a:avLst/>
          </a:prstGeom>
          <a:noFill/>
        </p:spPr>
        <p:txBody>
          <a:bodyPr wrap="square" rtlCol="0">
            <a:spAutoFit/>
          </a:bodyPr>
          <a:lstStyle/>
          <a:p>
            <a:pPr marL="342900" indent="-342900">
              <a:buSzPct val="85000"/>
              <a:buFont typeface="Wingdings" panose="05000000000000000000" pitchFamily="2" charset="2"/>
              <a:buChar char="n"/>
            </a:pPr>
            <a:r>
              <a:rPr kumimoji="1" lang="en-US" altLang="zh-CN" sz="1600" b="1" spc="300" dirty="0">
                <a:solidFill>
                  <a:schemeClr val="accent1"/>
                </a:solidFill>
                <a:latin typeface="微软雅黑" panose="020B0503020204020204" pitchFamily="34" charset="-122"/>
                <a:ea typeface="微软雅黑" panose="020B0503020204020204" pitchFamily="34" charset="-122"/>
              </a:rPr>
              <a:t>PAC</a:t>
            </a:r>
            <a:r>
              <a:rPr kumimoji="1" lang="zh-CN" altLang="en-US" sz="1600" b="1" spc="300" dirty="0">
                <a:solidFill>
                  <a:schemeClr val="accent1"/>
                </a:solidFill>
                <a:latin typeface="微软雅黑" panose="020B0503020204020204" pitchFamily="34" charset="-122"/>
                <a:ea typeface="微软雅黑" panose="020B0503020204020204" pitchFamily="34" charset="-122"/>
              </a:rPr>
              <a:t>：面向水下机器人鲁棒跟踪的基线控制器时序信任权重学习</a:t>
            </a:r>
          </a:p>
        </p:txBody>
      </p:sp>
      <p:cxnSp>
        <p:nvCxnSpPr>
          <p:cNvPr id="21" name="直线连接符 12">
            <a:extLst>
              <a:ext uri="{FF2B5EF4-FFF2-40B4-BE49-F238E27FC236}">
                <a16:creationId xmlns:a16="http://schemas.microsoft.com/office/drawing/2014/main" id="{E7622435-B449-9F02-BBE9-05C97CD13769}"/>
              </a:ext>
            </a:extLst>
          </p:cNvPr>
          <p:cNvCxnSpPr/>
          <p:nvPr/>
        </p:nvCxnSpPr>
        <p:spPr>
          <a:xfrm>
            <a:off x="908" y="1167007"/>
            <a:ext cx="10978564" cy="0"/>
          </a:xfrm>
          <a:prstGeom prst="line">
            <a:avLst/>
          </a:prstGeom>
        </p:spPr>
        <p:style>
          <a:lnRef idx="1">
            <a:schemeClr val="accent1"/>
          </a:lnRef>
          <a:fillRef idx="0">
            <a:schemeClr val="accent1"/>
          </a:fillRef>
          <a:effectRef idx="0">
            <a:schemeClr val="accent1"/>
          </a:effectRef>
          <a:fontRef idx="minor">
            <a:schemeClr val="tx1"/>
          </a:fontRef>
        </p:style>
      </p:cxnSp>
      <p:sp>
        <p:nvSpPr>
          <p:cNvPr id="12" name="文本框 11">
            <a:extLst>
              <a:ext uri="{FF2B5EF4-FFF2-40B4-BE49-F238E27FC236}">
                <a16:creationId xmlns:a16="http://schemas.microsoft.com/office/drawing/2014/main" id="{33581C97-548E-5FD2-DA57-FC354C2E6F75}"/>
              </a:ext>
            </a:extLst>
          </p:cNvPr>
          <p:cNvSpPr txBox="1"/>
          <p:nvPr/>
        </p:nvSpPr>
        <p:spPr>
          <a:xfrm>
            <a:off x="0" y="1244052"/>
            <a:ext cx="10978564" cy="1371600"/>
          </a:xfrm>
          <a:prstGeom prst="rect">
            <a:avLst/>
          </a:prstGeom>
          <a:noFill/>
        </p:spPr>
        <p:txBody>
          <a:bodyPr wrap="square" rtlCol="0">
            <a:spAutoFit/>
          </a:bodyPr>
          <a:lstStyle>
            <a:defPPr>
              <a:defRPr lang="zh-CN"/>
            </a:defPPr>
            <a:lvl1pPr algn="ctr">
              <a:defRPr kumimoji="1" sz="4400" b="1" spc="300">
                <a:solidFill>
                  <a:schemeClr val="bg1"/>
                </a:solidFill>
                <a:latin typeface="微软雅黑" panose="020B0503020204020204" pitchFamily="34" charset="-122"/>
                <a:ea typeface="微软雅黑" panose="020B0503020204020204" pitchFamily="34" charset="-122"/>
              </a:defRPr>
            </a:lvl1pPr>
          </a:lstStyle>
          <a:p>
            <a:pPr marL="342900" indent="-342900" algn="l">
              <a:lnSpc>
                <a:spcPct val="120000"/>
              </a:lnSpc>
              <a:buClr>
                <a:schemeClr val="accent1"/>
              </a:buClr>
              <a:buSzPct val="80000"/>
              <a:buFont typeface="Wingdings" panose="05000000000000000000" pitchFamily="2" charset="2"/>
              <a:buChar char="p"/>
            </a:pPr>
            <a:r>
              <a:rPr lang="zh-CN" altLang="en-US" sz="1400" dirty="0">
                <a:solidFill>
                  <a:schemeClr val="tx1">
                    <a:lumMod val="75000"/>
                    <a:lumOff val="25000"/>
                  </a:schemeClr>
                </a:solidFill>
              </a:rPr>
              <a:t>机制：残差学到的不是新调度，而是「否决」监督策略的越界。退化发生后数秒内监督策略把 α 推过 0.9 并振荡（31.2% 步数、std 0.331）；残差策略 97.0% 的步数稳在 [0.4, 0.6]。c 面板：全部 35 个 OOD 回合 × 5 种子的逐回合平均权限箱线图——监督 0.82±0.14（P10–P90 0.62–0.93）对残差 0.54±0.03，全部残差回合落在 [0.48, 0.62]。</a:t>
            </a:r>
          </a:p>
        </p:txBody>
      </p:sp>
      <p:pic>
        <p:nvPicPr>
          <p:cNvPr id="22" name="Picture 21" descr="fig5_actuator_case.png"/>
          <p:cNvPicPr>
            <a:picLocks noChangeAspect="1"/>
          </p:cNvPicPr>
          <p:nvPr/>
        </p:nvPicPr>
        <p:blipFill>
          <a:blip r:embed="rId3"/>
          <a:stretch>
            <a:fillRect/>
          </a:stretch>
        </p:blipFill>
        <p:spPr>
          <a:xfrm>
            <a:off x="2999232" y="2782715"/>
            <a:ext cx="5577840" cy="3848381"/>
          </a:xfrm>
          <a:prstGeom prst="rect">
            <a:avLst/>
          </a:prstGeom>
        </p:spPr>
      </p:pic>
    </p:spTree>
    <p:extLst>
      <p:ext uri="{BB962C8B-B14F-4D97-AF65-F5344CB8AC3E}">
        <p14:creationId xmlns:p14="http://schemas.microsoft.com/office/powerpoint/2010/main" val="3557438017"/>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3A0441-EA06-4E24-2918-3DBE6B46B395}"/>
            </a:ext>
          </a:extLst>
        </p:cNvPr>
        <p:cNvGrpSpPr/>
        <p:nvPr/>
      </p:nvGrpSpPr>
      <p:grpSpPr>
        <a:xfrm>
          <a:off x="0" y="0"/>
          <a:ext cx="0" cy="0"/>
          <a:chOff x="0" y="0"/>
          <a:chExt cx="0" cy="0"/>
        </a:xfrm>
      </p:grpSpPr>
      <p:sp>
        <p:nvSpPr>
          <p:cNvPr id="7" name="文本框 6">
            <a:extLst>
              <a:ext uri="{FF2B5EF4-FFF2-40B4-BE49-F238E27FC236}">
                <a16:creationId xmlns:a16="http://schemas.microsoft.com/office/drawing/2014/main" id="{D21B98F4-6860-F7AB-A5B0-A572977C642A}"/>
              </a:ext>
            </a:extLst>
          </p:cNvPr>
          <p:cNvSpPr txBox="1"/>
          <p:nvPr/>
        </p:nvSpPr>
        <p:spPr>
          <a:xfrm>
            <a:off x="10461848" y="299500"/>
            <a:ext cx="1197832" cy="369332"/>
          </a:xfrm>
          <a:prstGeom prst="rect">
            <a:avLst/>
          </a:prstGeom>
          <a:noFill/>
        </p:spPr>
        <p:txBody>
          <a:bodyPr wrap="square" rtlCol="0">
            <a:spAutoFit/>
          </a:bodyPr>
          <a:lstStyle/>
          <a:p>
            <a:pPr algn="ctr"/>
            <a:r>
              <a:rPr kumimoji="1" lang="zh-CN" altLang="en-US" b="1" spc="110" dirty="0">
                <a:solidFill>
                  <a:schemeClr val="bg1"/>
                </a:solidFill>
                <a:latin typeface="微软雅黑" panose="020B0503020204020204" pitchFamily="34" charset="-122"/>
                <a:ea typeface="微软雅黑" panose="020B0503020204020204" pitchFamily="34" charset="-122"/>
              </a:rPr>
              <a:t>读研展望</a:t>
            </a:r>
          </a:p>
        </p:txBody>
      </p:sp>
      <p:sp>
        <p:nvSpPr>
          <p:cNvPr id="9" name="文本框 8">
            <a:extLst>
              <a:ext uri="{FF2B5EF4-FFF2-40B4-BE49-F238E27FC236}">
                <a16:creationId xmlns:a16="http://schemas.microsoft.com/office/drawing/2014/main" id="{D23D5A0C-0E1D-9CD3-A4EA-361BADB1BB93}"/>
              </a:ext>
            </a:extLst>
          </p:cNvPr>
          <p:cNvSpPr txBox="1"/>
          <p:nvPr/>
        </p:nvSpPr>
        <p:spPr>
          <a:xfrm>
            <a:off x="2875146" y="179975"/>
            <a:ext cx="1336142" cy="369332"/>
          </a:xfrm>
          <a:prstGeom prst="rect">
            <a:avLst/>
          </a:prstGeom>
          <a:noFill/>
        </p:spPr>
        <p:txBody>
          <a:bodyPr wrap="square" rtlCol="0">
            <a:spAutoFit/>
          </a:bodyPr>
          <a:lstStyle/>
          <a:p>
            <a:pPr algn="ctr"/>
            <a:r>
              <a:rPr kumimoji="1" lang="zh-CN" altLang="en-US" b="1" spc="110" dirty="0">
                <a:solidFill>
                  <a:schemeClr val="bg1"/>
                </a:solidFill>
                <a:latin typeface="微软雅黑" panose="020B0503020204020204" pitchFamily="34" charset="-122"/>
                <a:ea typeface="微软雅黑" panose="020B0503020204020204" pitchFamily="34" charset="-122"/>
              </a:rPr>
              <a:t>个人简介</a:t>
            </a:r>
          </a:p>
        </p:txBody>
      </p:sp>
      <p:sp>
        <p:nvSpPr>
          <p:cNvPr id="15" name="椭圆 14">
            <a:extLst>
              <a:ext uri="{FF2B5EF4-FFF2-40B4-BE49-F238E27FC236}">
                <a16:creationId xmlns:a16="http://schemas.microsoft.com/office/drawing/2014/main" id="{3801BAB0-F78C-0F8D-EDC9-6834E2988A03}"/>
              </a:ext>
            </a:extLst>
          </p:cNvPr>
          <p:cNvSpPr/>
          <p:nvPr/>
        </p:nvSpPr>
        <p:spPr>
          <a:xfrm>
            <a:off x="11750347" y="6411598"/>
            <a:ext cx="289344" cy="289344"/>
          </a:xfrm>
          <a:prstGeom prst="ellipse">
            <a:avLst/>
          </a:prstGeom>
          <a:solidFill>
            <a:schemeClr val="bg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CN" altLang="en-US">
              <a:solidFill>
                <a:schemeClr val="accent1"/>
              </a:solidFill>
            </a:endParaRPr>
          </a:p>
        </p:txBody>
      </p:sp>
      <p:sp>
        <p:nvSpPr>
          <p:cNvPr id="16" name="灯片编号占位符 18">
            <a:extLst>
              <a:ext uri="{FF2B5EF4-FFF2-40B4-BE49-F238E27FC236}">
                <a16:creationId xmlns:a16="http://schemas.microsoft.com/office/drawing/2014/main" id="{45A8A10B-29FC-7708-10A0-FC5D0B20DCF4}"/>
              </a:ext>
            </a:extLst>
          </p:cNvPr>
          <p:cNvSpPr>
            <a:spLocks noGrp="1"/>
          </p:cNvSpPr>
          <p:nvPr>
            <p:ph type="sldNum" sz="quarter" idx="12"/>
          </p:nvPr>
        </p:nvSpPr>
        <p:spPr>
          <a:xfrm>
            <a:off x="11619554" y="6373707"/>
            <a:ext cx="550930" cy="365125"/>
          </a:xfrm>
        </p:spPr>
        <p:txBody>
          <a:bodyPr/>
          <a:lstStyle/>
          <a:p>
            <a:pPr algn="ctr"/>
            <a:fld id="{D290E156-FAFE-5144-A047-A692DE980B3A}" type="slidenum">
              <a:rPr kumimoji="1" lang="zh-CN" altLang="en-US" smtClean="0">
                <a:solidFill>
                  <a:schemeClr val="accent1"/>
                </a:solidFill>
                <a:latin typeface="Arial" panose="020B0604020202020204" pitchFamily="34" charset="0"/>
                <a:cs typeface="Arial" panose="020B0604020202020204" pitchFamily="34" charset="0"/>
              </a:rPr>
              <a:t>17</a:t>
            </a:fld>
            <a:endParaRPr kumimoji="1" lang="zh-CN" altLang="en-US" dirty="0">
              <a:solidFill>
                <a:schemeClr val="accent1"/>
              </a:solidFill>
              <a:latin typeface="Arial" panose="020B0604020202020204" pitchFamily="34" charset="0"/>
              <a:cs typeface="Arial" panose="020B0604020202020204" pitchFamily="34" charset="0"/>
            </a:endParaRPr>
          </a:p>
        </p:txBody>
      </p:sp>
      <p:sp>
        <p:nvSpPr>
          <p:cNvPr id="6" name="文本框 5">
            <a:extLst>
              <a:ext uri="{FF2B5EF4-FFF2-40B4-BE49-F238E27FC236}">
                <a16:creationId xmlns:a16="http://schemas.microsoft.com/office/drawing/2014/main" id="{1DFF1267-FADB-B511-3E63-AAF28A874452}"/>
              </a:ext>
            </a:extLst>
          </p:cNvPr>
          <p:cNvSpPr txBox="1"/>
          <p:nvPr/>
        </p:nvSpPr>
        <p:spPr>
          <a:xfrm>
            <a:off x="5032257" y="179975"/>
            <a:ext cx="1985202" cy="369332"/>
          </a:xfrm>
          <a:prstGeom prst="rect">
            <a:avLst/>
          </a:prstGeom>
          <a:noFill/>
        </p:spPr>
        <p:txBody>
          <a:bodyPr wrap="square" rtlCol="0">
            <a:spAutoFit/>
          </a:bodyPr>
          <a:lstStyle/>
          <a:p>
            <a:pPr algn="ctr"/>
            <a:r>
              <a:rPr kumimoji="1" lang="zh-CN" altLang="en-US" b="1" spc="110" dirty="0">
                <a:solidFill>
                  <a:schemeClr val="bg1"/>
                </a:solidFill>
                <a:latin typeface="微软雅黑" panose="020B0503020204020204" pitchFamily="34" charset="-122"/>
                <a:ea typeface="微软雅黑" panose="020B0503020204020204" pitchFamily="34" charset="-122"/>
              </a:rPr>
              <a:t>本科经历</a:t>
            </a:r>
          </a:p>
        </p:txBody>
      </p:sp>
      <p:sp>
        <p:nvSpPr>
          <p:cNvPr id="3" name="任意形状 2">
            <a:extLst>
              <a:ext uri="{FF2B5EF4-FFF2-40B4-BE49-F238E27FC236}">
                <a16:creationId xmlns:a16="http://schemas.microsoft.com/office/drawing/2014/main" id="{791FE1B2-ADFF-A5C2-5D2E-B2F1D853127A}"/>
              </a:ext>
            </a:extLst>
          </p:cNvPr>
          <p:cNvSpPr/>
          <p:nvPr/>
        </p:nvSpPr>
        <p:spPr>
          <a:xfrm>
            <a:off x="0" y="0"/>
            <a:ext cx="9896847" cy="662946"/>
          </a:xfrm>
          <a:custGeom>
            <a:avLst/>
            <a:gdLst>
              <a:gd name="connsiteX0" fmla="*/ 0 w 8681972"/>
              <a:gd name="connsiteY0" fmla="*/ 0 h 689675"/>
              <a:gd name="connsiteX1" fmla="*/ 8681972 w 8681972"/>
              <a:gd name="connsiteY1" fmla="*/ 0 h 689675"/>
              <a:gd name="connsiteX2" fmla="*/ 8461124 w 8681972"/>
              <a:gd name="connsiteY2" fmla="*/ 344837 h 689675"/>
              <a:gd name="connsiteX3" fmla="*/ 8681972 w 8681972"/>
              <a:gd name="connsiteY3" fmla="*/ 689675 h 689675"/>
              <a:gd name="connsiteX4" fmla="*/ 0 w 8681972"/>
              <a:gd name="connsiteY4" fmla="*/ 689675 h 689675"/>
              <a:gd name="connsiteX5" fmla="*/ 0 w 8681972"/>
              <a:gd name="connsiteY5" fmla="*/ 0 h 6896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681972" h="689675">
                <a:moveTo>
                  <a:pt x="0" y="0"/>
                </a:moveTo>
                <a:lnTo>
                  <a:pt x="8681972" y="0"/>
                </a:lnTo>
                <a:lnTo>
                  <a:pt x="8461124" y="344837"/>
                </a:lnTo>
                <a:lnTo>
                  <a:pt x="8681972" y="689675"/>
                </a:lnTo>
                <a:lnTo>
                  <a:pt x="0" y="689675"/>
                </a:lnTo>
                <a:lnTo>
                  <a:pt x="0" y="0"/>
                </a:lnTo>
                <a:close/>
              </a:path>
            </a:pathLst>
          </a:custGeom>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zh-CN" altLang="en-US" sz="1600"/>
          </a:p>
        </p:txBody>
      </p:sp>
      <p:sp>
        <p:nvSpPr>
          <p:cNvPr id="14" name="文本框 13">
            <a:extLst>
              <a:ext uri="{FF2B5EF4-FFF2-40B4-BE49-F238E27FC236}">
                <a16:creationId xmlns:a16="http://schemas.microsoft.com/office/drawing/2014/main" id="{7219C034-A9DF-0377-93A7-1BD9A49DF3DF}"/>
              </a:ext>
            </a:extLst>
          </p:cNvPr>
          <p:cNvSpPr txBox="1"/>
          <p:nvPr/>
        </p:nvSpPr>
        <p:spPr>
          <a:xfrm>
            <a:off x="281981" y="79754"/>
            <a:ext cx="9335355" cy="523220"/>
          </a:xfrm>
          <a:prstGeom prst="rect">
            <a:avLst/>
          </a:prstGeom>
          <a:noFill/>
        </p:spPr>
        <p:txBody>
          <a:bodyPr wrap="square" rtlCol="0">
            <a:spAutoFit/>
          </a:bodyPr>
          <a:lstStyle>
            <a:defPPr>
              <a:defRPr lang="zh-CN"/>
            </a:defPPr>
            <a:lvl1pPr algn="ctr">
              <a:defRPr kumimoji="1" sz="4400" b="1" spc="300">
                <a:solidFill>
                  <a:schemeClr val="bg1"/>
                </a:solidFill>
                <a:latin typeface="微软雅黑" panose="020B0503020204020204" pitchFamily="34" charset="-122"/>
                <a:ea typeface="微软雅黑" panose="020B0503020204020204" pitchFamily="34" charset="-122"/>
              </a:defRPr>
            </a:lvl1pPr>
          </a:lstStyle>
          <a:p>
            <a:pPr algn="l"/>
            <a:r>
              <a:rPr lang="en-US" altLang="zh-CN" sz="1400" dirty="0"/>
              <a:t>Predictive Authority Control: Learning When and How Much to Trust Baseline Controllers for Robust Underwater Robot Tracking</a:t>
            </a:r>
            <a:endParaRPr lang="zh-CN" altLang="en-US" sz="1400" dirty="0"/>
          </a:p>
        </p:txBody>
      </p:sp>
      <p:pic>
        <p:nvPicPr>
          <p:cNvPr id="2" name="图片 1">
            <a:extLst>
              <a:ext uri="{FF2B5EF4-FFF2-40B4-BE49-F238E27FC236}">
                <a16:creationId xmlns:a16="http://schemas.microsoft.com/office/drawing/2014/main" id="{2EAF03AC-440B-8A5C-05B8-96E98E083386}"/>
              </a:ext>
            </a:extLst>
          </p:cNvPr>
          <p:cNvPicPr>
            <a:picLocks noChangeAspect="1"/>
          </p:cNvPicPr>
          <p:nvPr/>
        </p:nvPicPr>
        <p:blipFill>
          <a:blip r:embed="rId2"/>
          <a:stretch>
            <a:fillRect/>
          </a:stretch>
        </p:blipFill>
        <p:spPr>
          <a:xfrm>
            <a:off x="10121441" y="54734"/>
            <a:ext cx="1773578" cy="553478"/>
          </a:xfrm>
          <a:prstGeom prst="rect">
            <a:avLst/>
          </a:prstGeom>
        </p:spPr>
      </p:pic>
      <p:sp>
        <p:nvSpPr>
          <p:cNvPr id="20" name="文本框 19">
            <a:extLst>
              <a:ext uri="{FF2B5EF4-FFF2-40B4-BE49-F238E27FC236}">
                <a16:creationId xmlns:a16="http://schemas.microsoft.com/office/drawing/2014/main" id="{52D3FC6B-C93D-3836-17E0-DB68A65D34C5}"/>
              </a:ext>
            </a:extLst>
          </p:cNvPr>
          <p:cNvSpPr txBox="1"/>
          <p:nvPr/>
        </p:nvSpPr>
        <p:spPr>
          <a:xfrm>
            <a:off x="0" y="738435"/>
            <a:ext cx="12501349" cy="338554"/>
          </a:xfrm>
          <a:prstGeom prst="rect">
            <a:avLst/>
          </a:prstGeom>
          <a:noFill/>
        </p:spPr>
        <p:txBody>
          <a:bodyPr wrap="square" rtlCol="0">
            <a:spAutoFit/>
          </a:bodyPr>
          <a:lstStyle/>
          <a:p>
            <a:pPr marL="342900" indent="-342900">
              <a:buSzPct val="85000"/>
              <a:buFont typeface="Wingdings" panose="05000000000000000000" pitchFamily="2" charset="2"/>
              <a:buChar char="n"/>
            </a:pPr>
            <a:r>
              <a:rPr kumimoji="1" lang="en-US" altLang="zh-CN" sz="1600" b="1" spc="300" dirty="0">
                <a:solidFill>
                  <a:schemeClr val="accent1"/>
                </a:solidFill>
                <a:latin typeface="微软雅黑" panose="020B0503020204020204" pitchFamily="34" charset="-122"/>
                <a:ea typeface="微软雅黑" panose="020B0503020204020204" pitchFamily="34" charset="-122"/>
              </a:rPr>
              <a:t>PAC</a:t>
            </a:r>
            <a:r>
              <a:rPr kumimoji="1" lang="zh-CN" altLang="en-US" sz="1600" b="1" spc="300" dirty="0">
                <a:solidFill>
                  <a:schemeClr val="accent1"/>
                </a:solidFill>
                <a:latin typeface="微软雅黑" panose="020B0503020204020204" pitchFamily="34" charset="-122"/>
                <a:ea typeface="微软雅黑" panose="020B0503020204020204" pitchFamily="34" charset="-122"/>
              </a:rPr>
              <a:t>：面向水下机器人鲁棒跟踪的基线控制器时序信任权重学习</a:t>
            </a:r>
          </a:p>
        </p:txBody>
      </p:sp>
      <p:cxnSp>
        <p:nvCxnSpPr>
          <p:cNvPr id="21" name="直线连接符 12">
            <a:extLst>
              <a:ext uri="{FF2B5EF4-FFF2-40B4-BE49-F238E27FC236}">
                <a16:creationId xmlns:a16="http://schemas.microsoft.com/office/drawing/2014/main" id="{30DAF14F-2B4A-5528-0852-D1A4EB777969}"/>
              </a:ext>
            </a:extLst>
          </p:cNvPr>
          <p:cNvCxnSpPr/>
          <p:nvPr/>
        </p:nvCxnSpPr>
        <p:spPr>
          <a:xfrm>
            <a:off x="908" y="1167007"/>
            <a:ext cx="10978564" cy="0"/>
          </a:xfrm>
          <a:prstGeom prst="line">
            <a:avLst/>
          </a:prstGeom>
        </p:spPr>
        <p:style>
          <a:lnRef idx="1">
            <a:schemeClr val="accent1"/>
          </a:lnRef>
          <a:fillRef idx="0">
            <a:schemeClr val="accent1"/>
          </a:fillRef>
          <a:effectRef idx="0">
            <a:schemeClr val="accent1"/>
          </a:effectRef>
          <a:fontRef idx="minor">
            <a:schemeClr val="tx1"/>
          </a:fontRef>
        </p:style>
      </p:cxnSp>
      <p:sp>
        <p:nvSpPr>
          <p:cNvPr id="12" name="文本框 11">
            <a:extLst>
              <a:ext uri="{FF2B5EF4-FFF2-40B4-BE49-F238E27FC236}">
                <a16:creationId xmlns:a16="http://schemas.microsoft.com/office/drawing/2014/main" id="{8BB1E977-B0AD-F74F-603A-1877B0DB5392}"/>
              </a:ext>
            </a:extLst>
          </p:cNvPr>
          <p:cNvSpPr txBox="1"/>
          <p:nvPr/>
        </p:nvSpPr>
        <p:spPr>
          <a:xfrm>
            <a:off x="0" y="1244052"/>
            <a:ext cx="10978564" cy="1621598"/>
          </a:xfrm>
          <a:prstGeom prst="rect">
            <a:avLst/>
          </a:prstGeom>
          <a:noFill/>
        </p:spPr>
        <p:txBody>
          <a:bodyPr wrap="square" rtlCol="0">
            <a:spAutoFit/>
          </a:bodyPr>
          <a:lstStyle>
            <a:defPPr>
              <a:defRPr lang="zh-CN"/>
            </a:defPPr>
            <a:lvl1pPr algn="ctr">
              <a:defRPr kumimoji="1" sz="4400" b="1" spc="300">
                <a:solidFill>
                  <a:schemeClr val="bg1"/>
                </a:solidFill>
                <a:latin typeface="微软雅黑" panose="020B0503020204020204" pitchFamily="34" charset="-122"/>
                <a:ea typeface="微软雅黑" panose="020B0503020204020204" pitchFamily="34" charset="-122"/>
              </a:defRPr>
            </a:lvl1pPr>
          </a:lstStyle>
          <a:p>
            <a:pPr marL="342900" indent="-342900" algn="l">
              <a:lnSpc>
                <a:spcPct val="120000"/>
              </a:lnSpc>
              <a:buClr>
                <a:schemeClr val="accent1"/>
              </a:buClr>
              <a:buSzPct val="80000"/>
              <a:buFont typeface="Wingdings" panose="05000000000000000000" pitchFamily="2" charset="2"/>
              <a:buChar char="p"/>
            </a:pPr>
            <a:r>
              <a:rPr lang="zh-CN" altLang="en-US" sz="1400" dirty="0">
                <a:solidFill>
                  <a:schemeClr val="tx1">
                    <a:lumMod val="75000"/>
                    <a:lumOff val="25000"/>
                  </a:schemeClr>
                </a:solidFill>
              </a:rPr>
              <a:t>主结果：OOD 跟踪 RMSE 0.161→0.116 m（−28%，CI [−0.074, −0.015]；回合级自助法一致）。固定 α=0.5 达 0.120 m，相差不足 3%——残差的价值集中在最需要自适应处：执行器退化族较固定混合再降 28%。分布内代价 +0.4% / 艏向 +4.3%，如实报告。</a:t>
            </a:r>
          </a:p>
          <a:p>
            <a:pPr marL="342900" indent="-342900" algn="l">
              <a:lnSpc>
                <a:spcPct val="120000"/>
              </a:lnSpc>
              <a:buClr>
                <a:schemeClr val="accent1"/>
              </a:buClr>
              <a:buSzPct val="80000"/>
              <a:buFont typeface="Wingdings" panose="05000000000000000000" pitchFamily="2" charset="2"/>
              <a:buChar char="p"/>
            </a:pPr>
            <a:r>
              <a:rPr lang="zh-CN" altLang="en-US" sz="1400" dirty="0">
                <a:solidFill>
                  <a:schemeClr val="tx1">
                    <a:lumMod val="75000"/>
                    <a:lumOff val="25000"/>
                  </a:schemeClr>
                </a:solidFill>
              </a:rPr>
              <a:t>图</a:t>
            </a:r>
            <a:r>
              <a:rPr lang="en-US" altLang="zh-CN" sz="1400" dirty="0">
                <a:solidFill>
                  <a:schemeClr val="tx1">
                    <a:lumMod val="75000"/>
                    <a:lumOff val="25000"/>
                  </a:schemeClr>
                </a:solidFill>
              </a:rPr>
              <a:t>b</a:t>
            </a:r>
            <a:r>
              <a:rPr lang="zh-CN" altLang="en-US" sz="1400" dirty="0">
                <a:solidFill>
                  <a:schemeClr val="tx1">
                    <a:lumMod val="75000"/>
                    <a:lumOff val="25000"/>
                  </a:schemeClr>
                </a:solidFill>
              </a:rPr>
              <a:t>进一步展示了 </a:t>
            </a:r>
            <a:r>
              <a:rPr lang="en-US" altLang="zh-CN" sz="1400" dirty="0">
                <a:solidFill>
                  <a:schemeClr val="tx1">
                    <a:lumMod val="75000"/>
                    <a:lumOff val="25000"/>
                  </a:schemeClr>
                </a:solidFill>
              </a:rPr>
              <a:t>3D tracking error</a:t>
            </a:r>
            <a:r>
              <a:rPr lang="zh-CN" altLang="en-US" sz="1400" dirty="0">
                <a:solidFill>
                  <a:schemeClr val="tx1">
                    <a:lumMod val="75000"/>
                    <a:lumOff val="25000"/>
                  </a:schemeClr>
                </a:solidFill>
              </a:rPr>
              <a:t>、</a:t>
            </a:r>
            <a:r>
              <a:rPr lang="en-US" altLang="zh-CN" sz="1400" dirty="0">
                <a:solidFill>
                  <a:schemeClr val="tx1">
                    <a:lumMod val="75000"/>
                    <a:lumOff val="25000"/>
                  </a:schemeClr>
                </a:solidFill>
              </a:rPr>
              <a:t>3D attitude error </a:t>
            </a:r>
            <a:r>
              <a:rPr lang="zh-CN" altLang="en-US" sz="1400" dirty="0">
                <a:solidFill>
                  <a:schemeClr val="tx1">
                    <a:lumMod val="75000"/>
                    <a:lumOff val="25000"/>
                  </a:schemeClr>
                </a:solidFill>
              </a:rPr>
              <a:t>与 </a:t>
            </a:r>
            <a:r>
              <a:rPr lang="en-US" altLang="zh-CN" sz="1400" dirty="0">
                <a:solidFill>
                  <a:schemeClr val="tx1">
                    <a:lumMod val="75000"/>
                    <a:lumOff val="25000"/>
                  </a:schemeClr>
                </a:solidFill>
              </a:rPr>
              <a:t>authority alpha </a:t>
            </a:r>
            <a:r>
              <a:rPr lang="zh-CN" altLang="en-US" sz="1400" dirty="0">
                <a:solidFill>
                  <a:schemeClr val="tx1">
                    <a:lumMod val="75000"/>
                    <a:lumOff val="25000"/>
                  </a:schemeClr>
                </a:solidFill>
              </a:rPr>
              <a:t>之间的关系。点的颜色表示 </a:t>
            </a:r>
            <a:r>
              <a:rPr lang="en-US" altLang="zh-CN" sz="1400" dirty="0">
                <a:solidFill>
                  <a:schemeClr val="tx1">
                    <a:lumMod val="75000"/>
                    <a:lumOff val="25000"/>
                  </a:schemeClr>
                </a:solidFill>
              </a:rPr>
              <a:t>PAC </a:t>
            </a:r>
            <a:r>
              <a:rPr lang="zh-CN" altLang="en-US" sz="1400" dirty="0">
                <a:solidFill>
                  <a:schemeClr val="tx1">
                    <a:lumMod val="75000"/>
                    <a:lumOff val="25000"/>
                  </a:schemeClr>
                </a:solidFill>
              </a:rPr>
              <a:t>分配给 </a:t>
            </a:r>
            <a:r>
              <a:rPr lang="en-US" altLang="zh-CN" sz="1400" dirty="0">
                <a:solidFill>
                  <a:schemeClr val="tx1">
                    <a:lumMod val="75000"/>
                    <a:lumOff val="25000"/>
                  </a:schemeClr>
                </a:solidFill>
              </a:rPr>
              <a:t>MPC </a:t>
            </a:r>
            <a:r>
              <a:rPr lang="zh-CN" altLang="en-US" sz="1400" dirty="0">
                <a:solidFill>
                  <a:schemeClr val="tx1">
                    <a:lumMod val="75000"/>
                    <a:lumOff val="25000"/>
                  </a:schemeClr>
                </a:solidFill>
              </a:rPr>
              <a:t>侧控制器的权重大小，因此该图可以说明 </a:t>
            </a:r>
            <a:r>
              <a:rPr lang="en-US" altLang="zh-CN" sz="1400" dirty="0">
                <a:solidFill>
                  <a:schemeClr val="tx1">
                    <a:lumMod val="75000"/>
                    <a:lumOff val="25000"/>
                  </a:schemeClr>
                </a:solidFill>
              </a:rPr>
              <a:t>PA</a:t>
            </a:r>
            <a:r>
              <a:rPr lang="zh-CN" altLang="en-US" sz="1400" dirty="0">
                <a:solidFill>
                  <a:schemeClr val="tx1">
                    <a:lumMod val="75000"/>
                    <a:lumOff val="25000"/>
                  </a:schemeClr>
                </a:solidFill>
              </a:rPr>
              <a:t>是根据当前误差状态动态调整控制权重。</a:t>
            </a:r>
          </a:p>
        </p:txBody>
      </p:sp>
      <p:pic>
        <p:nvPicPr>
          <p:cNvPr id="22" name="Picture 21" descr="fig4_closed_loop_results.png"/>
          <p:cNvPicPr>
            <a:picLocks noChangeAspect="1"/>
          </p:cNvPicPr>
          <p:nvPr/>
        </p:nvPicPr>
        <p:blipFill>
          <a:blip r:embed="rId3"/>
          <a:stretch>
            <a:fillRect/>
          </a:stretch>
        </p:blipFill>
        <p:spPr>
          <a:xfrm>
            <a:off x="1526081" y="2648145"/>
            <a:ext cx="8595360" cy="4386584"/>
          </a:xfrm>
          <a:prstGeom prst="rect">
            <a:avLst/>
          </a:prstGeom>
        </p:spPr>
      </p:pic>
    </p:spTree>
    <p:extLst>
      <p:ext uri="{BB962C8B-B14F-4D97-AF65-F5344CB8AC3E}">
        <p14:creationId xmlns:p14="http://schemas.microsoft.com/office/powerpoint/2010/main" val="3023168777"/>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A722F0-4403-5019-B44C-8031920A8AF1}"/>
            </a:ext>
          </a:extLst>
        </p:cNvPr>
        <p:cNvGrpSpPr/>
        <p:nvPr/>
      </p:nvGrpSpPr>
      <p:grpSpPr>
        <a:xfrm>
          <a:off x="0" y="0"/>
          <a:ext cx="0" cy="0"/>
          <a:chOff x="0" y="0"/>
          <a:chExt cx="0" cy="0"/>
        </a:xfrm>
      </p:grpSpPr>
      <p:sp>
        <p:nvSpPr>
          <p:cNvPr id="7" name="文本框 6">
            <a:extLst>
              <a:ext uri="{FF2B5EF4-FFF2-40B4-BE49-F238E27FC236}">
                <a16:creationId xmlns:a16="http://schemas.microsoft.com/office/drawing/2014/main" id="{ECE81ED8-1D53-32F6-729E-D972F9AB280A}"/>
              </a:ext>
            </a:extLst>
          </p:cNvPr>
          <p:cNvSpPr txBox="1"/>
          <p:nvPr/>
        </p:nvSpPr>
        <p:spPr>
          <a:xfrm>
            <a:off x="10461848" y="299500"/>
            <a:ext cx="1197832" cy="369332"/>
          </a:xfrm>
          <a:prstGeom prst="rect">
            <a:avLst/>
          </a:prstGeom>
          <a:noFill/>
        </p:spPr>
        <p:txBody>
          <a:bodyPr wrap="square" rtlCol="0">
            <a:spAutoFit/>
          </a:bodyPr>
          <a:lstStyle/>
          <a:p>
            <a:pPr algn="ctr"/>
            <a:r>
              <a:rPr kumimoji="1" lang="zh-CN" altLang="en-US" b="1" spc="110" dirty="0">
                <a:solidFill>
                  <a:schemeClr val="bg1"/>
                </a:solidFill>
                <a:latin typeface="微软雅黑" panose="020B0503020204020204" pitchFamily="34" charset="-122"/>
                <a:ea typeface="微软雅黑" panose="020B0503020204020204" pitchFamily="34" charset="-122"/>
              </a:rPr>
              <a:t>读研展望</a:t>
            </a:r>
          </a:p>
        </p:txBody>
      </p:sp>
      <p:sp>
        <p:nvSpPr>
          <p:cNvPr id="9" name="文本框 8">
            <a:extLst>
              <a:ext uri="{FF2B5EF4-FFF2-40B4-BE49-F238E27FC236}">
                <a16:creationId xmlns:a16="http://schemas.microsoft.com/office/drawing/2014/main" id="{908933EB-556D-5C92-348F-DFE102019004}"/>
              </a:ext>
            </a:extLst>
          </p:cNvPr>
          <p:cNvSpPr txBox="1"/>
          <p:nvPr/>
        </p:nvSpPr>
        <p:spPr>
          <a:xfrm>
            <a:off x="2875146" y="179975"/>
            <a:ext cx="1336142" cy="369332"/>
          </a:xfrm>
          <a:prstGeom prst="rect">
            <a:avLst/>
          </a:prstGeom>
          <a:noFill/>
        </p:spPr>
        <p:txBody>
          <a:bodyPr wrap="square" rtlCol="0">
            <a:spAutoFit/>
          </a:bodyPr>
          <a:lstStyle/>
          <a:p>
            <a:pPr algn="ctr"/>
            <a:r>
              <a:rPr kumimoji="1" lang="zh-CN" altLang="en-US" b="1" spc="110" dirty="0">
                <a:solidFill>
                  <a:schemeClr val="bg1"/>
                </a:solidFill>
                <a:latin typeface="微软雅黑" panose="020B0503020204020204" pitchFamily="34" charset="-122"/>
                <a:ea typeface="微软雅黑" panose="020B0503020204020204" pitchFamily="34" charset="-122"/>
              </a:rPr>
              <a:t>个人简介</a:t>
            </a:r>
          </a:p>
        </p:txBody>
      </p:sp>
      <p:sp>
        <p:nvSpPr>
          <p:cNvPr id="15" name="椭圆 14">
            <a:extLst>
              <a:ext uri="{FF2B5EF4-FFF2-40B4-BE49-F238E27FC236}">
                <a16:creationId xmlns:a16="http://schemas.microsoft.com/office/drawing/2014/main" id="{799DC40D-3996-3104-9C0B-4A0A99CD8EF4}"/>
              </a:ext>
            </a:extLst>
          </p:cNvPr>
          <p:cNvSpPr/>
          <p:nvPr/>
        </p:nvSpPr>
        <p:spPr>
          <a:xfrm>
            <a:off x="11750347" y="6411598"/>
            <a:ext cx="289344" cy="289344"/>
          </a:xfrm>
          <a:prstGeom prst="ellipse">
            <a:avLst/>
          </a:prstGeom>
          <a:solidFill>
            <a:schemeClr val="bg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CN" altLang="en-US">
              <a:solidFill>
                <a:schemeClr val="accent1"/>
              </a:solidFill>
            </a:endParaRPr>
          </a:p>
        </p:txBody>
      </p:sp>
      <p:sp>
        <p:nvSpPr>
          <p:cNvPr id="16" name="灯片编号占位符 18">
            <a:extLst>
              <a:ext uri="{FF2B5EF4-FFF2-40B4-BE49-F238E27FC236}">
                <a16:creationId xmlns:a16="http://schemas.microsoft.com/office/drawing/2014/main" id="{A107A04B-76C8-5AFC-4EBB-E9D4BBA94B61}"/>
              </a:ext>
            </a:extLst>
          </p:cNvPr>
          <p:cNvSpPr>
            <a:spLocks noGrp="1"/>
          </p:cNvSpPr>
          <p:nvPr>
            <p:ph type="sldNum" sz="quarter" idx="12"/>
          </p:nvPr>
        </p:nvSpPr>
        <p:spPr>
          <a:xfrm>
            <a:off x="11619554" y="6373707"/>
            <a:ext cx="550930" cy="365125"/>
          </a:xfrm>
        </p:spPr>
        <p:txBody>
          <a:bodyPr/>
          <a:lstStyle/>
          <a:p>
            <a:pPr algn="ctr"/>
            <a:fld id="{D290E156-FAFE-5144-A047-A692DE980B3A}" type="slidenum">
              <a:rPr kumimoji="1" lang="zh-CN" altLang="en-US" smtClean="0">
                <a:solidFill>
                  <a:schemeClr val="accent1"/>
                </a:solidFill>
                <a:latin typeface="Arial" panose="020B0604020202020204" pitchFamily="34" charset="0"/>
                <a:cs typeface="Arial" panose="020B0604020202020204" pitchFamily="34" charset="0"/>
              </a:rPr>
              <a:t>18</a:t>
            </a:fld>
            <a:endParaRPr kumimoji="1" lang="zh-CN" altLang="en-US" dirty="0">
              <a:solidFill>
                <a:schemeClr val="accent1"/>
              </a:solidFill>
              <a:latin typeface="Arial" panose="020B0604020202020204" pitchFamily="34" charset="0"/>
              <a:cs typeface="Arial" panose="020B0604020202020204" pitchFamily="34" charset="0"/>
            </a:endParaRPr>
          </a:p>
        </p:txBody>
      </p:sp>
      <p:sp>
        <p:nvSpPr>
          <p:cNvPr id="6" name="文本框 5">
            <a:extLst>
              <a:ext uri="{FF2B5EF4-FFF2-40B4-BE49-F238E27FC236}">
                <a16:creationId xmlns:a16="http://schemas.microsoft.com/office/drawing/2014/main" id="{C85B719C-CD0F-52C2-963B-0E21C37DA80F}"/>
              </a:ext>
            </a:extLst>
          </p:cNvPr>
          <p:cNvSpPr txBox="1"/>
          <p:nvPr/>
        </p:nvSpPr>
        <p:spPr>
          <a:xfrm>
            <a:off x="5032257" y="179975"/>
            <a:ext cx="1985202" cy="369332"/>
          </a:xfrm>
          <a:prstGeom prst="rect">
            <a:avLst/>
          </a:prstGeom>
          <a:noFill/>
        </p:spPr>
        <p:txBody>
          <a:bodyPr wrap="square" rtlCol="0">
            <a:spAutoFit/>
          </a:bodyPr>
          <a:lstStyle/>
          <a:p>
            <a:pPr algn="ctr"/>
            <a:r>
              <a:rPr kumimoji="1" lang="zh-CN" altLang="en-US" b="1" spc="110" dirty="0">
                <a:solidFill>
                  <a:schemeClr val="bg1"/>
                </a:solidFill>
                <a:latin typeface="微软雅黑" panose="020B0503020204020204" pitchFamily="34" charset="-122"/>
                <a:ea typeface="微软雅黑" panose="020B0503020204020204" pitchFamily="34" charset="-122"/>
              </a:rPr>
              <a:t>本科经历</a:t>
            </a:r>
          </a:p>
        </p:txBody>
      </p:sp>
      <p:sp>
        <p:nvSpPr>
          <p:cNvPr id="3" name="任意形状 2">
            <a:extLst>
              <a:ext uri="{FF2B5EF4-FFF2-40B4-BE49-F238E27FC236}">
                <a16:creationId xmlns:a16="http://schemas.microsoft.com/office/drawing/2014/main" id="{AA1B0154-BA93-8DC0-0011-69A77E8AB2B3}"/>
              </a:ext>
            </a:extLst>
          </p:cNvPr>
          <p:cNvSpPr/>
          <p:nvPr/>
        </p:nvSpPr>
        <p:spPr>
          <a:xfrm>
            <a:off x="0" y="0"/>
            <a:ext cx="9896847" cy="662946"/>
          </a:xfrm>
          <a:custGeom>
            <a:avLst/>
            <a:gdLst>
              <a:gd name="connsiteX0" fmla="*/ 0 w 8681972"/>
              <a:gd name="connsiteY0" fmla="*/ 0 h 689675"/>
              <a:gd name="connsiteX1" fmla="*/ 8681972 w 8681972"/>
              <a:gd name="connsiteY1" fmla="*/ 0 h 689675"/>
              <a:gd name="connsiteX2" fmla="*/ 8461124 w 8681972"/>
              <a:gd name="connsiteY2" fmla="*/ 344837 h 689675"/>
              <a:gd name="connsiteX3" fmla="*/ 8681972 w 8681972"/>
              <a:gd name="connsiteY3" fmla="*/ 689675 h 689675"/>
              <a:gd name="connsiteX4" fmla="*/ 0 w 8681972"/>
              <a:gd name="connsiteY4" fmla="*/ 689675 h 689675"/>
              <a:gd name="connsiteX5" fmla="*/ 0 w 8681972"/>
              <a:gd name="connsiteY5" fmla="*/ 0 h 6896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681972" h="689675">
                <a:moveTo>
                  <a:pt x="0" y="0"/>
                </a:moveTo>
                <a:lnTo>
                  <a:pt x="8681972" y="0"/>
                </a:lnTo>
                <a:lnTo>
                  <a:pt x="8461124" y="344837"/>
                </a:lnTo>
                <a:lnTo>
                  <a:pt x="8681972" y="689675"/>
                </a:lnTo>
                <a:lnTo>
                  <a:pt x="0" y="689675"/>
                </a:lnTo>
                <a:lnTo>
                  <a:pt x="0" y="0"/>
                </a:lnTo>
                <a:close/>
              </a:path>
            </a:pathLst>
          </a:custGeom>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zh-CN" altLang="en-US" sz="1600"/>
          </a:p>
        </p:txBody>
      </p:sp>
      <p:sp>
        <p:nvSpPr>
          <p:cNvPr id="14" name="文本框 13">
            <a:extLst>
              <a:ext uri="{FF2B5EF4-FFF2-40B4-BE49-F238E27FC236}">
                <a16:creationId xmlns:a16="http://schemas.microsoft.com/office/drawing/2014/main" id="{88BD9A79-A430-194C-C533-E3D3E199945E}"/>
              </a:ext>
            </a:extLst>
          </p:cNvPr>
          <p:cNvSpPr txBox="1"/>
          <p:nvPr/>
        </p:nvSpPr>
        <p:spPr>
          <a:xfrm>
            <a:off x="281981" y="79754"/>
            <a:ext cx="9335355" cy="523220"/>
          </a:xfrm>
          <a:prstGeom prst="rect">
            <a:avLst/>
          </a:prstGeom>
          <a:noFill/>
        </p:spPr>
        <p:txBody>
          <a:bodyPr wrap="square" rtlCol="0">
            <a:spAutoFit/>
          </a:bodyPr>
          <a:lstStyle>
            <a:defPPr>
              <a:defRPr lang="zh-CN"/>
            </a:defPPr>
            <a:lvl1pPr algn="ctr">
              <a:defRPr kumimoji="1" sz="4400" b="1" spc="300">
                <a:solidFill>
                  <a:schemeClr val="bg1"/>
                </a:solidFill>
                <a:latin typeface="微软雅黑" panose="020B0503020204020204" pitchFamily="34" charset="-122"/>
                <a:ea typeface="微软雅黑" panose="020B0503020204020204" pitchFamily="34" charset="-122"/>
              </a:defRPr>
            </a:lvl1pPr>
          </a:lstStyle>
          <a:p>
            <a:pPr algn="l"/>
            <a:r>
              <a:rPr lang="en-US" altLang="zh-CN" sz="1400" dirty="0"/>
              <a:t>Predictive Authority Control: Learning When and How Much to Trust Baseline Controllers for Robust Underwater Robot Tracking</a:t>
            </a:r>
            <a:endParaRPr lang="zh-CN" altLang="en-US" sz="1400" dirty="0"/>
          </a:p>
        </p:txBody>
      </p:sp>
      <p:pic>
        <p:nvPicPr>
          <p:cNvPr id="2" name="图片 1">
            <a:extLst>
              <a:ext uri="{FF2B5EF4-FFF2-40B4-BE49-F238E27FC236}">
                <a16:creationId xmlns:a16="http://schemas.microsoft.com/office/drawing/2014/main" id="{1F2A304A-AD85-AC64-74CA-775631B8B525}"/>
              </a:ext>
            </a:extLst>
          </p:cNvPr>
          <p:cNvPicPr>
            <a:picLocks noChangeAspect="1"/>
          </p:cNvPicPr>
          <p:nvPr/>
        </p:nvPicPr>
        <p:blipFill>
          <a:blip r:embed="rId2"/>
          <a:stretch>
            <a:fillRect/>
          </a:stretch>
        </p:blipFill>
        <p:spPr>
          <a:xfrm>
            <a:off x="10121441" y="54734"/>
            <a:ext cx="1773578" cy="553478"/>
          </a:xfrm>
          <a:prstGeom prst="rect">
            <a:avLst/>
          </a:prstGeom>
        </p:spPr>
      </p:pic>
      <p:sp>
        <p:nvSpPr>
          <p:cNvPr id="20" name="文本框 19">
            <a:extLst>
              <a:ext uri="{FF2B5EF4-FFF2-40B4-BE49-F238E27FC236}">
                <a16:creationId xmlns:a16="http://schemas.microsoft.com/office/drawing/2014/main" id="{C6CB09E4-3A8F-B088-E31E-2C237030CEF7}"/>
              </a:ext>
            </a:extLst>
          </p:cNvPr>
          <p:cNvSpPr txBox="1"/>
          <p:nvPr/>
        </p:nvSpPr>
        <p:spPr>
          <a:xfrm>
            <a:off x="0" y="738435"/>
            <a:ext cx="12501349" cy="338554"/>
          </a:xfrm>
          <a:prstGeom prst="rect">
            <a:avLst/>
          </a:prstGeom>
          <a:noFill/>
        </p:spPr>
        <p:txBody>
          <a:bodyPr wrap="square" rtlCol="0">
            <a:spAutoFit/>
          </a:bodyPr>
          <a:lstStyle/>
          <a:p>
            <a:pPr marL="342900" indent="-342900">
              <a:buSzPct val="85000"/>
              <a:buFont typeface="Wingdings" panose="05000000000000000000" pitchFamily="2" charset="2"/>
              <a:buChar char="n"/>
            </a:pPr>
            <a:r>
              <a:rPr kumimoji="1" lang="en-US" altLang="zh-CN" sz="1600" b="1" spc="300" dirty="0">
                <a:solidFill>
                  <a:schemeClr val="accent1"/>
                </a:solidFill>
                <a:latin typeface="微软雅黑" panose="020B0503020204020204" pitchFamily="34" charset="-122"/>
                <a:ea typeface="微软雅黑" panose="020B0503020204020204" pitchFamily="34" charset="-122"/>
              </a:rPr>
              <a:t>PAC</a:t>
            </a:r>
            <a:r>
              <a:rPr kumimoji="1" lang="zh-CN" altLang="en-US" sz="1600" b="1" spc="300" dirty="0">
                <a:solidFill>
                  <a:schemeClr val="accent1"/>
                </a:solidFill>
                <a:latin typeface="微软雅黑" panose="020B0503020204020204" pitchFamily="34" charset="-122"/>
                <a:ea typeface="微软雅黑" panose="020B0503020204020204" pitchFamily="34" charset="-122"/>
              </a:rPr>
              <a:t>：面向水下机器人鲁棒跟踪的基线控制器时序信任权重学习</a:t>
            </a:r>
          </a:p>
        </p:txBody>
      </p:sp>
      <p:cxnSp>
        <p:nvCxnSpPr>
          <p:cNvPr id="21" name="直线连接符 12">
            <a:extLst>
              <a:ext uri="{FF2B5EF4-FFF2-40B4-BE49-F238E27FC236}">
                <a16:creationId xmlns:a16="http://schemas.microsoft.com/office/drawing/2014/main" id="{F4AE35B9-76E6-250D-A377-84761F1C9326}"/>
              </a:ext>
            </a:extLst>
          </p:cNvPr>
          <p:cNvCxnSpPr/>
          <p:nvPr/>
        </p:nvCxnSpPr>
        <p:spPr>
          <a:xfrm>
            <a:off x="908" y="1167007"/>
            <a:ext cx="10978564" cy="0"/>
          </a:xfrm>
          <a:prstGeom prst="line">
            <a:avLst/>
          </a:prstGeom>
        </p:spPr>
        <p:style>
          <a:lnRef idx="1">
            <a:schemeClr val="accent1"/>
          </a:lnRef>
          <a:fillRef idx="0">
            <a:schemeClr val="accent1"/>
          </a:fillRef>
          <a:effectRef idx="0">
            <a:schemeClr val="accent1"/>
          </a:effectRef>
          <a:fontRef idx="minor">
            <a:schemeClr val="tx1"/>
          </a:fontRef>
        </p:style>
      </p:cxnSp>
      <p:sp>
        <p:nvSpPr>
          <p:cNvPr id="12" name="文本框 11">
            <a:extLst>
              <a:ext uri="{FF2B5EF4-FFF2-40B4-BE49-F238E27FC236}">
                <a16:creationId xmlns:a16="http://schemas.microsoft.com/office/drawing/2014/main" id="{311AEC22-0384-F7A9-397D-54F98CAFD13D}"/>
              </a:ext>
            </a:extLst>
          </p:cNvPr>
          <p:cNvSpPr txBox="1"/>
          <p:nvPr/>
        </p:nvSpPr>
        <p:spPr>
          <a:xfrm>
            <a:off x="0" y="1244052"/>
            <a:ext cx="10978564" cy="362792"/>
          </a:xfrm>
          <a:prstGeom prst="rect">
            <a:avLst/>
          </a:prstGeom>
          <a:noFill/>
        </p:spPr>
        <p:txBody>
          <a:bodyPr wrap="square" rtlCol="0">
            <a:spAutoFit/>
          </a:bodyPr>
          <a:lstStyle>
            <a:defPPr>
              <a:defRPr lang="zh-CN"/>
            </a:defPPr>
            <a:lvl1pPr algn="ctr">
              <a:defRPr kumimoji="1" sz="4400" b="1" spc="300">
                <a:solidFill>
                  <a:schemeClr val="bg1"/>
                </a:solidFill>
                <a:latin typeface="微软雅黑" panose="020B0503020204020204" pitchFamily="34" charset="-122"/>
                <a:ea typeface="微软雅黑" panose="020B0503020204020204" pitchFamily="34" charset="-122"/>
              </a:defRPr>
            </a:lvl1pPr>
          </a:lstStyle>
          <a:p>
            <a:pPr marL="342900" indent="-342900" algn="l">
              <a:lnSpc>
                <a:spcPct val="120000"/>
              </a:lnSpc>
              <a:buClr>
                <a:schemeClr val="accent1"/>
              </a:buClr>
              <a:buSzPct val="80000"/>
              <a:buFont typeface="Wingdings" panose="05000000000000000000" pitchFamily="2" charset="2"/>
              <a:buChar char="p"/>
            </a:pPr>
            <a:r>
              <a:rPr lang="zh-CN" altLang="en-US" sz="1600" dirty="0">
                <a:solidFill>
                  <a:schemeClr val="tx1">
                    <a:lumMod val="75000"/>
                    <a:lumOff val="25000"/>
                  </a:schemeClr>
                </a:solidFill>
              </a:rPr>
              <a:t>控制质量与代价：增益不是靠执行器滥用换来的</a:t>
            </a:r>
          </a:p>
        </p:txBody>
      </p:sp>
      <p:pic>
        <p:nvPicPr>
          <p:cNvPr id="22" name="Picture 21" descr="fig6_cost_tradeoff.png"/>
          <p:cNvPicPr>
            <a:picLocks noChangeAspect="1"/>
          </p:cNvPicPr>
          <p:nvPr/>
        </p:nvPicPr>
        <p:blipFill>
          <a:blip r:embed="rId3"/>
          <a:stretch>
            <a:fillRect/>
          </a:stretch>
        </p:blipFill>
        <p:spPr>
          <a:xfrm>
            <a:off x="-109729" y="2450592"/>
            <a:ext cx="8003431" cy="3240399"/>
          </a:xfrm>
          <a:prstGeom prst="rect">
            <a:avLst/>
          </a:prstGeom>
        </p:spPr>
      </p:pic>
      <p:sp>
        <p:nvSpPr>
          <p:cNvPr id="23" name="TextBox 22"/>
          <p:cNvSpPr txBox="1"/>
          <p:nvPr/>
        </p:nvSpPr>
        <p:spPr>
          <a:xfrm>
            <a:off x="8046720" y="1920240"/>
            <a:ext cx="3931920" cy="4389120"/>
          </a:xfrm>
          <a:prstGeom prst="rect">
            <a:avLst/>
          </a:prstGeom>
          <a:noFill/>
        </p:spPr>
        <p:txBody>
          <a:bodyPr wrap="square">
            <a:spAutoFit/>
          </a:bodyPr>
          <a:lstStyle/>
          <a:p>
            <a:pPr>
              <a:spcAft>
                <a:spcPts val="400"/>
              </a:spcAft>
            </a:pPr>
            <a:r>
              <a:rPr sz="1500" b="1" dirty="0" err="1">
                <a:latin typeface="微软雅黑"/>
              </a:rPr>
              <a:t>控制质量（OOD</a:t>
            </a:r>
            <a:r>
              <a:rPr sz="1500" b="1" dirty="0">
                <a:latin typeface="微软雅黑"/>
              </a:rPr>
              <a:t>）</a:t>
            </a:r>
          </a:p>
          <a:p>
            <a:pPr>
              <a:spcAft>
                <a:spcPts val="400"/>
              </a:spcAft>
            </a:pPr>
            <a:r>
              <a:rPr sz="1300" b="0" dirty="0" err="1">
                <a:latin typeface="微软雅黑"/>
              </a:rPr>
              <a:t>饱和步占比</a:t>
            </a:r>
            <a:r>
              <a:rPr sz="1300" b="0" dirty="0">
                <a:latin typeface="微软雅黑"/>
              </a:rPr>
              <a:t> 0.126：六方法最低</a:t>
            </a:r>
          </a:p>
          <a:p>
            <a:pPr>
              <a:spcAft>
                <a:spcPts val="400"/>
              </a:spcAft>
            </a:pPr>
            <a:r>
              <a:rPr sz="1300" b="0" dirty="0" err="1">
                <a:latin typeface="微软雅黑"/>
              </a:rPr>
              <a:t>控制代价</a:t>
            </a:r>
            <a:r>
              <a:rPr sz="1300" b="0" dirty="0">
                <a:latin typeface="微软雅黑"/>
              </a:rPr>
              <a:t> 31.9：六方法最低</a:t>
            </a:r>
          </a:p>
          <a:p>
            <a:pPr>
              <a:spcAft>
                <a:spcPts val="400"/>
              </a:spcAft>
            </a:pPr>
            <a:r>
              <a:rPr sz="1300" b="0" dirty="0" err="1">
                <a:latin typeface="微软雅黑"/>
              </a:rPr>
              <a:t>配对代价效应</a:t>
            </a:r>
            <a:r>
              <a:rPr sz="1300" b="0" dirty="0">
                <a:latin typeface="微软雅黑"/>
              </a:rPr>
              <a:t> −1.78 [−2.31, −1.26]</a:t>
            </a:r>
          </a:p>
          <a:p>
            <a:pPr>
              <a:spcAft>
                <a:spcPts val="400"/>
              </a:spcAft>
            </a:pPr>
            <a:r>
              <a:rPr sz="1300" b="0" dirty="0" err="1">
                <a:latin typeface="微软雅黑"/>
              </a:rPr>
              <a:t>准则</a:t>
            </a:r>
            <a:r>
              <a:rPr sz="1300" b="0" dirty="0">
                <a:latin typeface="微软雅黑"/>
              </a:rPr>
              <a:t>③「</a:t>
            </a:r>
            <a:r>
              <a:rPr sz="1300" b="0" dirty="0" err="1">
                <a:latin typeface="微软雅黑"/>
              </a:rPr>
              <a:t>不以饱和</a:t>
            </a:r>
            <a:r>
              <a:rPr sz="1300" b="0" dirty="0">
                <a:latin typeface="微软雅黑"/>
              </a:rPr>
              <a:t>/</a:t>
            </a:r>
            <a:r>
              <a:rPr sz="1300" b="0" dirty="0" err="1">
                <a:latin typeface="微软雅黑"/>
              </a:rPr>
              <a:t>约束换增益」的实证</a:t>
            </a:r>
            <a:endParaRPr sz="1300" b="0" dirty="0">
              <a:latin typeface="微软雅黑"/>
            </a:endParaRPr>
          </a:p>
          <a:p>
            <a:pPr>
              <a:spcAft>
                <a:spcPts val="400"/>
              </a:spcAft>
            </a:pPr>
            <a:r>
              <a:rPr sz="1500" b="1" dirty="0" err="1">
                <a:latin typeface="微软雅黑"/>
              </a:rPr>
              <a:t>代价（如实报告</a:t>
            </a:r>
            <a:r>
              <a:rPr sz="1500" b="1" dirty="0">
                <a:latin typeface="微软雅黑"/>
              </a:rPr>
              <a:t>）</a:t>
            </a:r>
          </a:p>
          <a:p>
            <a:pPr>
              <a:spcAft>
                <a:spcPts val="400"/>
              </a:spcAft>
            </a:pPr>
            <a:r>
              <a:rPr sz="1300" b="0" dirty="0">
                <a:latin typeface="微软雅黑"/>
              </a:rPr>
              <a:t>ID </a:t>
            </a:r>
            <a:r>
              <a:rPr sz="1300" b="0" dirty="0" err="1">
                <a:latin typeface="微软雅黑"/>
              </a:rPr>
              <a:t>误差</a:t>
            </a:r>
            <a:r>
              <a:rPr sz="1300" b="0" dirty="0">
                <a:latin typeface="微软雅黑"/>
              </a:rPr>
              <a:t> +0.4%、</a:t>
            </a:r>
            <a:r>
              <a:rPr sz="1300" b="0" dirty="0" err="1">
                <a:latin typeface="微软雅黑"/>
              </a:rPr>
              <a:t>艏向</a:t>
            </a:r>
            <a:r>
              <a:rPr sz="1300" b="0" dirty="0">
                <a:latin typeface="微软雅黑"/>
              </a:rPr>
              <a:t> +4.3%</a:t>
            </a:r>
          </a:p>
          <a:p>
            <a:pPr>
              <a:spcAft>
                <a:spcPts val="400"/>
              </a:spcAft>
            </a:pPr>
            <a:r>
              <a:rPr sz="1300" b="0" dirty="0" err="1">
                <a:latin typeface="微软雅黑"/>
              </a:rPr>
              <a:t>求解超时率</a:t>
            </a:r>
            <a:r>
              <a:rPr sz="1300" b="0" dirty="0">
                <a:latin typeface="微软雅黑"/>
              </a:rPr>
              <a:t> 0.69→0.80（基线 0.69 </a:t>
            </a:r>
            <a:r>
              <a:rPr sz="1300" b="0" dirty="0" err="1">
                <a:latin typeface="微软雅黑"/>
              </a:rPr>
              <a:t>对所有非学习方法相同；固定</a:t>
            </a:r>
            <a:r>
              <a:rPr sz="1300" b="0" dirty="0">
                <a:latin typeface="微软雅黑"/>
              </a:rPr>
              <a:t> α </a:t>
            </a:r>
            <a:r>
              <a:rPr sz="1300" b="0" dirty="0" err="1">
                <a:latin typeface="微软雅黑"/>
              </a:rPr>
              <a:t>不变；候选解释</a:t>
            </a:r>
            <a:r>
              <a:rPr sz="1300" b="0" dirty="0">
                <a:latin typeface="微软雅黑"/>
              </a:rPr>
              <a:t>=</a:t>
            </a:r>
            <a:r>
              <a:rPr sz="1300" b="0" dirty="0" err="1">
                <a:latin typeface="微软雅黑"/>
              </a:rPr>
              <a:t>轨迹工作点，假设非结论</a:t>
            </a:r>
            <a:r>
              <a:rPr sz="1300" b="0" dirty="0">
                <a:latin typeface="微软雅黑"/>
              </a:rPr>
              <a:t>）</a:t>
            </a:r>
          </a:p>
          <a:p>
            <a:pPr>
              <a:spcAft>
                <a:spcPts val="400"/>
              </a:spcAft>
            </a:pPr>
            <a:r>
              <a:rPr sz="1300" b="0" dirty="0" err="1">
                <a:latin typeface="微软雅黑"/>
              </a:rPr>
              <a:t>部署保障不受影响：回退触发</a:t>
            </a:r>
            <a:r>
              <a:rPr sz="1300" b="0" dirty="0">
                <a:latin typeface="微软雅黑"/>
              </a:rPr>
              <a:t> 0.3–0.5%，</a:t>
            </a:r>
            <a:r>
              <a:rPr sz="1300" b="0" dirty="0" err="1">
                <a:latin typeface="微软雅黑"/>
              </a:rPr>
              <a:t>成功率持平</a:t>
            </a:r>
            <a:endParaRPr sz="1300" b="0" dirty="0">
              <a:latin typeface="微软雅黑"/>
            </a:endParaRPr>
          </a:p>
        </p:txBody>
      </p:sp>
    </p:spTree>
    <p:extLst>
      <p:ext uri="{BB962C8B-B14F-4D97-AF65-F5344CB8AC3E}">
        <p14:creationId xmlns:p14="http://schemas.microsoft.com/office/powerpoint/2010/main" val="396850830"/>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A307BF-2B38-2C18-E29D-9149FFDE2B43}"/>
            </a:ext>
          </a:extLst>
        </p:cNvPr>
        <p:cNvGrpSpPr/>
        <p:nvPr/>
      </p:nvGrpSpPr>
      <p:grpSpPr>
        <a:xfrm>
          <a:off x="0" y="0"/>
          <a:ext cx="0" cy="0"/>
          <a:chOff x="0" y="0"/>
          <a:chExt cx="0" cy="0"/>
        </a:xfrm>
      </p:grpSpPr>
      <p:sp>
        <p:nvSpPr>
          <p:cNvPr id="7" name="文本框 6">
            <a:extLst>
              <a:ext uri="{FF2B5EF4-FFF2-40B4-BE49-F238E27FC236}">
                <a16:creationId xmlns:a16="http://schemas.microsoft.com/office/drawing/2014/main" id="{61E9F11B-48D7-5D75-13BC-DD656F684473}"/>
              </a:ext>
            </a:extLst>
          </p:cNvPr>
          <p:cNvSpPr txBox="1"/>
          <p:nvPr/>
        </p:nvSpPr>
        <p:spPr>
          <a:xfrm>
            <a:off x="10461848" y="299500"/>
            <a:ext cx="1197832" cy="369332"/>
          </a:xfrm>
          <a:prstGeom prst="rect">
            <a:avLst/>
          </a:prstGeom>
          <a:noFill/>
        </p:spPr>
        <p:txBody>
          <a:bodyPr wrap="square" rtlCol="0">
            <a:spAutoFit/>
          </a:bodyPr>
          <a:lstStyle/>
          <a:p>
            <a:pPr algn="ctr"/>
            <a:r>
              <a:rPr kumimoji="1" lang="zh-CN" altLang="en-US" b="1" spc="110" dirty="0">
                <a:solidFill>
                  <a:schemeClr val="bg1"/>
                </a:solidFill>
                <a:latin typeface="微软雅黑" panose="020B0503020204020204" pitchFamily="34" charset="-122"/>
                <a:ea typeface="微软雅黑" panose="020B0503020204020204" pitchFamily="34" charset="-122"/>
              </a:rPr>
              <a:t>读研展望</a:t>
            </a:r>
          </a:p>
        </p:txBody>
      </p:sp>
      <p:sp>
        <p:nvSpPr>
          <p:cNvPr id="9" name="文本框 8">
            <a:extLst>
              <a:ext uri="{FF2B5EF4-FFF2-40B4-BE49-F238E27FC236}">
                <a16:creationId xmlns:a16="http://schemas.microsoft.com/office/drawing/2014/main" id="{3B26AC17-5A07-EEC5-1650-83C936EA25A7}"/>
              </a:ext>
            </a:extLst>
          </p:cNvPr>
          <p:cNvSpPr txBox="1"/>
          <p:nvPr/>
        </p:nvSpPr>
        <p:spPr>
          <a:xfrm>
            <a:off x="2875146" y="179975"/>
            <a:ext cx="1336142" cy="369332"/>
          </a:xfrm>
          <a:prstGeom prst="rect">
            <a:avLst/>
          </a:prstGeom>
          <a:noFill/>
        </p:spPr>
        <p:txBody>
          <a:bodyPr wrap="square" rtlCol="0">
            <a:spAutoFit/>
          </a:bodyPr>
          <a:lstStyle/>
          <a:p>
            <a:pPr algn="ctr"/>
            <a:r>
              <a:rPr kumimoji="1" lang="zh-CN" altLang="en-US" b="1" spc="110" dirty="0">
                <a:solidFill>
                  <a:schemeClr val="bg1"/>
                </a:solidFill>
                <a:latin typeface="微软雅黑" panose="020B0503020204020204" pitchFamily="34" charset="-122"/>
                <a:ea typeface="微软雅黑" panose="020B0503020204020204" pitchFamily="34" charset="-122"/>
              </a:rPr>
              <a:t>个人简介</a:t>
            </a:r>
          </a:p>
        </p:txBody>
      </p:sp>
      <p:sp>
        <p:nvSpPr>
          <p:cNvPr id="15" name="椭圆 14">
            <a:extLst>
              <a:ext uri="{FF2B5EF4-FFF2-40B4-BE49-F238E27FC236}">
                <a16:creationId xmlns:a16="http://schemas.microsoft.com/office/drawing/2014/main" id="{1DD2D30F-DD1F-89F6-2AA0-6484D91FDF49}"/>
              </a:ext>
            </a:extLst>
          </p:cNvPr>
          <p:cNvSpPr/>
          <p:nvPr/>
        </p:nvSpPr>
        <p:spPr>
          <a:xfrm>
            <a:off x="11750347" y="6411598"/>
            <a:ext cx="289344" cy="289344"/>
          </a:xfrm>
          <a:prstGeom prst="ellipse">
            <a:avLst/>
          </a:prstGeom>
          <a:solidFill>
            <a:schemeClr val="bg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CN" altLang="en-US">
              <a:solidFill>
                <a:schemeClr val="accent1"/>
              </a:solidFill>
            </a:endParaRPr>
          </a:p>
        </p:txBody>
      </p:sp>
      <p:sp>
        <p:nvSpPr>
          <p:cNvPr id="16" name="灯片编号占位符 18">
            <a:extLst>
              <a:ext uri="{FF2B5EF4-FFF2-40B4-BE49-F238E27FC236}">
                <a16:creationId xmlns:a16="http://schemas.microsoft.com/office/drawing/2014/main" id="{F5C61496-2097-135E-7166-31A4F494AC50}"/>
              </a:ext>
            </a:extLst>
          </p:cNvPr>
          <p:cNvSpPr>
            <a:spLocks noGrp="1"/>
          </p:cNvSpPr>
          <p:nvPr>
            <p:ph type="sldNum" sz="quarter" idx="12"/>
          </p:nvPr>
        </p:nvSpPr>
        <p:spPr>
          <a:xfrm>
            <a:off x="11619554" y="6373707"/>
            <a:ext cx="550930" cy="365125"/>
          </a:xfrm>
        </p:spPr>
        <p:txBody>
          <a:bodyPr/>
          <a:lstStyle/>
          <a:p>
            <a:pPr algn="ctr"/>
            <a:fld id="{D290E156-FAFE-5144-A047-A692DE980B3A}" type="slidenum">
              <a:rPr kumimoji="1" lang="zh-CN" altLang="en-US" smtClean="0">
                <a:solidFill>
                  <a:schemeClr val="accent1"/>
                </a:solidFill>
                <a:latin typeface="Arial" panose="020B0604020202020204" pitchFamily="34" charset="0"/>
                <a:cs typeface="Arial" panose="020B0604020202020204" pitchFamily="34" charset="0"/>
              </a:rPr>
              <a:t>19</a:t>
            </a:fld>
            <a:endParaRPr kumimoji="1" lang="zh-CN" altLang="en-US" dirty="0">
              <a:solidFill>
                <a:schemeClr val="accent1"/>
              </a:solidFill>
              <a:latin typeface="Arial" panose="020B0604020202020204" pitchFamily="34" charset="0"/>
              <a:cs typeface="Arial" panose="020B0604020202020204" pitchFamily="34" charset="0"/>
            </a:endParaRPr>
          </a:p>
        </p:txBody>
      </p:sp>
      <p:sp>
        <p:nvSpPr>
          <p:cNvPr id="6" name="文本框 5">
            <a:extLst>
              <a:ext uri="{FF2B5EF4-FFF2-40B4-BE49-F238E27FC236}">
                <a16:creationId xmlns:a16="http://schemas.microsoft.com/office/drawing/2014/main" id="{44C6B49E-0253-E3D6-30EB-779ED216F17F}"/>
              </a:ext>
            </a:extLst>
          </p:cNvPr>
          <p:cNvSpPr txBox="1"/>
          <p:nvPr/>
        </p:nvSpPr>
        <p:spPr>
          <a:xfrm>
            <a:off x="5032257" y="179975"/>
            <a:ext cx="1985202" cy="369332"/>
          </a:xfrm>
          <a:prstGeom prst="rect">
            <a:avLst/>
          </a:prstGeom>
          <a:noFill/>
        </p:spPr>
        <p:txBody>
          <a:bodyPr wrap="square" rtlCol="0">
            <a:spAutoFit/>
          </a:bodyPr>
          <a:lstStyle/>
          <a:p>
            <a:pPr algn="ctr"/>
            <a:r>
              <a:rPr kumimoji="1" lang="zh-CN" altLang="en-US" b="1" spc="110" dirty="0">
                <a:solidFill>
                  <a:schemeClr val="bg1"/>
                </a:solidFill>
                <a:latin typeface="微软雅黑" panose="020B0503020204020204" pitchFamily="34" charset="-122"/>
                <a:ea typeface="微软雅黑" panose="020B0503020204020204" pitchFamily="34" charset="-122"/>
              </a:rPr>
              <a:t>本科经历</a:t>
            </a:r>
          </a:p>
        </p:txBody>
      </p:sp>
      <p:sp>
        <p:nvSpPr>
          <p:cNvPr id="3" name="任意形状 2">
            <a:extLst>
              <a:ext uri="{FF2B5EF4-FFF2-40B4-BE49-F238E27FC236}">
                <a16:creationId xmlns:a16="http://schemas.microsoft.com/office/drawing/2014/main" id="{03D7CB71-2756-883B-D183-6DC0E2DF4941}"/>
              </a:ext>
            </a:extLst>
          </p:cNvPr>
          <p:cNvSpPr/>
          <p:nvPr/>
        </p:nvSpPr>
        <p:spPr>
          <a:xfrm>
            <a:off x="0" y="0"/>
            <a:ext cx="9896847" cy="662946"/>
          </a:xfrm>
          <a:custGeom>
            <a:avLst/>
            <a:gdLst>
              <a:gd name="connsiteX0" fmla="*/ 0 w 8681972"/>
              <a:gd name="connsiteY0" fmla="*/ 0 h 689675"/>
              <a:gd name="connsiteX1" fmla="*/ 8681972 w 8681972"/>
              <a:gd name="connsiteY1" fmla="*/ 0 h 689675"/>
              <a:gd name="connsiteX2" fmla="*/ 8461124 w 8681972"/>
              <a:gd name="connsiteY2" fmla="*/ 344837 h 689675"/>
              <a:gd name="connsiteX3" fmla="*/ 8681972 w 8681972"/>
              <a:gd name="connsiteY3" fmla="*/ 689675 h 689675"/>
              <a:gd name="connsiteX4" fmla="*/ 0 w 8681972"/>
              <a:gd name="connsiteY4" fmla="*/ 689675 h 689675"/>
              <a:gd name="connsiteX5" fmla="*/ 0 w 8681972"/>
              <a:gd name="connsiteY5" fmla="*/ 0 h 6896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681972" h="689675">
                <a:moveTo>
                  <a:pt x="0" y="0"/>
                </a:moveTo>
                <a:lnTo>
                  <a:pt x="8681972" y="0"/>
                </a:lnTo>
                <a:lnTo>
                  <a:pt x="8461124" y="344837"/>
                </a:lnTo>
                <a:lnTo>
                  <a:pt x="8681972" y="689675"/>
                </a:lnTo>
                <a:lnTo>
                  <a:pt x="0" y="689675"/>
                </a:lnTo>
                <a:lnTo>
                  <a:pt x="0" y="0"/>
                </a:lnTo>
                <a:close/>
              </a:path>
            </a:pathLst>
          </a:custGeom>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zh-CN" altLang="en-US" sz="1600"/>
          </a:p>
        </p:txBody>
      </p:sp>
      <p:sp>
        <p:nvSpPr>
          <p:cNvPr id="14" name="文本框 13">
            <a:extLst>
              <a:ext uri="{FF2B5EF4-FFF2-40B4-BE49-F238E27FC236}">
                <a16:creationId xmlns:a16="http://schemas.microsoft.com/office/drawing/2014/main" id="{FB067F20-ECC6-6CA1-3959-5932E05C2CCE}"/>
              </a:ext>
            </a:extLst>
          </p:cNvPr>
          <p:cNvSpPr txBox="1"/>
          <p:nvPr/>
        </p:nvSpPr>
        <p:spPr>
          <a:xfrm>
            <a:off x="281981" y="79754"/>
            <a:ext cx="9335355" cy="523220"/>
          </a:xfrm>
          <a:prstGeom prst="rect">
            <a:avLst/>
          </a:prstGeom>
          <a:noFill/>
        </p:spPr>
        <p:txBody>
          <a:bodyPr wrap="square" rtlCol="0">
            <a:spAutoFit/>
          </a:bodyPr>
          <a:lstStyle>
            <a:defPPr>
              <a:defRPr lang="zh-CN"/>
            </a:defPPr>
            <a:lvl1pPr algn="ctr">
              <a:defRPr kumimoji="1" sz="4400" b="1" spc="300">
                <a:solidFill>
                  <a:schemeClr val="bg1"/>
                </a:solidFill>
                <a:latin typeface="微软雅黑" panose="020B0503020204020204" pitchFamily="34" charset="-122"/>
                <a:ea typeface="微软雅黑" panose="020B0503020204020204" pitchFamily="34" charset="-122"/>
              </a:defRPr>
            </a:lvl1pPr>
          </a:lstStyle>
          <a:p>
            <a:pPr algn="l"/>
            <a:r>
              <a:rPr lang="en-US" altLang="zh-CN" sz="1400" dirty="0"/>
              <a:t>Predictive Authority Control: Learning When and How Much to Trust Baseline Controllers for Robust Underwater Robot Tracking</a:t>
            </a:r>
            <a:endParaRPr lang="zh-CN" altLang="en-US" sz="1400" dirty="0"/>
          </a:p>
        </p:txBody>
      </p:sp>
      <p:pic>
        <p:nvPicPr>
          <p:cNvPr id="2" name="图片 1">
            <a:extLst>
              <a:ext uri="{FF2B5EF4-FFF2-40B4-BE49-F238E27FC236}">
                <a16:creationId xmlns:a16="http://schemas.microsoft.com/office/drawing/2014/main" id="{90B22EBC-1287-214E-0CA9-3227E583682D}"/>
              </a:ext>
            </a:extLst>
          </p:cNvPr>
          <p:cNvPicPr>
            <a:picLocks noChangeAspect="1"/>
          </p:cNvPicPr>
          <p:nvPr/>
        </p:nvPicPr>
        <p:blipFill>
          <a:blip r:embed="rId2"/>
          <a:stretch>
            <a:fillRect/>
          </a:stretch>
        </p:blipFill>
        <p:spPr>
          <a:xfrm>
            <a:off x="10121441" y="54734"/>
            <a:ext cx="1773578" cy="553478"/>
          </a:xfrm>
          <a:prstGeom prst="rect">
            <a:avLst/>
          </a:prstGeom>
        </p:spPr>
      </p:pic>
      <p:sp>
        <p:nvSpPr>
          <p:cNvPr id="20" name="文本框 19">
            <a:extLst>
              <a:ext uri="{FF2B5EF4-FFF2-40B4-BE49-F238E27FC236}">
                <a16:creationId xmlns:a16="http://schemas.microsoft.com/office/drawing/2014/main" id="{B88C94F6-EC47-2452-6DB6-B9F8387E9FE4}"/>
              </a:ext>
            </a:extLst>
          </p:cNvPr>
          <p:cNvSpPr txBox="1"/>
          <p:nvPr/>
        </p:nvSpPr>
        <p:spPr>
          <a:xfrm>
            <a:off x="0" y="738435"/>
            <a:ext cx="12501349" cy="338554"/>
          </a:xfrm>
          <a:prstGeom prst="rect">
            <a:avLst/>
          </a:prstGeom>
          <a:noFill/>
        </p:spPr>
        <p:txBody>
          <a:bodyPr wrap="square" rtlCol="0">
            <a:spAutoFit/>
          </a:bodyPr>
          <a:lstStyle/>
          <a:p>
            <a:pPr marL="342900" indent="-342900">
              <a:buSzPct val="85000"/>
              <a:buFont typeface="Wingdings" panose="05000000000000000000" pitchFamily="2" charset="2"/>
              <a:buChar char="n"/>
            </a:pPr>
            <a:r>
              <a:rPr kumimoji="1" lang="en-US" altLang="zh-CN" sz="1600" b="1" spc="300" dirty="0">
                <a:solidFill>
                  <a:schemeClr val="accent1"/>
                </a:solidFill>
                <a:latin typeface="微软雅黑" panose="020B0503020204020204" pitchFamily="34" charset="-122"/>
                <a:ea typeface="微软雅黑" panose="020B0503020204020204" pitchFamily="34" charset="-122"/>
              </a:rPr>
              <a:t>PAC</a:t>
            </a:r>
            <a:r>
              <a:rPr kumimoji="1" lang="zh-CN" altLang="en-US" sz="1600" b="1" spc="300" dirty="0">
                <a:solidFill>
                  <a:schemeClr val="accent1"/>
                </a:solidFill>
                <a:latin typeface="微软雅黑" panose="020B0503020204020204" pitchFamily="34" charset="-122"/>
                <a:ea typeface="微软雅黑" panose="020B0503020204020204" pitchFamily="34" charset="-122"/>
              </a:rPr>
              <a:t>：面向水下机器人鲁棒跟踪的基线控制器时序信任权重学习</a:t>
            </a:r>
          </a:p>
        </p:txBody>
      </p:sp>
      <p:cxnSp>
        <p:nvCxnSpPr>
          <p:cNvPr id="21" name="直线连接符 12">
            <a:extLst>
              <a:ext uri="{FF2B5EF4-FFF2-40B4-BE49-F238E27FC236}">
                <a16:creationId xmlns:a16="http://schemas.microsoft.com/office/drawing/2014/main" id="{B5CF64DB-B4D0-FE58-61F8-B55FAB26AC0C}"/>
              </a:ext>
            </a:extLst>
          </p:cNvPr>
          <p:cNvCxnSpPr/>
          <p:nvPr/>
        </p:nvCxnSpPr>
        <p:spPr>
          <a:xfrm>
            <a:off x="908" y="1167007"/>
            <a:ext cx="10978564" cy="0"/>
          </a:xfrm>
          <a:prstGeom prst="line">
            <a:avLst/>
          </a:prstGeom>
        </p:spPr>
        <p:style>
          <a:lnRef idx="1">
            <a:schemeClr val="accent1"/>
          </a:lnRef>
          <a:fillRef idx="0">
            <a:schemeClr val="accent1"/>
          </a:fillRef>
          <a:effectRef idx="0">
            <a:schemeClr val="accent1"/>
          </a:effectRef>
          <a:fontRef idx="minor">
            <a:schemeClr val="tx1"/>
          </a:fontRef>
        </p:style>
      </p:cxnSp>
      <p:sp>
        <p:nvSpPr>
          <p:cNvPr id="12" name="文本框 11">
            <a:extLst>
              <a:ext uri="{FF2B5EF4-FFF2-40B4-BE49-F238E27FC236}">
                <a16:creationId xmlns:a16="http://schemas.microsoft.com/office/drawing/2014/main" id="{4FF00DA2-C795-7021-000A-CAA69AE74ED3}"/>
              </a:ext>
            </a:extLst>
          </p:cNvPr>
          <p:cNvSpPr txBox="1"/>
          <p:nvPr/>
        </p:nvSpPr>
        <p:spPr>
          <a:xfrm>
            <a:off x="0" y="1244052"/>
            <a:ext cx="10978564" cy="362792"/>
          </a:xfrm>
          <a:prstGeom prst="rect">
            <a:avLst/>
          </a:prstGeom>
          <a:noFill/>
        </p:spPr>
        <p:txBody>
          <a:bodyPr wrap="square" rtlCol="0">
            <a:spAutoFit/>
          </a:bodyPr>
          <a:lstStyle>
            <a:defPPr>
              <a:defRPr lang="zh-CN"/>
            </a:defPPr>
            <a:lvl1pPr algn="ctr">
              <a:defRPr kumimoji="1" sz="4400" b="1" spc="300">
                <a:solidFill>
                  <a:schemeClr val="bg1"/>
                </a:solidFill>
                <a:latin typeface="微软雅黑" panose="020B0503020204020204" pitchFamily="34" charset="-122"/>
                <a:ea typeface="微软雅黑" panose="020B0503020204020204" pitchFamily="34" charset="-122"/>
              </a:defRPr>
            </a:lvl1pPr>
          </a:lstStyle>
          <a:p>
            <a:pPr marL="342900" indent="-342900" algn="l">
              <a:lnSpc>
                <a:spcPct val="120000"/>
              </a:lnSpc>
              <a:buClr>
                <a:schemeClr val="accent1"/>
              </a:buClr>
              <a:buSzPct val="80000"/>
              <a:buFont typeface="Wingdings" panose="05000000000000000000" pitchFamily="2" charset="2"/>
              <a:buChar char="p"/>
            </a:pPr>
            <a:r>
              <a:rPr lang="zh-CN" altLang="en-US" sz="1600" dirty="0">
                <a:solidFill>
                  <a:schemeClr val="tx1">
                    <a:lumMod val="75000"/>
                    <a:lumOff val="25000"/>
                  </a:schemeClr>
                </a:solidFill>
              </a:rPr>
              <a:t>总结</a:t>
            </a:r>
          </a:p>
        </p:txBody>
      </p:sp>
      <p:sp>
        <p:nvSpPr>
          <p:cNvPr id="5" name="文本框 4">
            <a:extLst>
              <a:ext uri="{FF2B5EF4-FFF2-40B4-BE49-F238E27FC236}">
                <a16:creationId xmlns:a16="http://schemas.microsoft.com/office/drawing/2014/main" id="{6DADF7BF-9B9B-8888-6944-44E2AAB8165D}"/>
              </a:ext>
            </a:extLst>
          </p:cNvPr>
          <p:cNvSpPr txBox="1"/>
          <p:nvPr/>
        </p:nvSpPr>
        <p:spPr>
          <a:xfrm>
            <a:off x="2568387" y="2307832"/>
            <a:ext cx="6255572" cy="2445028"/>
          </a:xfrm>
          <a:prstGeom prst="rect">
            <a:avLst/>
          </a:prstGeom>
          <a:noFill/>
        </p:spPr>
        <p:txBody>
          <a:bodyPr wrap="square">
            <a:spAutoFit/>
          </a:bodyPr>
          <a:lstStyle/>
          <a:p>
            <a:pPr indent="266700" algn="just">
              <a:lnSpc>
                <a:spcPct val="130000"/>
              </a:lnSpc>
              <a:spcAft>
                <a:spcPts val="600"/>
              </a:spcAft>
              <a:buNone/>
            </a:pPr>
            <a:r>
              <a:rPr lang="zh-CN" altLang="zh-CN" sz="1800" dirty="0">
                <a:solidFill>
                  <a:srgbClr val="000000"/>
                </a:solidFill>
                <a:effectLst/>
                <a:latin typeface="Times New Roman" panose="02020603050405020304" pitchFamily="18" charset="0"/>
                <a:ea typeface="宋体" panose="02010600030101010101" pitchFamily="2" charset="-122"/>
                <a:cs typeface="Times New Roman" panose="02020603050405020304" pitchFamily="18" charset="0"/>
              </a:rPr>
              <a:t>本研究做出</a:t>
            </a:r>
            <a:r>
              <a:rPr lang="zh-CN" altLang="en-US" sz="1800" dirty="0">
                <a:solidFill>
                  <a:srgbClr val="000000"/>
                </a:solidFill>
                <a:effectLst/>
                <a:latin typeface="Times New Roman" panose="02020603050405020304" pitchFamily="18" charset="0"/>
                <a:ea typeface="宋体" panose="02010600030101010101" pitchFamily="2" charset="-122"/>
                <a:cs typeface="Times New Roman" panose="02020603050405020304" pitchFamily="18" charset="0"/>
              </a:rPr>
              <a:t>三</a:t>
            </a:r>
            <a:r>
              <a:rPr lang="zh-CN" altLang="zh-CN" sz="1800" dirty="0">
                <a:solidFill>
                  <a:srgbClr val="000000"/>
                </a:solidFill>
                <a:effectLst/>
                <a:latin typeface="Times New Roman" panose="02020603050405020304" pitchFamily="18" charset="0"/>
                <a:ea typeface="宋体" panose="02010600030101010101" pitchFamily="2" charset="-122"/>
                <a:cs typeface="Times New Roman" panose="02020603050405020304" pitchFamily="18" charset="0"/>
              </a:rPr>
              <a:t>项贡献：</a:t>
            </a:r>
            <a:endParaRPr lang="zh-CN" altLang="zh-CN" sz="1800" dirty="0">
              <a:effectLst/>
              <a:latin typeface="Times New Roman" panose="02020603050405020304" pitchFamily="18" charset="0"/>
              <a:ea typeface="宋体" panose="02010600030101010101" pitchFamily="2" charset="-122"/>
              <a:cs typeface="Times New Roman" panose="02020603050405020304" pitchFamily="18" charset="0"/>
            </a:endParaRPr>
          </a:p>
          <a:p>
            <a:pPr indent="266700" algn="just">
              <a:lnSpc>
                <a:spcPct val="130000"/>
              </a:lnSpc>
              <a:spcAft>
                <a:spcPts val="600"/>
              </a:spcAft>
              <a:buNone/>
            </a:pPr>
            <a:r>
              <a:rPr lang="en-US" altLang="zh-CN" sz="1800" b="1" dirty="0">
                <a:solidFill>
                  <a:srgbClr val="000000"/>
                </a:solidFill>
                <a:effectLst/>
                <a:latin typeface="Times New Roman" panose="02020603050405020304" pitchFamily="18" charset="0"/>
                <a:ea typeface="宋体" panose="02010600030101010101" pitchFamily="2" charset="-122"/>
                <a:cs typeface="Times New Roman" panose="02020603050405020304" pitchFamily="18" charset="0"/>
              </a:rPr>
              <a:t>(1) </a:t>
            </a:r>
            <a:r>
              <a:rPr lang="zh-CN" altLang="zh-CN" sz="1800" dirty="0">
                <a:solidFill>
                  <a:srgbClr val="000000"/>
                </a:solidFill>
                <a:effectLst/>
                <a:latin typeface="Times New Roman" panose="02020603050405020304" pitchFamily="18" charset="0"/>
                <a:ea typeface="宋体" panose="02010600030101010101" pitchFamily="2" charset="-122"/>
                <a:cs typeface="Times New Roman" panose="02020603050405020304" pitchFamily="18" charset="0"/>
              </a:rPr>
              <a:t>两个完整控制器之间的连续时序权限分配；</a:t>
            </a:r>
            <a:endParaRPr lang="zh-CN" altLang="zh-CN" sz="1800" dirty="0">
              <a:effectLst/>
              <a:latin typeface="Times New Roman" panose="02020603050405020304" pitchFamily="18" charset="0"/>
              <a:ea typeface="宋体" panose="02010600030101010101" pitchFamily="2" charset="-122"/>
              <a:cs typeface="Times New Roman" panose="02020603050405020304" pitchFamily="18" charset="0"/>
            </a:endParaRPr>
          </a:p>
          <a:p>
            <a:pPr indent="266700" algn="just">
              <a:lnSpc>
                <a:spcPct val="130000"/>
              </a:lnSpc>
              <a:spcAft>
                <a:spcPts val="600"/>
              </a:spcAft>
              <a:buNone/>
            </a:pPr>
            <a:r>
              <a:rPr lang="en-US" altLang="zh-CN" sz="1800" b="1" dirty="0">
                <a:solidFill>
                  <a:srgbClr val="000000"/>
                </a:solidFill>
                <a:effectLst/>
                <a:latin typeface="Times New Roman" panose="02020603050405020304" pitchFamily="18" charset="0"/>
                <a:ea typeface="宋体" panose="02010600030101010101" pitchFamily="2" charset="-122"/>
                <a:cs typeface="Times New Roman" panose="02020603050405020304" pitchFamily="18" charset="0"/>
              </a:rPr>
              <a:t>(2) </a:t>
            </a:r>
            <a:r>
              <a:rPr lang="zh-CN" altLang="zh-CN" sz="1800" dirty="0">
                <a:solidFill>
                  <a:srgbClr val="000000"/>
                </a:solidFill>
                <a:effectLst/>
                <a:latin typeface="Times New Roman" panose="02020603050405020304" pitchFamily="18" charset="0"/>
                <a:ea typeface="宋体" panose="02010600030101010101" pitchFamily="2" charset="-122"/>
                <a:cs typeface="Times New Roman" panose="02020603050405020304" pitchFamily="18" charset="0"/>
              </a:rPr>
              <a:t>滚动</a:t>
            </a:r>
            <a:r>
              <a:rPr lang="en-US" altLang="zh-CN" sz="1800" dirty="0">
                <a:solidFill>
                  <a:srgbClr val="000000"/>
                </a:solidFill>
                <a:effectLst/>
                <a:latin typeface="Times New Roman" panose="02020603050405020304" pitchFamily="18" charset="0"/>
                <a:ea typeface="宋体" panose="02010600030101010101" pitchFamily="2" charset="-122"/>
                <a:cs typeface="Times New Roman" panose="02020603050405020304" pitchFamily="18" charset="0"/>
              </a:rPr>
              <a:t> oracle </a:t>
            </a:r>
            <a:r>
              <a:rPr lang="zh-CN" altLang="zh-CN" sz="1800" dirty="0">
                <a:solidFill>
                  <a:srgbClr val="000000"/>
                </a:solidFill>
                <a:effectLst/>
                <a:latin typeface="Times New Roman" panose="02020603050405020304" pitchFamily="18" charset="0"/>
                <a:ea typeface="宋体" panose="02010600030101010101" pitchFamily="2" charset="-122"/>
                <a:cs typeface="Times New Roman" panose="02020603050405020304" pitchFamily="18" charset="0"/>
              </a:rPr>
              <a:t>监督，随后在冻结骨干上进行受约束残差强化学习，残差以</a:t>
            </a:r>
            <a:r>
              <a:rPr lang="en-US" altLang="zh-CN" sz="1800" dirty="0">
                <a:solidFill>
                  <a:srgbClr val="000000"/>
                </a:solidFill>
                <a:effectLst/>
                <a:latin typeface="Times New Roman" panose="02020603050405020304" pitchFamily="18" charset="0"/>
                <a:ea typeface="宋体" panose="02010600030101010101" pitchFamily="2" charset="-122"/>
                <a:cs typeface="Times New Roman" panose="02020603050405020304" pitchFamily="18" charset="0"/>
              </a:rPr>
              <a:t> |Δα| ≤ 0.1 </a:t>
            </a:r>
            <a:r>
              <a:rPr lang="zh-CN" altLang="zh-CN" sz="1800" dirty="0">
                <a:solidFill>
                  <a:srgbClr val="000000"/>
                </a:solidFill>
                <a:effectLst/>
                <a:latin typeface="Times New Roman" panose="02020603050405020304" pitchFamily="18" charset="0"/>
                <a:ea typeface="宋体" panose="02010600030101010101" pitchFamily="2" charset="-122"/>
                <a:cs typeface="Times New Roman" panose="02020603050405020304" pitchFamily="18" charset="0"/>
              </a:rPr>
              <a:t>为界并零初始化；</a:t>
            </a:r>
            <a:endParaRPr lang="zh-CN" altLang="zh-CN" sz="1800" dirty="0">
              <a:effectLst/>
              <a:latin typeface="Times New Roman" panose="02020603050405020304" pitchFamily="18" charset="0"/>
              <a:ea typeface="宋体" panose="02010600030101010101" pitchFamily="2" charset="-122"/>
              <a:cs typeface="Times New Roman" panose="02020603050405020304" pitchFamily="18" charset="0"/>
            </a:endParaRPr>
          </a:p>
          <a:p>
            <a:pPr indent="266700" algn="just">
              <a:lnSpc>
                <a:spcPct val="130000"/>
              </a:lnSpc>
              <a:spcAft>
                <a:spcPts val="600"/>
              </a:spcAft>
              <a:buNone/>
            </a:pPr>
            <a:r>
              <a:rPr lang="en-US" altLang="zh-CN" sz="1800" b="1" dirty="0">
                <a:solidFill>
                  <a:srgbClr val="000000"/>
                </a:solidFill>
                <a:effectLst/>
                <a:latin typeface="Times New Roman" panose="02020603050405020304" pitchFamily="18" charset="0"/>
                <a:ea typeface="宋体" panose="02010600030101010101" pitchFamily="2" charset="-122"/>
                <a:cs typeface="Times New Roman" panose="02020603050405020304" pitchFamily="18" charset="0"/>
              </a:rPr>
              <a:t>(3) </a:t>
            </a:r>
            <a:r>
              <a:rPr lang="zh-CN" altLang="zh-CN" sz="1800" dirty="0">
                <a:solidFill>
                  <a:srgbClr val="000000"/>
                </a:solidFill>
                <a:effectLst/>
                <a:latin typeface="Times New Roman" panose="02020603050405020304" pitchFamily="18" charset="0"/>
                <a:ea typeface="宋体" panose="02010600030101010101" pitchFamily="2" charset="-122"/>
                <a:cs typeface="Times New Roman" panose="02020603050405020304" pitchFamily="18" charset="0"/>
              </a:rPr>
              <a:t>面向边缘时序推理的极紧凑</a:t>
            </a:r>
            <a:r>
              <a:rPr lang="en-US" altLang="zh-CN" sz="1800" dirty="0">
                <a:solidFill>
                  <a:srgbClr val="000000"/>
                </a:solidFill>
                <a:effectLst/>
                <a:latin typeface="Times New Roman" panose="02020603050405020304" pitchFamily="18" charset="0"/>
                <a:ea typeface="宋体" panose="02010600030101010101" pitchFamily="2" charset="-122"/>
                <a:cs typeface="Times New Roman" panose="02020603050405020304" pitchFamily="18" charset="0"/>
              </a:rPr>
              <a:t> Transformer</a:t>
            </a:r>
            <a:r>
              <a:rPr lang="zh-CN" altLang="zh-CN" sz="1800" dirty="0">
                <a:solidFill>
                  <a:srgbClr val="000000"/>
                </a:solidFill>
                <a:effectLst/>
                <a:latin typeface="Times New Roman" panose="02020603050405020304" pitchFamily="18" charset="0"/>
                <a:ea typeface="宋体" panose="02010600030101010101" pitchFamily="2" charset="-122"/>
                <a:cs typeface="Times New Roman" panose="02020603050405020304" pitchFamily="18" charset="0"/>
              </a:rPr>
              <a:t>，其最坏情形行为等于已部署的监督基线；</a:t>
            </a:r>
            <a:endParaRPr lang="zh-CN" altLang="zh-CN" sz="1800" dirty="0">
              <a:effectLst/>
              <a:latin typeface="Times New Roman" panose="02020603050405020304" pitchFamily="18" charset="0"/>
              <a:ea typeface="宋体" panose="02010600030101010101" pitchFamily="2" charset="-122"/>
              <a:cs typeface="Times New Roman" panose="02020603050405020304" pitchFamily="18" charset="0"/>
            </a:endParaRPr>
          </a:p>
        </p:txBody>
      </p:sp>
    </p:spTree>
    <p:extLst>
      <p:ext uri="{BB962C8B-B14F-4D97-AF65-F5344CB8AC3E}">
        <p14:creationId xmlns:p14="http://schemas.microsoft.com/office/powerpoint/2010/main" val="3915851488"/>
      </p:ext>
    </p:extLst>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矩形 6"/>
          <p:cNvSpPr/>
          <p:nvPr/>
        </p:nvSpPr>
        <p:spPr>
          <a:xfrm>
            <a:off x="0" y="1829853"/>
            <a:ext cx="12192002" cy="2485813"/>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CN" altLang="en-US"/>
          </a:p>
        </p:txBody>
      </p:sp>
      <p:sp>
        <p:nvSpPr>
          <p:cNvPr id="8" name="文本框 7"/>
          <p:cNvSpPr txBox="1"/>
          <p:nvPr/>
        </p:nvSpPr>
        <p:spPr>
          <a:xfrm>
            <a:off x="659363" y="2276306"/>
            <a:ext cx="10873274" cy="830997"/>
          </a:xfrm>
          <a:prstGeom prst="rect">
            <a:avLst/>
          </a:prstGeom>
          <a:noFill/>
        </p:spPr>
        <p:txBody>
          <a:bodyPr wrap="square" rtlCol="0">
            <a:spAutoFit/>
          </a:bodyPr>
          <a:lstStyle/>
          <a:p>
            <a:pPr algn="ctr"/>
            <a:r>
              <a:rPr kumimoji="1" lang="zh-CN" altLang="en-US" sz="4800" b="1" spc="600" dirty="0">
                <a:solidFill>
                  <a:schemeClr val="bg1"/>
                </a:solidFill>
                <a:latin typeface="微软雅黑" panose="020B0503020204020204" pitchFamily="34" charset="-122"/>
                <a:ea typeface="微软雅黑" panose="020B0503020204020204" pitchFamily="34" charset="-122"/>
              </a:rPr>
              <a:t>感谢各位老师，恳请批评指正！</a:t>
            </a:r>
          </a:p>
        </p:txBody>
      </p:sp>
      <p:sp>
        <p:nvSpPr>
          <p:cNvPr id="9" name="文本框 8"/>
          <p:cNvSpPr txBox="1"/>
          <p:nvPr/>
        </p:nvSpPr>
        <p:spPr>
          <a:xfrm>
            <a:off x="2053252" y="3360568"/>
            <a:ext cx="8085496" cy="461665"/>
          </a:xfrm>
          <a:prstGeom prst="rect">
            <a:avLst/>
          </a:prstGeom>
          <a:noFill/>
        </p:spPr>
        <p:txBody>
          <a:bodyPr wrap="square" rtlCol="0">
            <a:spAutoFit/>
          </a:bodyPr>
          <a:lstStyle/>
          <a:p>
            <a:pPr algn="ctr"/>
            <a:r>
              <a:rPr kumimoji="1" lang="en-GB" altLang="zh-CN" sz="2400" spc="300" dirty="0">
                <a:solidFill>
                  <a:schemeClr val="bg1"/>
                </a:solidFill>
                <a:latin typeface="微软雅黑" panose="020B0503020204020204" pitchFamily="34" charset="-122"/>
                <a:ea typeface="微软雅黑" panose="020B0503020204020204" pitchFamily="34" charset="-122"/>
              </a:rPr>
              <a:t>THANK  YOU</a:t>
            </a:r>
          </a:p>
        </p:txBody>
      </p:sp>
      <p:sp>
        <p:nvSpPr>
          <p:cNvPr id="10" name="文本框 9"/>
          <p:cNvSpPr txBox="1"/>
          <p:nvPr/>
        </p:nvSpPr>
        <p:spPr>
          <a:xfrm>
            <a:off x="5064087" y="4869701"/>
            <a:ext cx="2063826" cy="338554"/>
          </a:xfrm>
          <a:prstGeom prst="rect">
            <a:avLst/>
          </a:prstGeom>
          <a:noFill/>
        </p:spPr>
        <p:txBody>
          <a:bodyPr wrap="square" rtlCol="0">
            <a:spAutoFit/>
          </a:bodyPr>
          <a:lstStyle/>
          <a:p>
            <a:r>
              <a:rPr kumimoji="1" lang="zh-CN" altLang="en-US" sz="1600" b="1" spc="300" dirty="0">
                <a:solidFill>
                  <a:schemeClr val="accent1"/>
                </a:solidFill>
                <a:latin typeface="微软雅黑" panose="020B0503020204020204" pitchFamily="34" charset="-122"/>
                <a:ea typeface="微软雅黑" panose="020B0503020204020204" pitchFamily="34" charset="-122"/>
              </a:rPr>
              <a:t>姓名：田家丞</a:t>
            </a:r>
          </a:p>
        </p:txBody>
      </p:sp>
      <p:sp>
        <p:nvSpPr>
          <p:cNvPr id="15" name="圆角矩形 14"/>
          <p:cNvSpPr/>
          <p:nvPr/>
        </p:nvSpPr>
        <p:spPr>
          <a:xfrm>
            <a:off x="4755396" y="4819233"/>
            <a:ext cx="2681207" cy="439430"/>
          </a:xfrm>
          <a:prstGeom prst="roundRect">
            <a:avLst>
              <a:gd name="adj" fmla="val 50000"/>
            </a:avLst>
          </a:prstGeom>
          <a:noFill/>
          <a:ln w="6350">
            <a:solidFill>
              <a:schemeClr val="accent1">
                <a:alpha val="62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CN" altLang="en-US"/>
          </a:p>
        </p:txBody>
      </p:sp>
      <p:sp>
        <p:nvSpPr>
          <p:cNvPr id="12" name="椭圆 11"/>
          <p:cNvSpPr/>
          <p:nvPr/>
        </p:nvSpPr>
        <p:spPr>
          <a:xfrm>
            <a:off x="11750347" y="6411598"/>
            <a:ext cx="289344" cy="289344"/>
          </a:xfrm>
          <a:prstGeom prst="ellipse">
            <a:avLst/>
          </a:prstGeom>
          <a:solidFill>
            <a:schemeClr val="bg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CN" altLang="en-US">
              <a:solidFill>
                <a:schemeClr val="accent1"/>
              </a:solidFill>
            </a:endParaRPr>
          </a:p>
        </p:txBody>
      </p:sp>
      <p:sp>
        <p:nvSpPr>
          <p:cNvPr id="13" name="灯片编号占位符 18"/>
          <p:cNvSpPr>
            <a:spLocks noGrp="1"/>
          </p:cNvSpPr>
          <p:nvPr>
            <p:ph type="sldNum" sz="quarter" idx="12"/>
          </p:nvPr>
        </p:nvSpPr>
        <p:spPr>
          <a:xfrm>
            <a:off x="11619554" y="6373707"/>
            <a:ext cx="550930" cy="365125"/>
          </a:xfrm>
        </p:spPr>
        <p:txBody>
          <a:bodyPr/>
          <a:lstStyle/>
          <a:p>
            <a:pPr algn="ctr"/>
            <a:fld id="{D290E156-FAFE-5144-A047-A692DE980B3A}" type="slidenum">
              <a:rPr kumimoji="1" lang="zh-CN" altLang="en-US" smtClean="0">
                <a:solidFill>
                  <a:schemeClr val="accent1"/>
                </a:solidFill>
                <a:latin typeface="Arial" panose="020B0604020202020204" pitchFamily="34" charset="0"/>
                <a:cs typeface="Arial" panose="020B0604020202020204" pitchFamily="34" charset="0"/>
              </a:rPr>
              <a:t>20</a:t>
            </a:fld>
            <a:endParaRPr kumimoji="1" lang="zh-CN" altLang="en-US" dirty="0">
              <a:solidFill>
                <a:schemeClr val="accent1"/>
              </a:solidFill>
              <a:latin typeface="Arial" panose="020B0604020202020204" pitchFamily="34" charset="0"/>
              <a:cs typeface="Arial" panose="020B0604020202020204" pitchFamily="34" charset="0"/>
            </a:endParaRPr>
          </a:p>
        </p:txBody>
      </p:sp>
      <p:pic>
        <p:nvPicPr>
          <p:cNvPr id="2" name="图片 1"/>
          <p:cNvPicPr>
            <a:picLocks noChangeAspect="1"/>
          </p:cNvPicPr>
          <p:nvPr/>
        </p:nvPicPr>
        <p:blipFill>
          <a:blip r:embed="rId2"/>
          <a:stretch>
            <a:fillRect/>
          </a:stretch>
        </p:blipFill>
        <p:spPr>
          <a:xfrm>
            <a:off x="4636789" y="646772"/>
            <a:ext cx="2918422" cy="910748"/>
          </a:xfrm>
          <a:prstGeom prst="rect">
            <a:avLst/>
          </a:prstGeom>
        </p:spPr>
      </p:pic>
    </p:spTree>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theme/theme1.xml><?xml version="1.0" encoding="utf-8"?>
<a:theme xmlns:a="http://schemas.openxmlformats.org/drawingml/2006/main" name="Office 主题​​">
  <a:themeElements>
    <a:clrScheme name="自定义 2702">
      <a:dk1>
        <a:srgbClr val="000000"/>
      </a:dk1>
      <a:lt1>
        <a:srgbClr val="FFFFFF"/>
      </a:lt1>
      <a:dk2>
        <a:srgbClr val="44546A"/>
      </a:dk2>
      <a:lt2>
        <a:srgbClr val="E7E6E6"/>
      </a:lt2>
      <a:accent1>
        <a:srgbClr val="03408E"/>
      </a:accent1>
      <a:accent2>
        <a:srgbClr val="8C3A73"/>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等线"/>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2889</TotalTime>
  <Words>2812</Words>
  <Application>Microsoft Office PowerPoint</Application>
  <PresentationFormat>宽屏</PresentationFormat>
  <Paragraphs>430</Paragraphs>
  <Slides>20</Slides>
  <Notes>0</Notes>
  <HiddenSlides>0</HiddenSlides>
  <MMClips>0</MMClips>
  <ScaleCrop>false</ScaleCrop>
  <HeadingPairs>
    <vt:vector size="6" baseType="variant">
      <vt:variant>
        <vt:lpstr>已用的字体</vt:lpstr>
      </vt:variant>
      <vt:variant>
        <vt:i4>6</vt:i4>
      </vt:variant>
      <vt:variant>
        <vt:lpstr>主题</vt:lpstr>
      </vt:variant>
      <vt:variant>
        <vt:i4>1</vt:i4>
      </vt:variant>
      <vt:variant>
        <vt:lpstr>幻灯片标题</vt:lpstr>
      </vt:variant>
      <vt:variant>
        <vt:i4>20</vt:i4>
      </vt:variant>
    </vt:vector>
  </HeadingPairs>
  <TitlesOfParts>
    <vt:vector size="27" baseType="lpstr">
      <vt:lpstr>等线</vt:lpstr>
      <vt:lpstr>等线 Light</vt:lpstr>
      <vt:lpstr>微软雅黑</vt:lpstr>
      <vt:lpstr>Arial</vt:lpstr>
      <vt:lpstr>Times New Roman</vt:lpstr>
      <vt:lpstr>Wingdings</vt:lpstr>
      <vt:lpstr>Office 主题​​</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演示文稿</dc:title>
  <dc:creator>Microsoft Office User</dc:creator>
  <cp:lastModifiedBy>家丞 田</cp:lastModifiedBy>
  <cp:revision>23</cp:revision>
  <dcterms:created xsi:type="dcterms:W3CDTF">2023-05-03T15:34:00Z</dcterms:created>
  <dcterms:modified xsi:type="dcterms:W3CDTF">2026-10-01T02:18:55Z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E64A04677F1149A094FCBA23A1125531_13</vt:lpwstr>
  </property>
  <property fmtid="{D5CDD505-2E9C-101B-9397-08002B2CF9AE}" pid="3" name="KSOProductBuildVer">
    <vt:lpwstr>2052-12.1.0.26375</vt:lpwstr>
  </property>
</Properties>
</file>