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79" r:id="rId3"/>
    <p:sldId id="273" r:id="rId4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74" r:id="rId5"/>
    <p:sldId id="276" r:id="rId6"/>
    <p:sldId id="275" r:id="rId7"/>
    <p:sldId id="277" r:id="rId8"/>
    <p:sldId id="290" r:id="rId24"/>
    <p:sldId id="272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730"/>
    <p:restoredTop sz="94694"/>
  </p:normalViewPr>
  <p:slideViewPr>
    <p:cSldViewPr snapToGrid="0">
      <p:cViewPr varScale="1">
        <p:scale>
          <a:sx n="105" d="100"/>
          <a:sy n="105" d="100"/>
        </p:scale>
        <p:origin x="8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829853"/>
            <a:ext cx="12192002" cy="24858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59363" y="2276306"/>
            <a:ext cx="108732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800" b="1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4800" b="1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  <a:p>
            <a:pPr algn="ctr"/>
            <a:endParaRPr kumimoji="1" lang="zh-CN" altLang="en-US" sz="4800" b="1" spc="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064087" y="4869701"/>
            <a:ext cx="20638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姓名：田家丞</a:t>
            </a:r>
          </a:p>
        </p:txBody>
      </p:sp>
      <p:sp>
        <p:nvSpPr>
          <p:cNvPr id="15" name="圆角矩形 14"/>
          <p:cNvSpPr/>
          <p:nvPr/>
        </p:nvSpPr>
        <p:spPr>
          <a:xfrm>
            <a:off x="4755396" y="4819233"/>
            <a:ext cx="2681207" cy="43943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accent1">
                <a:alpha val="6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064087" y="5525421"/>
            <a:ext cx="24911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2026年9月29日</a:t>
            </a:r>
          </a:p>
        </p:txBody>
      </p:sp>
      <p:sp>
        <p:nvSpPr>
          <p:cNvPr id="17" name="圆角矩形 16"/>
          <p:cNvSpPr/>
          <p:nvPr/>
        </p:nvSpPr>
        <p:spPr>
          <a:xfrm>
            <a:off x="4755396" y="5474953"/>
            <a:ext cx="2681207" cy="43943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accent1">
                <a:alpha val="6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3" name="灯片编号占位符 18"/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789" y="646772"/>
            <a:ext cx="2918422" cy="9107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3D924-16A0-40C4-F768-5CEB01767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AC562B26-6BC8-1F52-6182-B253D3DFE06A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CFAA6D7-6E9A-983C-DF4C-8FFB83938285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0A5F0243-6D88-0BCA-DF4F-6E53EF020048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B9668A71-FF02-4FC5-953C-86E67E8A4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11C502A-9196-6009-9183-43BF7770750D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2B6BCB32-A5C8-8ADD-C4EB-B2F7165DD23A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8C4321B-0411-C983-20C8-CAAB4EF8CA40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60315DA0-FDB2-78D3-D8F0-7DC0604890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4049CA9E-A0C6-7292-FBD3-1EA9CA17C35C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16B72F85-98C1-139A-8712-A92878639B9B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fig1_system_architecture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7320"/>
            <a:ext cx="8138160" cy="458014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0" y="1737360"/>
            <a:ext cx="310896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 err="1">
                <a:latin typeface="微软雅黑"/>
              </a:rPr>
              <a:t>读图要点</a:t>
            </a:r>
            <a:endParaRPr sz="1600" b="1" dirty="0">
              <a:latin typeface="微软雅黑"/>
            </a:endParaRP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编码器冻结</a:t>
            </a:r>
            <a:r>
              <a:rPr sz="1300" b="0" dirty="0">
                <a:latin typeface="微软雅黑"/>
              </a:rPr>
              <a:t>（❄ 14,113 </a:t>
            </a:r>
            <a:r>
              <a:rPr sz="1300" b="0" dirty="0" err="1">
                <a:latin typeface="微软雅黑"/>
              </a:rPr>
              <a:t>参数</a:t>
            </a:r>
            <a:r>
              <a:rPr sz="1300" b="0" dirty="0">
                <a:latin typeface="微软雅黑"/>
              </a:rPr>
              <a:t>）；</a:t>
            </a:r>
            <a:r>
              <a:rPr sz="1300" b="0" dirty="0" err="1">
                <a:latin typeface="微软雅黑"/>
              </a:rPr>
              <a:t>残差头可训练</a:t>
            </a:r>
            <a:r>
              <a:rPr sz="1300" b="0" dirty="0">
                <a:latin typeface="微软雅黑"/>
              </a:rPr>
              <a:t>（▲ 2,177 </a:t>
            </a:r>
            <a:r>
              <a:rPr sz="1300" b="0" dirty="0" err="1">
                <a:latin typeface="微软雅黑"/>
              </a:rPr>
              <a:t>参数、零初始化</a:t>
            </a:r>
            <a:r>
              <a:rPr sz="1300" b="0" dirty="0">
                <a:latin typeface="微软雅黑"/>
              </a:rPr>
              <a:t>）</a:t>
            </a:r>
          </a:p>
          <a:p>
            <a:pPr>
              <a:spcAft>
                <a:spcPts val="400"/>
              </a:spcAft>
            </a:pPr>
            <a:r>
              <a:rPr sz="1300" b="0" dirty="0">
                <a:latin typeface="微软雅黑"/>
              </a:rPr>
              <a:t>α_t = clip[0,1](α̂_t + Δα_t)：</a:t>
            </a:r>
            <a:r>
              <a:rPr sz="1300" b="0" dirty="0" err="1">
                <a:latin typeface="微软雅黑"/>
              </a:rPr>
              <a:t>学习只修正信任，不产生指令</a:t>
            </a:r>
            <a:endParaRPr sz="1300" b="0" dirty="0">
              <a:latin typeface="微软雅黑"/>
            </a:endParaRP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底部安全条带：有界</a:t>
            </a:r>
            <a:r>
              <a:rPr sz="1300" b="0" dirty="0">
                <a:latin typeface="微软雅黑"/>
              </a:rPr>
              <a:t> Δα → clip/</a:t>
            </a:r>
            <a:r>
              <a:rPr sz="1300" b="0" dirty="0" err="1">
                <a:latin typeface="微软雅黑"/>
              </a:rPr>
              <a:t>平滑</a:t>
            </a:r>
            <a:r>
              <a:rPr sz="1300" b="0" dirty="0">
                <a:latin typeface="微软雅黑"/>
              </a:rPr>
              <a:t>/</a:t>
            </a:r>
            <a:r>
              <a:rPr sz="1300" b="0" dirty="0" err="1">
                <a:latin typeface="微软雅黑"/>
              </a:rPr>
              <a:t>率限</a:t>
            </a:r>
            <a:r>
              <a:rPr sz="1300" b="0" dirty="0">
                <a:latin typeface="微软雅黑"/>
              </a:rPr>
              <a:t> → </a:t>
            </a:r>
            <a:r>
              <a:rPr sz="1300" b="0" dirty="0" err="1">
                <a:latin typeface="微软雅黑"/>
              </a:rPr>
              <a:t>强制主控</a:t>
            </a:r>
            <a:r>
              <a:rPr sz="1300" b="0" dirty="0">
                <a:latin typeface="微软雅黑"/>
              </a:rPr>
              <a:t> → </a:t>
            </a:r>
            <a:r>
              <a:rPr sz="1300" b="0" dirty="0" err="1">
                <a:latin typeface="微软雅黑"/>
              </a:rPr>
              <a:t>数值回退</a:t>
            </a:r>
            <a:endParaRPr sz="1300" b="0" dirty="0"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942094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A7E7E-6A62-015B-4DC4-ACEFA9428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2FEA6314-D1D6-BF34-FE8D-64475CBCCF9C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93EB51-E7E3-9D32-6117-B1A630E3F434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1551740-04D7-266B-C718-4F38F889444D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D17A71D7-C763-F1D6-C1E4-2D1CA33D9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CBC1D74-0142-4489-BC4D-A1398965DDDF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6BFD928A-E9BB-B8B1-8FED-C8168FEB9866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473AEBB9-C11C-704B-628B-A5CE47250016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5663262A-C245-24C5-162A-899C0D1A7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CF43D236-915B-500F-F1B7-A50422C95CB0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1F0D2FAA-1E03-8BAD-5520-9DA5B0F66D77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E51BDECF-88A3-9EC9-E276-1F75FD4FB66A}"/>
              </a:ext>
            </a:extLst>
          </p:cNvPr>
          <p:cNvSpPr txBox="1"/>
          <p:nvPr/>
        </p:nvSpPr>
        <p:spPr>
          <a:xfrm>
            <a:off x="0" y="1244052"/>
            <a:ext cx="10978564" cy="3627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网络架构与两阶段训练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7B97A8AD-F3F4-A3C9-7222-8FB7935D6973}"/>
              </a:ext>
            </a:extLst>
          </p:cNvPr>
          <p:cNvSpPr txBox="1"/>
          <p:nvPr/>
        </p:nvSpPr>
        <p:spPr>
          <a:xfrm>
            <a:off x="281980" y="1600200"/>
            <a:ext cx="8639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编码器 16×24 历史 → 嵌入 32 → 单层 4 头 Transformer → α̂；残差头 32→64→GELU→1（零初始化）输出 Δα。第一阶段模仿短视界 oracle（18,900 样本）；第二阶段仅训练残差头（TD3 + 行为正则 + 2×10⁵ 热启动，训练种子与评估种子严格分区）。</a:t>
            </a:r>
          </a:p>
        </p:txBody>
      </p:sp>
      <p:pic>
        <p:nvPicPr>
          <p:cNvPr id="24" name="Picture 23" descr="fig_network_training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2432643"/>
            <a:ext cx="7223760" cy="406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002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DD7E-57C2-E5D2-C0A5-FACB1BE7B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6477257A-DE91-568B-729F-653178A889ED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B788532-0E31-1AFE-ED41-C645C929C4A4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8E960C35-0855-3D1E-28E4-548200A1CDAA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9699A36E-A519-E247-561D-17FD67FFB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A5F5BE-1278-FE23-EC15-6169BC7E7118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D3E1E1D8-564F-7ED8-C4AD-AA4535682BEF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262D478-33C1-0F6B-FBB2-F3EC769744B1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BA9DA9CE-F44F-1914-6C93-B8F67DF36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FB36BF18-01CF-3752-825B-36433DDD0726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9B0FC13-6585-B6AB-49E7-AFA949D4BD37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0BE75F6E-FF58-DF4B-8189-4535D0A5CE03}"/>
              </a:ext>
            </a:extLst>
          </p:cNvPr>
          <p:cNvSpPr txBox="1"/>
          <p:nvPr/>
        </p:nvSpPr>
        <p:spPr>
          <a:xfrm>
            <a:off x="0" y="1244052"/>
            <a:ext cx="12192000" cy="1005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运动层证据：航行器实际如何运动。左：三维路径/水平投影/垂向误差（列=ID 正弦海流、OOD 执行器退化；检查前固定的保留种子）。右：位置误差/艏向误差/俯仰角时序——退化下 MPC 发散随回合增长（持续错误的内部模型），残差策略两工况都贴近参考。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三种场景以时间序列方式展示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3D position RMSE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、姿态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航向角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RMSE 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以及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PAC authority alpha 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22" name="Picture 21" descr="fig3_error_attitu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377440"/>
            <a:ext cx="5669280" cy="4502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969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A0441-EA06-4E24-2918-3DBE6B46B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D21B98F4-6860-F7AB-A5B0-A572977C642A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23D5A0C-0E1D-9CD3-A4EA-361BADB1BB93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3801BAB0-F78C-0F8D-EDC9-6834E2988A03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45A8A10B-29FC-7708-10A0-FC5D0B20D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DFF1267-FADB-B511-3E63-AAF28A874452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791FE1B2-ADFF-A5C2-5D2E-B2F1D853127A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219C034-A9DF-0377-93A7-1BD9A49DF3DF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2EAF03AC-440B-8A5C-05B8-96E98E083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52D3FC6B-C93D-3836-17E0-DB68A65D34C5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30DAF14F-2B4A-5528-0852-D1A4EB777969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8BB1E977-B0AD-F74F-603A-1877B0DB5392}"/>
              </a:ext>
            </a:extLst>
          </p:cNvPr>
          <p:cNvSpPr txBox="1"/>
          <p:nvPr/>
        </p:nvSpPr>
        <p:spPr>
          <a:xfrm>
            <a:off x="0" y="1244052"/>
            <a:ext cx="10978564" cy="1188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主结果：OOD 跟踪 RMSE 0.161→0.116 m（−28%，CI [−0.074, −0.015]；回合级自助法一致）。最尖锐的读法对我们不利：固定 α=0.5 达 0.120 m，相差不足 3%——残差的价值集中在最需要自适应处：执行器退化族较固定混合再降 28%。分布内代价 +0.4% / 艏向 +4.3%，如实报告。</a:t>
            </a:r>
          </a:p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图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进一步展示了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3D tracking error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、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3D attitude error 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与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authority alpha 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之间的关系。点的颜色表示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PAC 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分配给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MPC 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侧控制器的权重大小，因此该图可以说明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是根据当前误差状态动态调整控制权重。</a:t>
            </a:r>
          </a:p>
        </p:txBody>
      </p:sp>
      <p:pic>
        <p:nvPicPr>
          <p:cNvPr id="22" name="Picture 21" descr="fig4_closed_loop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488" y="2935224"/>
            <a:ext cx="8595360" cy="43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1687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0BCE-D83E-E439-8FD8-B2E7E54CA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81B4E730-23DC-247B-072A-D9FC2C2380D9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5B7DFF-DA23-A5E7-A479-248A1FF205E1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B3AD2212-D4FB-ADF2-84FB-65FB283DF901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252E9749-CC34-ADF4-AD54-9573D563F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18C2A02-AD55-38D3-6BFC-0D4B624F7893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06D57195-9104-0907-5C78-7F6580B3BD6E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B0CBB9C-EFE9-DF5A-2B02-E8D255F3C794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9F281FC-86E9-182F-CB61-958B80B25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25332538-A239-8157-2824-B0E2E021044B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7622435-B449-9F02-BBE9-05C97CD13769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33581C97-548E-5FD2-DA57-FC354C2E6F75}"/>
              </a:ext>
            </a:extLst>
          </p:cNvPr>
          <p:cNvSpPr txBox="1"/>
          <p:nvPr/>
        </p:nvSpPr>
        <p:spPr>
          <a:xfrm>
            <a:off x="0" y="1244052"/>
            <a:ext cx="10978564" cy="1371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机制：残差学到的不是新调度，而是「否决」监督策略的越界。退化发生后数秒内监督策略把 α 推过 0.9 并振荡（31.2% 步数、std 0.331）；残差策略 97.0% 的步数稳在 [0.4, 0.6]。c 面板：全部 35 个 OOD 回合 × 5 种子的逐回合平均权限箱线图——监督 0.82±0.14（P10–P90 0.62–0.93）对残差 0.54±0.03，全部残差回合落在 [0.48, 0.62]。</a:t>
            </a:r>
          </a:p>
        </p:txBody>
      </p:sp>
      <p:pic>
        <p:nvPicPr>
          <p:cNvPr id="22" name="Picture 21" descr="fig5_actuator_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9232" y="2782715"/>
            <a:ext cx="5577840" cy="3848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380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722F0-4403-5019-B44C-8031920A8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ECE81ED8-1D53-32F6-729E-D972F9AB280A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08933EB-556D-5C92-348F-DFE102019004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799DC40D-3996-3104-9C0B-4A0A99CD8EF4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A107A04B-76C8-5AFC-4EBB-E9D4BBA94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85B719C-CD0F-52C2-963B-0E21C37DA80F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AA1B0154-BA93-8DC0-0011-69A77E8AB2B3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BD9A79-A430-194C-C533-E3D3E199945E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F2A304A-AD85-AC64-74CA-775631B8B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C6CB09E4-3A8F-B088-E31E-2C237030CEF7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F4AE35B9-76E6-250D-A377-84761F1C9326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311AEC22-0384-F7A9-397D-54F98CAFD13D}"/>
              </a:ext>
            </a:extLst>
          </p:cNvPr>
          <p:cNvSpPr txBox="1"/>
          <p:nvPr/>
        </p:nvSpPr>
        <p:spPr>
          <a:xfrm>
            <a:off x="0" y="1244052"/>
            <a:ext cx="10978564" cy="3627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控制质量与代价：增益不是靠执行器滥用换来的</a:t>
            </a:r>
          </a:p>
        </p:txBody>
      </p:sp>
      <p:pic>
        <p:nvPicPr>
          <p:cNvPr id="22" name="Picture 21" descr="fig6_cost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9729" y="2450592"/>
            <a:ext cx="8003431" cy="32403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46720" y="192024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 err="1">
                <a:latin typeface="微软雅黑"/>
              </a:rPr>
              <a:t>控制质量（OOD</a:t>
            </a:r>
            <a:r>
              <a:rPr sz="1500" b="1" dirty="0">
                <a:latin typeface="微软雅黑"/>
              </a:rPr>
              <a:t>）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饱和步占比</a:t>
            </a:r>
            <a:r>
              <a:rPr sz="1300" b="0" dirty="0">
                <a:latin typeface="微软雅黑"/>
              </a:rPr>
              <a:t> 0.126：六方法最低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控制代价</a:t>
            </a:r>
            <a:r>
              <a:rPr sz="1300" b="0" dirty="0">
                <a:latin typeface="微软雅黑"/>
              </a:rPr>
              <a:t> 31.9：六方法最低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配对代价效应</a:t>
            </a:r>
            <a:r>
              <a:rPr sz="1300" b="0" dirty="0">
                <a:latin typeface="微软雅黑"/>
              </a:rPr>
              <a:t> −1.78 [−2.31, −1.26]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准则</a:t>
            </a:r>
            <a:r>
              <a:rPr sz="1300" b="0" dirty="0">
                <a:latin typeface="微软雅黑"/>
              </a:rPr>
              <a:t>③「</a:t>
            </a:r>
            <a:r>
              <a:rPr sz="1300" b="0" dirty="0" err="1">
                <a:latin typeface="微软雅黑"/>
              </a:rPr>
              <a:t>不以饱和</a:t>
            </a:r>
            <a:r>
              <a:rPr sz="1300" b="0" dirty="0">
                <a:latin typeface="微软雅黑"/>
              </a:rPr>
              <a:t>/</a:t>
            </a:r>
            <a:r>
              <a:rPr sz="1300" b="0" dirty="0" err="1">
                <a:latin typeface="微软雅黑"/>
              </a:rPr>
              <a:t>约束换增益」的实证</a:t>
            </a:r>
            <a:endParaRPr sz="1300" b="0" dirty="0">
              <a:latin typeface="微软雅黑"/>
            </a:endParaRPr>
          </a:p>
          <a:p>
            <a:pPr>
              <a:spcAft>
                <a:spcPts val="400"/>
              </a:spcAft>
            </a:pPr>
            <a:r>
              <a:rPr sz="1500" b="1" dirty="0" err="1">
                <a:latin typeface="微软雅黑"/>
              </a:rPr>
              <a:t>代价（如实报告</a:t>
            </a:r>
            <a:r>
              <a:rPr sz="1500" b="1" dirty="0">
                <a:latin typeface="微软雅黑"/>
              </a:rPr>
              <a:t>）</a:t>
            </a:r>
          </a:p>
          <a:p>
            <a:pPr>
              <a:spcAft>
                <a:spcPts val="400"/>
              </a:spcAft>
            </a:pPr>
            <a:r>
              <a:rPr sz="1300" b="0" dirty="0">
                <a:latin typeface="微软雅黑"/>
              </a:rPr>
              <a:t>ID </a:t>
            </a:r>
            <a:r>
              <a:rPr sz="1300" b="0" dirty="0" err="1">
                <a:latin typeface="微软雅黑"/>
              </a:rPr>
              <a:t>误差</a:t>
            </a:r>
            <a:r>
              <a:rPr sz="1300" b="0" dirty="0">
                <a:latin typeface="微软雅黑"/>
              </a:rPr>
              <a:t> +0.4%、</a:t>
            </a:r>
            <a:r>
              <a:rPr sz="1300" b="0" dirty="0" err="1">
                <a:latin typeface="微软雅黑"/>
              </a:rPr>
              <a:t>艏向</a:t>
            </a:r>
            <a:r>
              <a:rPr sz="1300" b="0" dirty="0">
                <a:latin typeface="微软雅黑"/>
              </a:rPr>
              <a:t> +4.3%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求解超时率</a:t>
            </a:r>
            <a:r>
              <a:rPr sz="1300" b="0" dirty="0">
                <a:latin typeface="微软雅黑"/>
              </a:rPr>
              <a:t> 0.69→0.80（基线 0.69 </a:t>
            </a:r>
            <a:r>
              <a:rPr sz="1300" b="0" dirty="0" err="1">
                <a:latin typeface="微软雅黑"/>
              </a:rPr>
              <a:t>对所有非学习方法相同；固定</a:t>
            </a:r>
            <a:r>
              <a:rPr sz="1300" b="0" dirty="0">
                <a:latin typeface="微软雅黑"/>
              </a:rPr>
              <a:t> α </a:t>
            </a:r>
            <a:r>
              <a:rPr sz="1300" b="0" dirty="0" err="1">
                <a:latin typeface="微软雅黑"/>
              </a:rPr>
              <a:t>不变；候选解释</a:t>
            </a:r>
            <a:r>
              <a:rPr sz="1300" b="0" dirty="0">
                <a:latin typeface="微软雅黑"/>
              </a:rPr>
              <a:t>=</a:t>
            </a:r>
            <a:r>
              <a:rPr sz="1300" b="0" dirty="0" err="1">
                <a:latin typeface="微软雅黑"/>
              </a:rPr>
              <a:t>轨迹工作点，假设非结论</a:t>
            </a:r>
            <a:r>
              <a:rPr sz="1300" b="0" dirty="0">
                <a:latin typeface="微软雅黑"/>
              </a:rPr>
              <a:t>）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部署保障不受影响：回退触发</a:t>
            </a:r>
            <a:r>
              <a:rPr sz="1300" b="0" dirty="0">
                <a:latin typeface="微软雅黑"/>
              </a:rPr>
              <a:t> 0.3–0.5%，</a:t>
            </a:r>
            <a:r>
              <a:rPr sz="1300" b="0" dirty="0" err="1">
                <a:latin typeface="微软雅黑"/>
              </a:rPr>
              <a:t>成功率持平</a:t>
            </a:r>
            <a:endParaRPr sz="1300" b="0" dirty="0"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968508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829853"/>
            <a:ext cx="12192002" cy="24858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59363" y="2276306"/>
            <a:ext cx="108732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4800" b="1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感谢各位老师，恳请批评指正！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053252" y="3360568"/>
            <a:ext cx="80854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GB" altLang="zh-CN" sz="2400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THANK  YOU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5064087" y="4869701"/>
            <a:ext cx="20638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姓名：田家丞</a:t>
            </a:r>
          </a:p>
        </p:txBody>
      </p:sp>
      <p:sp>
        <p:nvSpPr>
          <p:cNvPr id="15" name="圆角矩形 14"/>
          <p:cNvSpPr/>
          <p:nvPr/>
        </p:nvSpPr>
        <p:spPr>
          <a:xfrm>
            <a:off x="4755396" y="4819233"/>
            <a:ext cx="2681207" cy="43943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accent1">
                <a:alpha val="6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3" name="灯片编号占位符 18"/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789" y="646772"/>
            <a:ext cx="2918422" cy="9107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731520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91440"/>
            <a:ext cx="1737360" cy="542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61288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280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800" b="1">
                <a:solidFill>
                  <a:srgbClr val="514D83"/>
                </a:solidFill>
                <a:latin typeface="微软雅黑"/>
              </a:rPr>
              <a:t>训练设置：奖励函数与超参数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514D83"/>
                </a:solidFill>
                <a:latin typeface="微软雅黑"/>
              </a:rPr>
              <a:t>单步奖励（训练前冻结）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r_t = −w_e·(e_pos/s_pos) − w_h·(e_head/s_head)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      − w_u·‖u‖² − w_Δu·‖Δu‖² − w_Δα·|Δα|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      − w_sat·ρ_sat − w_dl·ρ_dl − w_c·ρ_con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514D83"/>
                </a:solidFill>
                <a:latin typeface="微软雅黑"/>
              </a:rPr>
              <a:t>权重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w_e=1.0  w_h=0.3  w_u=0.01  w_Δu=0.01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w_Δα=0.05  w_sat=0.1  w_dl=0.02  w_con=10.0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归一化：s_pos=0.1 m  s_head=0.05 rad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B6242E"/>
                </a:solidFill>
                <a:latin typeface="微软雅黑"/>
              </a:rPr>
              <a:t>约束罚 w_con=10 最大：安全 &gt; 精度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超时项 ρ_dl 仅记录：RL 不改 MPC 调度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0" y="1828800"/>
          <a:ext cx="53035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6400"/>
                <a:gridCol w="235712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E"/>
                          </a:solidFill>
                          <a:latin typeface="微软雅黑"/>
                        </a:rPr>
                        <a:t>参数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E"/>
                          </a:solidFill>
                          <a:latin typeface="微软雅黑"/>
                        </a:rPr>
                        <a:t>值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算法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TD3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Δα 上界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0.1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actor 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1e-4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critic 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1e-3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0.99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0.005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策略延迟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每2步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目标噪声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0.2/0.5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探索噪声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0.1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批大小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256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热启动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2×10⁵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行为正则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0.01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训练步数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2×10⁵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731520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91440"/>
            <a:ext cx="1737360" cy="542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61288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18872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800" b="1">
                <a:solidFill>
                  <a:srgbClr val="514D83"/>
                </a:solidFill>
                <a:latin typeface="微软雅黑"/>
              </a:rPr>
              <a:t>10 族扰动全景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1691640"/>
          <a:ext cx="11612877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0220"/>
                <a:gridCol w="657332"/>
                <a:gridCol w="3834441"/>
                <a:gridCol w="3834441"/>
                <a:gridCol w="876443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62E"/>
                          </a:solidFill>
                          <a:latin typeface="微软雅黑"/>
                        </a:rPr>
                        <a:t>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62E"/>
                          </a:solidFill>
                          <a:latin typeface="微软雅黑"/>
                        </a:rPr>
                        <a:t>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62E"/>
                          </a:solidFill>
                          <a:latin typeface="微软雅黑"/>
                        </a:rPr>
                        <a:t>训练范围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62E"/>
                          </a:solidFill>
                          <a:latin typeface="微软雅黑"/>
                        </a:rPr>
                        <a:t>测试范围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62E"/>
                          </a:solidFill>
                          <a:latin typeface="微软雅黑"/>
                        </a:rPr>
                        <a:t>种子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结构化-恒定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幅值×2.5 恒定流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结构化-正弦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多频正弦叠加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结构化-阶跃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t=10s 换向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质量-阻尼失配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mass 0.94–1.06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mass 1.10–1.25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彩色噪声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ρ 0.90–0.98, σ 0.05–0.20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ρ 0.985–0.995, σ 0.25–0.40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OU 海流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θ 0.2–1.0, σ 0.05–0.20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θ 1.2–2.0, σ 0.25–0.40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随机频率-幅值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amp 2.0–3.0, freq 0.8–1.2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amp 3.2–4.0, freq 1.4–1.8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执行器延迟+噪声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delay 2–4步, noise 0–0.02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delay 6–10步, noise 0.04–0.08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快变 OU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θ 3.0–6.0, σ 0.30–0.50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估计延迟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delay 10–20步, noise 0.05–0.10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274320" y="512064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514D83"/>
                </a:solidFill>
                <a:latin typeface="微软雅黑"/>
              </a:rPr>
              <a:t>85 ID + 35 OOD = 120 配对回合 × 14 组合 = 1,680 次滚动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731520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91440"/>
            <a:ext cx="1737360" cy="542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61288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结构化海流（ID）</a:t>
            </a:r>
          </a:p>
        </p:txBody>
      </p:sp>
      <p:pic>
        <p:nvPicPr>
          <p:cNvPr id="12" name="Picture 11" descr="gallery_00_structured_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pic>
        <p:nvPicPr>
          <p:cNvPr id="13" name="Picture 12" descr="gallery_01_structured_s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828800"/>
            <a:ext cx="3044687" cy="4572000"/>
          </a:xfrm>
          <a:prstGeom prst="rect">
            <a:avLst/>
          </a:prstGeom>
        </p:spPr>
      </p:pic>
      <p:pic>
        <p:nvPicPr>
          <p:cNvPr id="14" name="Picture 13" descr="gallery_02_structured_s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1828800"/>
            <a:ext cx="3044687" cy="457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" y="6537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latin typeface="微软雅黑"/>
              </a:rPr>
              <a:t>恒定×2.5 | 正弦多频 | 阶跃 t=10s | 全方法贴近参考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731520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91440"/>
            <a:ext cx="1737360" cy="542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61288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质量-阻尼失配（OOD）</a:t>
            </a:r>
          </a:p>
        </p:txBody>
      </p:sp>
      <p:pic>
        <p:nvPicPr>
          <p:cNvPr id="12" name="Picture 11" descr="gallery_03_mass_damping_mismatch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10312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训练: mass ×0.94–1.06, damp ×0.94–1.06
测试: mass ×1.10–1.25, damp ×0.75–0.90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关键读图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参数外推能力检验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每回合 2,100 步（21 s）
6 方法 × 5 种子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731520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91440"/>
            <a:ext cx="1737360" cy="542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61288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彩色噪声（OOD）</a:t>
            </a:r>
          </a:p>
        </p:txBody>
      </p:sp>
      <p:pic>
        <p:nvPicPr>
          <p:cNvPr id="12" name="Picture 11" descr="gallery_04_colored_noise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10312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训练: ρ=0.90–0.98, σ=0.05–0.20
测试: ρ=0.985–0.995, σ=0.25–0.40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关键读图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时间相关性与幅值同时增大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每回合 2,100 步（21 s）
6 方法 × 5 种子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731520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91440"/>
            <a:ext cx="1737360" cy="542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61288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OU 海流（OOD）</a:t>
            </a:r>
          </a:p>
        </p:txBody>
      </p:sp>
      <p:pic>
        <p:nvPicPr>
          <p:cNvPr id="12" name="Picture 11" descr="gallery_05_ou_current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10312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训练: θ=0.2–1.0, σ=0.05–0.20
测试: θ=1.2–2.0, σ=0.25–0.40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关键读图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时间尺度加快的随机海流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每回合 2,100 步（21 s）
6 方法 × 5 种子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731520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91440"/>
            <a:ext cx="1737360" cy="542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61288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随机频率-幅值（OOD）</a:t>
            </a:r>
          </a:p>
        </p:txBody>
      </p:sp>
      <p:pic>
        <p:nvPicPr>
          <p:cNvPr id="12" name="Picture 11" descr="gallery_06_random_freq_amp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10312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训练: amp 2.0–3.0, freq 0.8–1.2
测试: amp 3.2–4.0, freq 1.4–1.8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关键读图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频率与幅值同时超范围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每回合 2,100 步（21 s）
6 方法 × 5 种子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731520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91440"/>
            <a:ext cx="1737360" cy="542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61288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执行器延迟+噪声（OOD）★</a:t>
            </a:r>
          </a:p>
        </p:txBody>
      </p:sp>
      <p:pic>
        <p:nvPicPr>
          <p:cNvPr id="12" name="Picture 11" descr="gallery_07_actuator_delay_noise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10312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训练: delay 2–4步, noise 0–0.02
测试: delay 6–10步, noise 0.04–0.08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关键读图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核心场景：MPC 0.822m → 残差 0.090m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每回合 2,100 步（21 s）
6 方法 × 5 种子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731520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91440"/>
            <a:ext cx="1737360" cy="542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61288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快变 OU 海流（OOD）</a:t>
            </a:r>
          </a:p>
        </p:txBody>
      </p:sp>
      <p:pic>
        <p:nvPicPr>
          <p:cNvPr id="12" name="Picture 11" descr="gallery_08_fast_ou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10312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仅评估: θ=3.0–6.0, σ=0.30–0.50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关键读图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时间尺度远超全部训练族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每回合 2,100 步（21 s）
6 方法 × 5 种子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731520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91440"/>
            <a:ext cx="1737360" cy="542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61288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估计延迟（OOD）</a:t>
            </a:r>
          </a:p>
        </p:txBody>
      </p:sp>
      <p:pic>
        <p:nvPicPr>
          <p:cNvPr id="12" name="Picture 11" descr="gallery_09_estimation_delay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10312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仅评估: delay 10–20步, noise 0.05–0.10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关键读图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传感器滞后+噪声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每回合 2,100 步（21 s）
6 方法 × 5 种子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137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731520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91440"/>
            <a:ext cx="1737360" cy="542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61288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判定（六项注册准则）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0">
                <a:latin typeface="微软雅黑"/>
              </a:rPr>
              <a:t>3 过：不以艏向/饱和/约束换增益 · 消融可分离 · 五种子方向稳定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0">
                <a:latin typeface="微软雅黑"/>
              </a:rPr>
              <a:t>2 挂：整体非劣性 ID +0.4% · 超时不恶化 +0.107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0">
                <a:latin typeface="微软雅黑"/>
              </a:rPr>
              <a:t>1 未评估：部署推理时延 = 硬件第一门槛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E8730C"/>
                </a:solidFill>
                <a:latin typeface="微软雅黑"/>
              </a:rPr>
              <a:t>注册的下一步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0">
                <a:latin typeface="微软雅黑"/>
              </a:rPr>
              <a:t>① 直接 RL 对照臂　② α 扫描　③ 残差第二轮　④ 隔离超时　⑤ 硬件在环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3F7E72"/>
                </a:solidFill>
                <a:latin typeface="微软雅黑"/>
              </a:rPr>
              <a:t>结论：残差策略以可证明的安全结构买到 OOD 鲁棒性 −28% 与执行器退化免疫（0.822→0.090 m）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自定义 270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08E"/>
      </a:accent1>
      <a:accent2>
        <a:srgbClr val="8C3A7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876</Words>
  <Application>Microsoft Office PowerPoint</Application>
  <PresentationFormat>宽屏</PresentationFormat>
  <Paragraphs>65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4" baseType="lpstr">
      <vt:lpstr>等线</vt:lpstr>
      <vt:lpstr>等线 Light</vt:lpstr>
      <vt:lpstr>微软雅黑</vt:lpstr>
      <vt:lpstr>Arial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家丞 田</cp:lastModifiedBy>
  <cp:revision>19</cp:revision>
  <dcterms:created xsi:type="dcterms:W3CDTF">2023-05-03T15:34:00Z</dcterms:created>
  <dcterms:modified xsi:type="dcterms:W3CDTF">2026-09-29T04:29:02Z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E64A04677F1149A094FCBA23A1125531_13</vt:lpwstr>
  </property>
  <property fmtid="{D5CDD505-2E9C-101B-9397-08002B2CF9AE}" pid="3" name="KSOProductBuildVer">
    <vt:lpwstr>2052-12.1.0.26375</vt:lpwstr>
  </property>
</Properties>
</file>