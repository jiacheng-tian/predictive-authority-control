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5"/>
    <p:sldId id="264" r:id="rId4"/>
    <p:sldId id="265" r:id="rId3"/>
    <p:sldId id="266" r:id="rId2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730"/>
    <p:restoredTop sz="94694"/>
  </p:normalViewPr>
  <p:slideViewPr>
    <p:cSldViewPr snapToGrid="0">
      <p:cViewPr varScale="1">
        <p:scale>
          <a:sx n="77" d="100"/>
          <a:sy n="77" d="100"/>
        </p:scale>
        <p:origin x="437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1.xml"/><Relationship Id="rId3" Type="http://schemas.openxmlformats.org/officeDocument/2006/relationships/slide" Target="slides/slide10.xml"/><Relationship Id="rId4" Type="http://schemas.openxmlformats.org/officeDocument/2006/relationships/slide" Target="slides/slide9.xml"/><Relationship Id="rId5" Type="http://schemas.openxmlformats.org/officeDocument/2006/relationships/slide" Target="slides/slide8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76F9D-7DCF-264B-ADCB-B7A67878F215}" type="datetimeFigureOut">
              <a:rPr kumimoji="1" lang="zh-CN" altLang="en-US" smtClean="0"/>
              <a:t>2026/8/31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712C0-FBCD-324F-BF1D-38904C6C270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76F9D-7DCF-264B-ADCB-B7A67878F215}" type="datetimeFigureOut">
              <a:rPr kumimoji="1" lang="zh-CN" altLang="en-US" smtClean="0"/>
              <a:t>2026/8/31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712C0-FBCD-324F-BF1D-38904C6C270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76F9D-7DCF-264B-ADCB-B7A67878F215}" type="datetimeFigureOut">
              <a:rPr kumimoji="1" lang="zh-CN" altLang="en-US" smtClean="0"/>
              <a:t>2026/8/31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712C0-FBCD-324F-BF1D-38904C6C270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76F9D-7DCF-264B-ADCB-B7A67878F215}" type="datetimeFigureOut">
              <a:rPr kumimoji="1" lang="zh-CN" altLang="en-US" smtClean="0"/>
              <a:t>2026/8/31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712C0-FBCD-324F-BF1D-38904C6C270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76F9D-7DCF-264B-ADCB-B7A67878F215}" type="datetimeFigureOut">
              <a:rPr kumimoji="1" lang="zh-CN" altLang="en-US" smtClean="0"/>
              <a:t>2026/8/31</a:t>
            </a:fld>
            <a:endParaRPr kumimoji="1"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712C0-FBCD-324F-BF1D-38904C6C270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76F9D-7DCF-264B-ADCB-B7A67878F215}" type="datetimeFigureOut">
              <a:rPr kumimoji="1" lang="zh-CN" altLang="en-US" smtClean="0"/>
              <a:t>2026/8/31</a:t>
            </a:fld>
            <a:endParaRPr kumimoji="1"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712C0-FBCD-324F-BF1D-38904C6C270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76F9D-7DCF-264B-ADCB-B7A67878F215}" type="datetimeFigureOut">
              <a:rPr kumimoji="1" lang="zh-CN" altLang="en-US" smtClean="0"/>
              <a:t>2026/8/31</a:t>
            </a:fld>
            <a:endParaRPr kumimoji="1"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712C0-FBCD-324F-BF1D-38904C6C270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76F9D-7DCF-264B-ADCB-B7A67878F215}" type="datetimeFigureOut">
              <a:rPr kumimoji="1" lang="zh-CN" altLang="en-US" smtClean="0"/>
              <a:t>2026/8/31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712C0-FBCD-324F-BF1D-38904C6C270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76F9D-7DCF-264B-ADCB-B7A67878F215}" type="datetimeFigureOut">
              <a:rPr kumimoji="1" lang="zh-CN" altLang="en-US" smtClean="0"/>
              <a:t>2026/8/31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712C0-FBCD-324F-BF1D-38904C6C270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76F9D-7DCF-264B-ADCB-B7A67878F215}" type="datetimeFigureOut">
              <a:rPr kumimoji="1" lang="zh-CN" altLang="en-US" smtClean="0"/>
              <a:t>2026/8/31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712C0-FBCD-324F-BF1D-38904C6C270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76F9D-7DCF-264B-ADCB-B7A67878F215}" type="datetimeFigureOut">
              <a:rPr kumimoji="1" lang="zh-CN" altLang="en-US" smtClean="0"/>
              <a:t>2026/8/31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712C0-FBCD-324F-BF1D-38904C6C270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676F9D-7DCF-264B-ADCB-B7A67878F215}" type="datetimeFigureOut">
              <a:rPr kumimoji="1" lang="zh-CN" altLang="en-US" smtClean="0"/>
              <a:t>2026/8/31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B712C0-FBCD-324F-BF1D-38904C6C270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0312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4000" b="1">
                <a:solidFill>
                  <a:srgbClr val="FFFFFF"/>
                </a:solidFill>
                <a:latin typeface="微软雅黑"/>
              </a:rPr>
              <a:t>预测权限控制（PAC）阶段答辩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2000" b="0">
                <a:solidFill>
                  <a:srgbClr val="8B87C8"/>
                </a:solidFill>
                <a:latin typeface="微软雅黑"/>
              </a:rPr>
              <a:t>受约束残差强化学习修复控制器信任：OOD ↓28%，代价如实报告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姓名：田家丞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669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日期：2026年9月29日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4572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000" b="0">
                <a:solidFill>
                  <a:srgbClr val="6B6F85"/>
                </a:solidFill>
                <a:latin typeface="微软雅黑"/>
              </a:rPr>
              <a:t>Predictive Authority Control: Learning When and How Much to Trust Baseline Controllers for Robust Underwater Robot Tracking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60320" y="914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个人简介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0" y="9144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本科经历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914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读研展望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58368"/>
            <a:ext cx="1225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514D83"/>
                </a:solidFill>
                <a:latin typeface="微软雅黑"/>
              </a:rPr>
              <a:t>PAC：面向水下机器人鲁棒跟踪的基线控制器时序信任权重学习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latin typeface="微软雅黑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800" b="1">
                <a:solidFill>
                  <a:srgbClr val="514D83"/>
                </a:solidFill>
                <a:latin typeface="微软雅黑"/>
              </a:rPr>
              <a:t>一、工作概况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2880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400" b="0">
                <a:latin typeface="微软雅黑"/>
              </a:rPr>
              <a:t>架构定型为「SMC + MPC 专家 + 冻结 Transformer 编码器 + 零初始化残差头」。学习组件只输出有界权限修正 Δα∈[−0.1, +0.1]，推进器指令始终由经典专家产生。10 族扰动 × 14 方法-种子组合 × 120 配对回合 = 1,680 次滚动 ≈ 353 万控制步。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0040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514D83"/>
                </a:solidFill>
                <a:latin typeface="微软雅黑"/>
              </a:rPr>
              <a:t>本轮更新（顶刊体例）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0">
                <a:latin typeface="微软雅黑"/>
              </a:rPr>
              <a:t>• 网络级架构图与训练图（生图+矢量双版）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0">
                <a:latin typeface="微软雅黑"/>
              </a:rPr>
              <a:t>• 10 族扰动逐场景展示（本 PPT 新增 8 页）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0">
                <a:latin typeface="微软雅黑"/>
              </a:rPr>
              <a:t>• 训练方程与超参数全透明化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0">
                <a:latin typeface="微软雅黑"/>
              </a:rPr>
              <a:t>• 控制质量图：饱和率/代价全方法最低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0">
                <a:latin typeface="微软雅黑"/>
              </a:rPr>
              <a:t>• 方法名改描述式：Supervised / Residual PAC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320040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514D83"/>
                </a:solidFill>
                <a:latin typeface="微软雅黑"/>
              </a:rPr>
              <a:t>评估规模（预注册、配对）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0">
                <a:latin typeface="微软雅黑"/>
              </a:rPr>
              <a:t>• 120 配对回合（85 ID + 35 OOD）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0">
                <a:latin typeface="微软雅黑"/>
              </a:rPr>
              <a:t>• 模型种子级 t(4) 95% CI + bootstrap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0">
                <a:latin typeface="微软雅黑"/>
              </a:rPr>
              <a:t>• 注册准则先于训练冻结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0">
                <a:latin typeface="微软雅黑"/>
              </a:rPr>
              <a:t>• 残差相关六项准则 3 过 / 2 挂 / 1 未评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0">
                <a:latin typeface="微软雅黑"/>
              </a:rPr>
              <a:t>• 代价如实报告：ID +0.4% / 超时 +0.107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4572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000" b="0">
                <a:solidFill>
                  <a:srgbClr val="6B6F85"/>
                </a:solidFill>
                <a:latin typeface="微软雅黑"/>
              </a:rPr>
              <a:t>Predictive Authority Control: Learning When and How Much to Trust Baseline Controllers for Robust Underwater Robot Tracking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60320" y="914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个人简介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0" y="9144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本科经历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914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读研展望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58368"/>
            <a:ext cx="1225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514D83"/>
                </a:solidFill>
                <a:latin typeface="微软雅黑"/>
              </a:rPr>
              <a:t>PAC：面向水下机器人鲁棒跟踪的基线控制器时序信任权重学习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latin typeface="微软雅黑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400" b="0">
                <a:latin typeface="微软雅黑"/>
              </a:rPr>
              <a:t>问题：执行器退化下 MPC 按错误模型持续输出「自信的失效指令」，OOD 执行器族误差 0.822 m ≈ 正常 9 倍，逼近 1 m 任务失败线。仲裁问题（每一时刻信任谁、信多少）随海况连续变化，人工切换规则无法枚举。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560320"/>
            <a:ext cx="112471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700" b="1">
                <a:solidFill>
                  <a:srgbClr val="514D83"/>
                </a:solidFill>
                <a:latin typeface="微软雅黑"/>
              </a:rPr>
              <a:t>核心思想：权限 α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400" b="0">
                <a:latin typeface="微软雅黑"/>
              </a:rPr>
              <a:t>学习系统不碰推进器，只输出 α∈[0,1]；u = (1−α)·u_SMC + α·u_MPC。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700" b="1">
                <a:solidFill>
                  <a:srgbClr val="E8730C"/>
                </a:solidFill>
                <a:latin typeface="微软雅黑"/>
              </a:rPr>
              <a:t>受约束残差：Δα = 0.1·tanh(·)，末层零初始化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400" b="0">
                <a:latin typeface="微软雅黑"/>
              </a:rPr>
              <a:t>冻结监督策略（14,113 参数），仅训练 2,177 参数残差头；开机行为与已部署基线逐位一致。最坏情形 = 基线本身。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700" b="1">
                <a:solidFill>
                  <a:srgbClr val="3F7E72"/>
                </a:solidFill>
                <a:latin typeface="微软雅黑"/>
              </a:rPr>
              <a:t>四层安全栈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400" b="0">
                <a:latin typeface="微软雅黑"/>
              </a:rPr>
              <a:t>① |Δα|≤0.1  ② clip/平滑/率限  ③ 专家失效强制回主控  ④ 数值异常回退冻结基线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4572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000" b="0">
                <a:solidFill>
                  <a:srgbClr val="6B6F85"/>
                </a:solidFill>
                <a:latin typeface="微软雅黑"/>
              </a:rPr>
              <a:t>Predictive Authority Control: Learning When and How Much to Trust Baseline Controllers for Robust Underwater Robot Tracking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60320" y="914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个人简介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0" y="9144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本科经历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914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读研展望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58368"/>
            <a:ext cx="1225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514D83"/>
                </a:solidFill>
                <a:latin typeface="微软雅黑"/>
              </a:rPr>
              <a:t>PAC：面向水下机器人鲁棒跟踪的基线控制器时序信任权重学习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latin typeface="微软雅黑"/>
              </a:rPr>
              <a:t>4</a:t>
            </a:r>
          </a:p>
        </p:txBody>
      </p:sp>
      <p:pic>
        <p:nvPicPr>
          <p:cNvPr id="8" name="Picture 7" descr="fig1_system_architecture_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8138160" cy="45801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869680" y="1645920"/>
            <a:ext cx="3108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600" b="1">
                <a:solidFill>
                  <a:srgbClr val="514D83"/>
                </a:solidFill>
                <a:latin typeface="微软雅黑"/>
              </a:rPr>
              <a:t>读图要点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0">
                <a:latin typeface="微软雅黑"/>
              </a:rPr>
              <a:t>绿区=已验证固定组件
紫区=可审计学习组件
灰区=执行级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0">
                <a:latin typeface="微软雅黑"/>
              </a:rPr>
              <a:t>编码器冻结（❄ 14,113 参数）
残差头可训练（▲ 2,177 参数、零初始化）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1">
                <a:solidFill>
                  <a:srgbClr val="B6242E"/>
                </a:solidFill>
                <a:latin typeface="微软雅黑"/>
              </a:rPr>
              <a:t>α_t = clip[0,1](α̂_t + Δα_t)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0">
                <a:latin typeface="微软雅黑"/>
              </a:rPr>
              <a:t>底部安全条带：
有界Δα → clip/平滑/率限
→ 强制主控 → 数值回退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4572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000" b="0">
                <a:solidFill>
                  <a:srgbClr val="6B6F85"/>
                </a:solidFill>
                <a:latin typeface="微软雅黑"/>
              </a:rPr>
              <a:t>Predictive Authority Control: Learning When and How Much to Trust Baseline Controllers for Robust Underwater Robot Tracking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60320" y="914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个人简介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0" y="9144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本科经历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914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读研展望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58368"/>
            <a:ext cx="1225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514D83"/>
                </a:solidFill>
                <a:latin typeface="微软雅黑"/>
              </a:rPr>
              <a:t>PAC：面向水下机器人鲁棒跟踪的基线控制器时序信任权重学习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latin typeface="微软雅黑"/>
              </a:rPr>
              <a:t>5</a:t>
            </a:r>
          </a:p>
        </p:txBody>
      </p:sp>
      <p:pic>
        <p:nvPicPr>
          <p:cNvPr id="8" name="Picture 7" descr="fig_network_training_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7223760" cy="406552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0" y="1645920"/>
            <a:ext cx="4114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600" b="1">
                <a:solidFill>
                  <a:srgbClr val="514D83"/>
                </a:solidFill>
                <a:latin typeface="微软雅黑"/>
              </a:rPr>
              <a:t>两阶段训练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400" b="1">
                <a:solidFill>
                  <a:srgbClr val="514D83"/>
                </a:solidFill>
                <a:latin typeface="微软雅黑"/>
              </a:rPr>
              <a:t>阶段 1 · 监督初始化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0">
                <a:latin typeface="微软雅黑"/>
              </a:rPr>
              <a:t>oracle 标签：5 点 α 网格
18,900 样本 · AdamW · 180 轮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400" b="1">
                <a:solidFill>
                  <a:srgbClr val="E8730C"/>
                </a:solidFill>
                <a:latin typeface="微软雅黑"/>
              </a:rPr>
              <a:t>阶段 2 · 受约束残差 TD3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0">
                <a:latin typeface="微软雅黑"/>
              </a:rPr>
              <a:t>骨干冻结 · 残差头 32→64→GELU→1
2×10⁵ 热启动 · 行为正则 0.01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1">
                <a:solidFill>
                  <a:srgbClr val="3F7E72"/>
                </a:solidFill>
                <a:latin typeface="微软雅黑"/>
              </a:rPr>
              <a:t>零初始化 ⇒ 开机 = 基线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4572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000" b="0">
                <a:solidFill>
                  <a:srgbClr val="6B6F85"/>
                </a:solidFill>
                <a:latin typeface="微软雅黑"/>
              </a:rPr>
              <a:t>Predictive Authority Control: Learning When and How Much to Trust Baseline Controllers for Robust Underwater Robot Tracking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60320" y="914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个人简介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0" y="9144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本科经历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914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读研展望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58368"/>
            <a:ext cx="1225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514D83"/>
                </a:solidFill>
                <a:latin typeface="微软雅黑"/>
              </a:rPr>
              <a:t>PAC：面向水下机器人鲁棒跟踪的基线控制器时序信任权重学习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latin typeface="微软雅黑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800" b="1">
                <a:solidFill>
                  <a:srgbClr val="514D83"/>
                </a:solidFill>
                <a:latin typeface="微软雅黑"/>
              </a:rPr>
              <a:t>训练设置：奖励函数与超参数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288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400" b="1">
                <a:solidFill>
                  <a:srgbClr val="514D83"/>
                </a:solidFill>
                <a:latin typeface="微软雅黑"/>
              </a:rPr>
              <a:t>单步奖励（训练前冻结进 manifest）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0">
                <a:latin typeface="微软雅黑"/>
              </a:rPr>
              <a:t>r_t = −w_e·(e_pos/s_pos) − w_h·(e_head/s_head)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0">
                <a:latin typeface="微软雅黑"/>
              </a:rPr>
              <a:t>      − w_u·‖u‖² − w_Δu·‖Δu‖² − w_Δα·|Δα|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0">
                <a:latin typeface="微软雅黑"/>
              </a:rPr>
              <a:t>      − w_sat·ρ_sat − w_dl·ρ_dl − w_c·ρ_con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800" b="0">
                <a:latin typeface="微软雅黑"/>
              </a:rPr>
              <a:t/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1">
                <a:solidFill>
                  <a:srgbClr val="514D83"/>
                </a:solidFill>
                <a:latin typeface="微软雅黑"/>
              </a:rPr>
              <a:t>权重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0">
                <a:latin typeface="微软雅黑"/>
              </a:rPr>
              <a:t>w_e=1.0  w_h=0.3  w_u=0.01  w_Δu=0.01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0">
                <a:latin typeface="微软雅黑"/>
              </a:rPr>
              <a:t>w_Δα=0.05  w_sat=0.1  w_dl=0.02  w_con=10.0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0">
                <a:latin typeface="微软雅黑"/>
              </a:rPr>
              <a:t>归一化：s_pos=0.1 m  s_head=0.05 rad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800" b="0">
                <a:latin typeface="微软雅黑"/>
              </a:rPr>
              <a:t/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B6242E"/>
                </a:solidFill>
                <a:latin typeface="微软雅黑"/>
              </a:rPr>
              <a:t>约束罚 w_con=10 最大：安全 &gt; 精度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0">
                <a:solidFill>
                  <a:srgbClr val="6B6F85"/>
                </a:solidFill>
                <a:latin typeface="微软雅黑"/>
              </a:rPr>
              <a:t>超时项 ρ_dl 仅记录：RL 不改 MPC 调度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0" y="1828800"/>
          <a:ext cx="53035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6400"/>
                <a:gridCol w="2357120"/>
              </a:tblGrid>
              <a:tr h="2743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62E"/>
                          </a:solidFill>
                          <a:latin typeface="微软雅黑"/>
                        </a:rPr>
                        <a:t>参数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62E"/>
                          </a:solidFill>
                          <a:latin typeface="微软雅黑"/>
                        </a:rPr>
                        <a:t>值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E"/>
                          </a:solidFill>
                          <a:latin typeface="微软雅黑"/>
                        </a:rPr>
                        <a:t>算法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E"/>
                          </a:solidFill>
                          <a:latin typeface="微软雅黑"/>
                        </a:rPr>
                        <a:t>TD3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E"/>
                          </a:solidFill>
                          <a:latin typeface="微软雅黑"/>
                        </a:rPr>
                        <a:t>Δα 上界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E"/>
                          </a:solidFill>
                          <a:latin typeface="微软雅黑"/>
                        </a:rPr>
                        <a:t>0.1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E"/>
                          </a:solidFill>
                          <a:latin typeface="微软雅黑"/>
                        </a:rPr>
                        <a:t>actor 学习率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E"/>
                          </a:solidFill>
                          <a:latin typeface="微软雅黑"/>
                        </a:rPr>
                        <a:t>1×10⁻⁴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E"/>
                          </a:solidFill>
                          <a:latin typeface="微软雅黑"/>
                        </a:rPr>
                        <a:t>critic 学习率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E"/>
                          </a:solidFill>
                          <a:latin typeface="微软雅黑"/>
                        </a:rPr>
                        <a:t>1×10⁻³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E"/>
                          </a:solidFill>
                          <a:latin typeface="微软雅黑"/>
                        </a:rPr>
                        <a:t>折扣 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E"/>
                          </a:solidFill>
                          <a:latin typeface="微软雅黑"/>
                        </a:rPr>
                        <a:t>0.99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E"/>
                          </a:solidFill>
                          <a:latin typeface="微软雅黑"/>
                        </a:rPr>
                        <a:t>软更新 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E"/>
                          </a:solidFill>
                          <a:latin typeface="微软雅黑"/>
                        </a:rPr>
                        <a:t>0.005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E"/>
                          </a:solidFill>
                          <a:latin typeface="微软雅黑"/>
                        </a:rPr>
                        <a:t>策略延迟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E"/>
                          </a:solidFill>
                          <a:latin typeface="微软雅黑"/>
                        </a:rPr>
                        <a:t>每 2 步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E"/>
                          </a:solidFill>
                          <a:latin typeface="微软雅黑"/>
                        </a:rPr>
                        <a:t>目标噪声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E"/>
                          </a:solidFill>
                          <a:latin typeface="微软雅黑"/>
                        </a:rPr>
                        <a:t>0.2 / 0.5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E"/>
                          </a:solidFill>
                          <a:latin typeface="微软雅黑"/>
                        </a:rPr>
                        <a:t>探索噪声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E"/>
                          </a:solidFill>
                          <a:latin typeface="微软雅黑"/>
                        </a:rPr>
                        <a:t>0.1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E"/>
                          </a:solidFill>
                          <a:latin typeface="微软雅黑"/>
                        </a:rPr>
                        <a:t>批大小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E"/>
                          </a:solidFill>
                          <a:latin typeface="微软雅黑"/>
                        </a:rPr>
                        <a:t>256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E"/>
                          </a:solidFill>
                          <a:latin typeface="微软雅黑"/>
                        </a:rPr>
                        <a:t>热启动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E"/>
                          </a:solidFill>
                          <a:latin typeface="微软雅黑"/>
                        </a:rPr>
                        <a:t>2×10⁵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E"/>
                          </a:solidFill>
                          <a:latin typeface="微软雅黑"/>
                        </a:rPr>
                        <a:t>行为正则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E"/>
                          </a:solidFill>
                          <a:latin typeface="微软雅黑"/>
                        </a:rPr>
                        <a:t>0.01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E"/>
                          </a:solidFill>
                          <a:latin typeface="微软雅黑"/>
                        </a:rPr>
                        <a:t>训练步数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E"/>
                          </a:solidFill>
                          <a:latin typeface="微软雅黑"/>
                        </a:rPr>
                        <a:t>2×10⁵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4572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000" b="0">
                <a:solidFill>
                  <a:srgbClr val="6B6F85"/>
                </a:solidFill>
                <a:latin typeface="微软雅黑"/>
              </a:rPr>
              <a:t>Predictive Authority Control: Learning When and How Much to Trust Baseline Controllers for Robust Underwater Robot Tracking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60320" y="914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个人简介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0" y="9144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本科经历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914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读研展望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58368"/>
            <a:ext cx="1225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514D83"/>
                </a:solidFill>
                <a:latin typeface="微软雅黑"/>
              </a:rPr>
              <a:t>PAC：面向水下机器人鲁棒跟踪的基线控制器时序信任权重学习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latin typeface="微软雅黑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18872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800" b="1">
                <a:solidFill>
                  <a:srgbClr val="514D83"/>
                </a:solidFill>
                <a:latin typeface="微软雅黑"/>
              </a:rPr>
              <a:t>10 族扰动全景（配对评估网格）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74320" y="1691640"/>
          <a:ext cx="11612877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0220"/>
                <a:gridCol w="657332"/>
                <a:gridCol w="3834441"/>
                <a:gridCol w="3834441"/>
                <a:gridCol w="876443"/>
              </a:tblGrid>
              <a:tr h="2743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62E"/>
                          </a:solidFill>
                          <a:latin typeface="微软雅黑"/>
                        </a:rPr>
                        <a:t>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62E"/>
                          </a:solidFill>
                          <a:latin typeface="微软雅黑"/>
                        </a:rPr>
                        <a:t>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62E"/>
                          </a:solidFill>
                          <a:latin typeface="微软雅黑"/>
                        </a:rPr>
                        <a:t>训练范围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62E"/>
                          </a:solidFill>
                          <a:latin typeface="微软雅黑"/>
                        </a:rPr>
                        <a:t>测试范围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62E"/>
                          </a:solidFill>
                          <a:latin typeface="微软雅黑"/>
                        </a:rPr>
                        <a:t>种子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结构化-恒定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幅值 ×2.5 恒定流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20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结构化-正弦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多频正弦叠加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20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结构化-阶跃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t=10s 换向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20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质量-阻尼失配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mass 0.94–1.06, damp 0.94–1.06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mass 1.10–1.25, damp 0.75–0.90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5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彩色噪声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ρ 0.90–0.98, σ 0.05–0.20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ρ 0.985–0.995, σ 0.25–0.40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5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OU 海流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θ 0.2–1.0, σ 0.05–0.20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θ 1.2–2.0, σ 0.25–0.40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5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随机频率-幅值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amp 2.0–3.0, freq 0.8–1.2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amp 3.2–4.0, freq 1.4–1.8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5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执行器延迟+噪声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delay 2–4 步, noise 0–0.02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delay 6–10 步, noise 0.04–0.08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5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快变 OU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θ 3.0–6.0, σ 0.30–0.50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5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估计延迟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delay 10–20 步, noise 0.05–0.10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E"/>
                          </a:solidFill>
                          <a:latin typeface="微软雅黑"/>
                        </a:rPr>
                        <a:t>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74320" y="5120640"/>
            <a:ext cx="11612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1">
                <a:solidFill>
                  <a:srgbClr val="514D83"/>
                </a:solidFill>
                <a:latin typeface="微软雅黑"/>
              </a:rPr>
              <a:t>85 ID + 35 OOD = 120 配对回合 × 14 组合 = 1,680 次滚动 ≈ 353 万控制步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0">
                <a:solidFill>
                  <a:srgbClr val="6B6F85"/>
                </a:solidFill>
                <a:latin typeface="微软雅黑"/>
              </a:rPr>
              <a:t>「OOD」= 相对扰动族采样：测试范围系统性超出训练范围，检验分布外泛化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4572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000" b="0">
                <a:solidFill>
                  <a:srgbClr val="6B6F85"/>
                </a:solidFill>
                <a:latin typeface="微软雅黑"/>
              </a:rPr>
              <a:t>Predictive Authority Control: Learning When and How Much to Trust Baseline Controllers for Robust Underwater Robot Tracking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60320" y="914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个人简介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0" y="9144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本科经历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914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读研展望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58368"/>
            <a:ext cx="1225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514D83"/>
                </a:solidFill>
                <a:latin typeface="微软雅黑"/>
              </a:rPr>
              <a:t>PAC：面向水下机器人鲁棒跟踪的基线控制器时序信任权重学习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latin typeface="微软雅黑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23444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700" b="1">
                <a:solidFill>
                  <a:srgbClr val="514D83"/>
                </a:solidFill>
                <a:latin typeface="微软雅黑"/>
              </a:rPr>
              <a:t>结构化海流（ID）：恒定/正弦/阶跃</a:t>
            </a:r>
          </a:p>
        </p:txBody>
      </p:sp>
      <p:pic>
        <p:nvPicPr>
          <p:cNvPr id="9" name="Picture 8" descr="gallery_00_structured_s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044687" cy="4572000"/>
          </a:xfrm>
          <a:prstGeom prst="rect">
            <a:avLst/>
          </a:prstGeom>
        </p:spPr>
      </p:pic>
      <p:pic>
        <p:nvPicPr>
          <p:cNvPr id="10" name="Picture 9" descr="gallery_01_structured_s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828800"/>
            <a:ext cx="3044687" cy="4572000"/>
          </a:xfrm>
          <a:prstGeom prst="rect">
            <a:avLst/>
          </a:prstGeom>
        </p:spPr>
      </p:pic>
      <p:pic>
        <p:nvPicPr>
          <p:cNvPr id="11" name="Picture 10" descr="gallery_02_structured_s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1828800"/>
            <a:ext cx="3044687" cy="4572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7200" y="65379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100" b="0">
                <a:latin typeface="微软雅黑"/>
              </a:rPr>
              <a:t>恒定 ×2.5 | 正弦多频 | 阶跃 t=10s | 60 回合 | 全方法贴近参考；SMC 偏移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4572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000" b="0">
                <a:solidFill>
                  <a:srgbClr val="6B6F85"/>
                </a:solidFill>
                <a:latin typeface="微软雅黑"/>
              </a:rPr>
              <a:t>Predictive Authority Control: Learning When and How Much to Trust Baseline Controllers for Robust Underwater Robot Tracking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60320" y="914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个人简介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0" y="9144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本科经历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914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读研展望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58368"/>
            <a:ext cx="1225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514D83"/>
                </a:solidFill>
                <a:latin typeface="微软雅黑"/>
              </a:rPr>
              <a:t>PAC：面向水下机器人鲁棒跟踪的基线控制器时序信任权重学习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latin typeface="微软雅黑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23444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700" b="1">
                <a:solidFill>
                  <a:srgbClr val="514D83"/>
                </a:solidFill>
                <a:latin typeface="微软雅黑"/>
              </a:rPr>
              <a:t>质量-阻尼失配（OOD）</a:t>
            </a:r>
          </a:p>
        </p:txBody>
      </p:sp>
      <p:pic>
        <p:nvPicPr>
          <p:cNvPr id="9" name="Picture 8" descr="gallery_03_mass_damping_mismatch_uns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044687" cy="457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0" y="2103120"/>
            <a:ext cx="6675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514D83"/>
                </a:solidFill>
                <a:latin typeface="微软雅黑"/>
              </a:rPr>
              <a:t>参数范围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0">
                <a:latin typeface="微软雅黑"/>
              </a:rPr>
              <a:t>训练: mass ×0.94–1.06, damp ×0.94–1.06
测试: mass ×1.10–1.25, damp ×0.75–0.90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000" b="0">
                <a:latin typeface="微软雅黑"/>
              </a:rPr>
              <a:t/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E8730C"/>
                </a:solidFill>
                <a:latin typeface="微软雅黑"/>
              </a:rPr>
              <a:t>关键读图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0">
                <a:latin typeface="微软雅黑"/>
              </a:rPr>
              <a:t>测试范围超出训练采样
检验参数外推能力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000" b="0">
                <a:latin typeface="微软雅黑"/>
              </a:rPr>
              <a:t/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0">
                <a:solidFill>
                  <a:srgbClr val="6B6F85"/>
                </a:solidFill>
                <a:latin typeface="微软雅黑"/>
              </a:rPr>
              <a:t>每回合 2,100 步（21 s）
6 方法 × 5 种子配对评估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4572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000" b="0">
                <a:solidFill>
                  <a:srgbClr val="6B6F85"/>
                </a:solidFill>
                <a:latin typeface="微软雅黑"/>
              </a:rPr>
              <a:t>Predictive Authority Control: Learning When and How Much to Trust Baseline Controllers for Robust Underwater Robot Tracking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60320" y="914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个人简介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0" y="9144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本科经历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914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读研展望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58368"/>
            <a:ext cx="1225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514D83"/>
                </a:solidFill>
                <a:latin typeface="微软雅黑"/>
              </a:rPr>
              <a:t>PAC：面向水下机器人鲁棒跟踪的基线控制器时序信任权重学习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latin typeface="微软雅黑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23444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700" b="1">
                <a:solidFill>
                  <a:srgbClr val="514D83"/>
                </a:solidFill>
                <a:latin typeface="微软雅黑"/>
              </a:rPr>
              <a:t>彩色噪声（OOD）</a:t>
            </a:r>
          </a:p>
        </p:txBody>
      </p:sp>
      <p:pic>
        <p:nvPicPr>
          <p:cNvPr id="9" name="Picture 8" descr="gallery_04_colored_noise_uns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044687" cy="457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0" y="2103120"/>
            <a:ext cx="6675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514D83"/>
                </a:solidFill>
                <a:latin typeface="微软雅黑"/>
              </a:rPr>
              <a:t>参数范围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0">
                <a:latin typeface="微软雅黑"/>
              </a:rPr>
              <a:t>训练: ρ=0.90–0.98, σ=0.05–0.20
测试: ρ=0.985–0.995, σ=0.25–0.40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000" b="0">
                <a:latin typeface="微软雅黑"/>
              </a:rPr>
              <a:t/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E8730C"/>
                </a:solidFill>
                <a:latin typeface="微软雅黑"/>
              </a:rPr>
              <a:t>关键读图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0">
                <a:latin typeface="微软雅黑"/>
              </a:rPr>
              <a:t>时间相关性与幅值同时增大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000" b="0">
                <a:latin typeface="微软雅黑"/>
              </a:rPr>
              <a:t/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0">
                <a:solidFill>
                  <a:srgbClr val="6B6F85"/>
                </a:solidFill>
                <a:latin typeface="微软雅黑"/>
              </a:rPr>
              <a:t>每回合 2,100 步（21 s）
6 方法 × 5 种子配对评估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4572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000" b="0">
                <a:solidFill>
                  <a:srgbClr val="6B6F85"/>
                </a:solidFill>
                <a:latin typeface="微软雅黑"/>
              </a:rPr>
              <a:t>Predictive Authority Control: Learning When and How Much to Trust Baseline Controllers for Robust Underwater Robot Tracking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60320" y="914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个人简介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0" y="9144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本科经历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914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读研展望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58368"/>
            <a:ext cx="1225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514D83"/>
                </a:solidFill>
                <a:latin typeface="微软雅黑"/>
              </a:rPr>
              <a:t>PAC：面向水下机器人鲁棒跟踪的基线控制器时序信任权重学习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latin typeface="微软雅黑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23444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700" b="1">
                <a:solidFill>
                  <a:srgbClr val="514D83"/>
                </a:solidFill>
                <a:latin typeface="微软雅黑"/>
              </a:rPr>
              <a:t>OU 海流（OOD）</a:t>
            </a:r>
          </a:p>
        </p:txBody>
      </p:sp>
      <p:pic>
        <p:nvPicPr>
          <p:cNvPr id="9" name="Picture 8" descr="gallery_05_ou_current_uns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044687" cy="457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0" y="2103120"/>
            <a:ext cx="6675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514D83"/>
                </a:solidFill>
                <a:latin typeface="微软雅黑"/>
              </a:rPr>
              <a:t>参数范围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0">
                <a:latin typeface="微软雅黑"/>
              </a:rPr>
              <a:t>训练: θ=0.2–1.0, σ=0.05–0.20
测试: θ=1.2–2.0, σ=0.25–0.40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000" b="0">
                <a:latin typeface="微软雅黑"/>
              </a:rPr>
              <a:t/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E8730C"/>
                </a:solidFill>
                <a:latin typeface="微软雅黑"/>
              </a:rPr>
              <a:t>关键读图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0">
                <a:latin typeface="微软雅黑"/>
              </a:rPr>
              <a:t>Ornstein-Uhlenbeck 时间尺度加快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000" b="0">
                <a:latin typeface="微软雅黑"/>
              </a:rPr>
              <a:t/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0">
                <a:solidFill>
                  <a:srgbClr val="6B6F85"/>
                </a:solidFill>
                <a:latin typeface="微软雅黑"/>
              </a:rPr>
              <a:t>每回合 2,100 步（21 s）
6 方法 × 5 种子配对评估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4572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000" b="0">
                <a:solidFill>
                  <a:srgbClr val="6B6F85"/>
                </a:solidFill>
                <a:latin typeface="微软雅黑"/>
              </a:rPr>
              <a:t>Predictive Authority Control: Learning When and How Much to Trust Baseline Controllers for Robust Underwater Robot Tracking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60320" y="914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个人简介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0" y="9144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本科经历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914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读研展望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58368"/>
            <a:ext cx="1225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514D83"/>
                </a:solidFill>
                <a:latin typeface="微软雅黑"/>
              </a:rPr>
              <a:t>PAC：面向水下机器人鲁棒跟踪的基线控制器时序信任权重学习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latin typeface="微软雅黑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23444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700" b="1">
                <a:solidFill>
                  <a:srgbClr val="514D83"/>
                </a:solidFill>
                <a:latin typeface="微软雅黑"/>
              </a:rPr>
              <a:t>随机频率-幅值（OOD）</a:t>
            </a:r>
          </a:p>
        </p:txBody>
      </p:sp>
      <p:pic>
        <p:nvPicPr>
          <p:cNvPr id="9" name="Picture 8" descr="gallery_06_random_freq_amp_uns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044687" cy="457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0" y="2103120"/>
            <a:ext cx="6675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514D83"/>
                </a:solidFill>
                <a:latin typeface="微软雅黑"/>
              </a:rPr>
              <a:t>参数范围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0">
                <a:latin typeface="微软雅黑"/>
              </a:rPr>
              <a:t>训练: amp 2.0–3.0, freq 0.8–1.2
测试: amp 3.2–4.0, freq 1.4–1.8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000" b="0">
                <a:latin typeface="微软雅黑"/>
              </a:rPr>
              <a:t/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E8730C"/>
                </a:solidFill>
                <a:latin typeface="微软雅黑"/>
              </a:rPr>
              <a:t>关键读图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0">
                <a:latin typeface="微软雅黑"/>
              </a:rPr>
              <a:t>频率与幅值同时超范围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000" b="0">
                <a:latin typeface="微软雅黑"/>
              </a:rPr>
              <a:t/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0">
                <a:solidFill>
                  <a:srgbClr val="6B6F85"/>
                </a:solidFill>
                <a:latin typeface="微软雅黑"/>
              </a:rPr>
              <a:t>每回合 2,100 步（21 s）
6 方法 × 5 种子配对评估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4572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000" b="0">
                <a:solidFill>
                  <a:srgbClr val="6B6F85"/>
                </a:solidFill>
                <a:latin typeface="微软雅黑"/>
              </a:rPr>
              <a:t>Predictive Authority Control: Learning When and How Much to Trust Baseline Controllers for Robust Underwater Robot Tracking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60320" y="914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个人简介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0" y="9144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本科经历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914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读研展望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58368"/>
            <a:ext cx="1225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514D83"/>
                </a:solidFill>
                <a:latin typeface="微软雅黑"/>
              </a:rPr>
              <a:t>PAC：面向水下机器人鲁棒跟踪的基线控制器时序信任权重学习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latin typeface="微软雅黑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23444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700" b="1">
                <a:solidFill>
                  <a:srgbClr val="514D83"/>
                </a:solidFill>
                <a:latin typeface="微软雅黑"/>
              </a:rPr>
              <a:t>执行器延迟+噪声（OOD）</a:t>
            </a:r>
          </a:p>
        </p:txBody>
      </p:sp>
      <p:pic>
        <p:nvPicPr>
          <p:cNvPr id="9" name="Picture 8" descr="gallery_07_actuator_delay_noise_uns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044687" cy="457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0" y="2103120"/>
            <a:ext cx="6675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514D83"/>
                </a:solidFill>
                <a:latin typeface="微软雅黑"/>
              </a:rPr>
              <a:t>参数范围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0">
                <a:latin typeface="微软雅黑"/>
              </a:rPr>
              <a:t>训练: delay 2–4 步, noise 0–0.02
测试: delay 6–10 步, noise 0.04–0.08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000" b="0">
                <a:latin typeface="微软雅黑"/>
              </a:rPr>
              <a:t/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E8730C"/>
                </a:solidFill>
                <a:latin typeface="微软雅黑"/>
              </a:rPr>
              <a:t>关键读图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0">
                <a:latin typeface="微软雅黑"/>
              </a:rPr>
              <a:t>★ 本文核心场景
MPC 0.822m → 残差 0.090m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000" b="0">
                <a:latin typeface="微软雅黑"/>
              </a:rPr>
              <a:t/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0">
                <a:solidFill>
                  <a:srgbClr val="6B6F85"/>
                </a:solidFill>
                <a:latin typeface="微软雅黑"/>
              </a:rPr>
              <a:t>每回合 2,100 步（21 s）
6 方法 × 5 种子配对评估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4572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000" b="0">
                <a:solidFill>
                  <a:srgbClr val="6B6F85"/>
                </a:solidFill>
                <a:latin typeface="微软雅黑"/>
              </a:rPr>
              <a:t>Predictive Authority Control: Learning When and How Much to Trust Baseline Controllers for Robust Underwater Robot Tracking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60320" y="914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个人简介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0" y="9144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本科经历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914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读研展望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58368"/>
            <a:ext cx="1225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514D83"/>
                </a:solidFill>
                <a:latin typeface="微软雅黑"/>
              </a:rPr>
              <a:t>PAC：面向水下机器人鲁棒跟踪的基线控制器时序信任权重学习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latin typeface="微软雅黑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23444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700" b="1">
                <a:solidFill>
                  <a:srgbClr val="514D83"/>
                </a:solidFill>
                <a:latin typeface="微软雅黑"/>
              </a:rPr>
              <a:t>快变 OU 海流（OOD）</a:t>
            </a:r>
          </a:p>
        </p:txBody>
      </p:sp>
      <p:pic>
        <p:nvPicPr>
          <p:cNvPr id="9" name="Picture 8" descr="gallery_08_fast_ou_uns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044687" cy="457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0" y="2103120"/>
            <a:ext cx="6675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514D83"/>
                </a:solidFill>
                <a:latin typeface="微软雅黑"/>
              </a:rPr>
              <a:t>参数范围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0">
                <a:latin typeface="微软雅黑"/>
              </a:rPr>
              <a:t>仅评估: θ=3.0–6.0, σ=0.30–0.50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000" b="0">
                <a:latin typeface="微软雅黑"/>
              </a:rPr>
              <a:t/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E8730C"/>
                </a:solidFill>
                <a:latin typeface="微软雅黑"/>
              </a:rPr>
              <a:t>关键读图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0">
                <a:latin typeface="微软雅黑"/>
              </a:rPr>
              <a:t>时间尺度远超全部训练族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000" b="0">
                <a:latin typeface="微软雅黑"/>
              </a:rPr>
              <a:t/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0">
                <a:solidFill>
                  <a:srgbClr val="6B6F85"/>
                </a:solidFill>
                <a:latin typeface="微软雅黑"/>
              </a:rPr>
              <a:t>每回合 2,100 步（21 s）
6 方法 × 5 种子配对评估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4572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000" b="0">
                <a:solidFill>
                  <a:srgbClr val="6B6F85"/>
                </a:solidFill>
                <a:latin typeface="微软雅黑"/>
              </a:rPr>
              <a:t>Predictive Authority Control: Learning When and How Much to Trust Baseline Controllers for Robust Underwater Robot Tracking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60320" y="914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个人简介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0" y="9144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本科经历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914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读研展望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58368"/>
            <a:ext cx="1225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514D83"/>
                </a:solidFill>
                <a:latin typeface="微软雅黑"/>
              </a:rPr>
              <a:t>PAC：面向水下机器人鲁棒跟踪的基线控制器时序信任权重学习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latin typeface="微软雅黑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23444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700" b="1">
                <a:solidFill>
                  <a:srgbClr val="514D83"/>
                </a:solidFill>
                <a:latin typeface="微软雅黑"/>
              </a:rPr>
              <a:t>估计延迟（OOD）</a:t>
            </a:r>
          </a:p>
        </p:txBody>
      </p:sp>
      <p:pic>
        <p:nvPicPr>
          <p:cNvPr id="9" name="Picture 8" descr="gallery_09_estimation_delay_uns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044687" cy="457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0" y="2103120"/>
            <a:ext cx="6675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514D83"/>
                </a:solidFill>
                <a:latin typeface="微软雅黑"/>
              </a:rPr>
              <a:t>参数范围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0">
                <a:latin typeface="微软雅黑"/>
              </a:rPr>
              <a:t>仅评估: delay 10–20 步, noise 0.05–0.10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000" b="0">
                <a:latin typeface="微软雅黑"/>
              </a:rPr>
              <a:t/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E8730C"/>
                </a:solidFill>
                <a:latin typeface="微软雅黑"/>
              </a:rPr>
              <a:t>关键读图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0">
                <a:latin typeface="微软雅黑"/>
              </a:rPr>
              <a:t>传感器滞后+噪声，检验因果估计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000" b="0">
                <a:latin typeface="微软雅黑"/>
              </a:rPr>
              <a:t/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0">
                <a:solidFill>
                  <a:srgbClr val="6B6F85"/>
                </a:solidFill>
                <a:latin typeface="微软雅黑"/>
              </a:rPr>
              <a:t>每回合 2,100 步（21 s）
6 方法 × 5 种子配对评估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4572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000" b="0">
                <a:solidFill>
                  <a:srgbClr val="6B6F85"/>
                </a:solidFill>
                <a:latin typeface="微软雅黑"/>
              </a:rPr>
              <a:t>Predictive Authority Control: Learning When and How Much to Trust Baseline Controllers for Robust Underwater Robot Tracking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60320" y="914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个人简介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0" y="9144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本科经历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914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读研展望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58368"/>
            <a:ext cx="1225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514D83"/>
                </a:solidFill>
                <a:latin typeface="微软雅黑"/>
              </a:rPr>
              <a:t>PAC：面向水下机器人鲁棒跟踪的基线控制器时序信任权重学习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latin typeface="微软雅黑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234440"/>
            <a:ext cx="11612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0">
                <a:latin typeface="微软雅黑"/>
              </a:rPr>
              <a:t>主结果：OOD RMSE 0.161→0.116 m（−28%，CI [−0.074,−0.015]）。固定 α=0.5 达 0.120 m——残差价值集中在最需要自适应处（执行器族 −28% vs 固定混合）。ID +0.4% 如实报告。</a:t>
            </a:r>
          </a:p>
        </p:txBody>
      </p:sp>
      <p:pic>
        <p:nvPicPr>
          <p:cNvPr id="9" name="Picture 8" descr="fig4_closed_loop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3080" y="2240280"/>
            <a:ext cx="8595360" cy="438658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4572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000" b="0">
                <a:solidFill>
                  <a:srgbClr val="6B6F85"/>
                </a:solidFill>
                <a:latin typeface="微软雅黑"/>
              </a:rPr>
              <a:t>Predictive Authority Control: Learning When and How Much to Trust Baseline Controllers for Robust Underwater Robot Tracking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60320" y="914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个人简介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0" y="9144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本科经历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914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读研展望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58368"/>
            <a:ext cx="1225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514D83"/>
                </a:solidFill>
                <a:latin typeface="微软雅黑"/>
              </a:rPr>
              <a:t>PAC：面向水下机器人鲁棒跟踪的基线控制器时序信任权重学习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latin typeface="微软雅黑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234440"/>
            <a:ext cx="11612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0">
                <a:latin typeface="微软雅黑"/>
              </a:rPr>
              <a:t>机制：残差学到的是「否决」监督策略的越界。监督 α 推过 0.9 并振荡（31.2%步数）；残差 97.0% 步数稳在 [0.4,0.6]。箱线图：0.82±0.14 vs 0.54±0.03。</a:t>
            </a:r>
          </a:p>
        </p:txBody>
      </p:sp>
      <p:pic>
        <p:nvPicPr>
          <p:cNvPr id="9" name="Picture 8" descr="fig5_actuator_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2194560"/>
            <a:ext cx="5577840" cy="3848381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4572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000" b="0">
                <a:solidFill>
                  <a:srgbClr val="6B6F85"/>
                </a:solidFill>
                <a:latin typeface="微软雅黑"/>
              </a:rPr>
              <a:t>Predictive Authority Control: Learning When and How Much to Trust Baseline Controllers for Robust Underwater Robot Tracking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60320" y="914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个人简介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0" y="9144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本科经历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914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读研展望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58368"/>
            <a:ext cx="1225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514D83"/>
                </a:solidFill>
                <a:latin typeface="微软雅黑"/>
              </a:rPr>
              <a:t>PAC：面向水下机器人鲁棒跟踪的基线控制器时序信任权重学习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latin typeface="微软雅黑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23444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700" b="1">
                <a:solidFill>
                  <a:srgbClr val="514D83"/>
                </a:solidFill>
                <a:latin typeface="微软雅黑"/>
              </a:rPr>
              <a:t>控制质量与代价</a:t>
            </a:r>
          </a:p>
        </p:txBody>
      </p:sp>
      <p:pic>
        <p:nvPicPr>
          <p:cNvPr id="9" name="Picture 8" descr="fig_control_qu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28800"/>
            <a:ext cx="6400800" cy="2260422"/>
          </a:xfrm>
          <a:prstGeom prst="rect">
            <a:avLst/>
          </a:prstGeom>
        </p:spPr>
      </p:pic>
      <p:pic>
        <p:nvPicPr>
          <p:cNvPr id="10" name="Picture 9" descr="fig6_cost_tradeo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4526280"/>
            <a:ext cx="6400800" cy="245184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49440" y="192024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400" b="1">
                <a:solidFill>
                  <a:srgbClr val="514D83"/>
                </a:solidFill>
                <a:latin typeface="微软雅黑"/>
              </a:rPr>
              <a:t>OOD 控制质量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0">
                <a:latin typeface="微软雅黑"/>
              </a:rPr>
              <a:t>饱和步占比 0.126：最低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0">
                <a:latin typeface="微软雅黑"/>
              </a:rPr>
              <a:t>控制代价 31.9：最低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0">
                <a:latin typeface="微软雅黑"/>
              </a:rPr>
              <a:t>配对代价 −1.78 [−2.31,−1.26]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800" b="0">
                <a:latin typeface="微软雅黑"/>
              </a:rPr>
              <a:t/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400" b="1">
                <a:solidFill>
                  <a:srgbClr val="B6242E"/>
                </a:solidFill>
                <a:latin typeface="微软雅黑"/>
              </a:rPr>
              <a:t>代价（如实报告）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0">
                <a:latin typeface="微软雅黑"/>
              </a:rPr>
              <a:t>ID +0.4%、艏向 +4.3%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0">
                <a:latin typeface="微软雅黑"/>
              </a:rPr>
              <a:t>超时 0.69→0.80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0">
                <a:latin typeface="微软雅黑"/>
              </a:rPr>
              <a:t>回退 0.3–0.5%，成功率持平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4572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000" b="0">
                <a:solidFill>
                  <a:srgbClr val="6B6F85"/>
                </a:solidFill>
                <a:latin typeface="微软雅黑"/>
              </a:rPr>
              <a:t>Predictive Authority Control: Learning When and How Much to Trust Baseline Controllers for Robust Underwater Robot Tracking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60320" y="914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个人简介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0" y="9144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本科经历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914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C87C8"/>
                </a:solidFill>
                <a:latin typeface="微软雅黑"/>
              </a:rPr>
              <a:t>读研展望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58368"/>
            <a:ext cx="1225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514D83"/>
                </a:solidFill>
                <a:latin typeface="微软雅黑"/>
              </a:rPr>
              <a:t>PAC：面向水下机器人鲁棒跟踪的基线控制器时序信任权重学习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latin typeface="微软雅黑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700" b="1">
                <a:solidFill>
                  <a:srgbClr val="514D83"/>
                </a:solidFill>
                <a:latin typeface="微软雅黑"/>
              </a:rPr>
              <a:t>判定（六项注册准则）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400" b="0">
                <a:latin typeface="微软雅黑"/>
              </a:rPr>
              <a:t>3 过：不以艏向/饱和/约束换增益 · 消融可分离 · 五种子方向稳定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400" b="0">
                <a:latin typeface="微软雅黑"/>
              </a:rPr>
              <a:t>2 挂：整体非劣性 ID +0.4% · 超时不恶化 +0.107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400" b="0">
                <a:latin typeface="微软雅黑"/>
              </a:rPr>
              <a:t>1 未评估：部署推理时延 = 硬件第一门槛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000" b="0">
                <a:latin typeface="微软雅黑"/>
              </a:rPr>
              <a:t/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700" b="1">
                <a:solidFill>
                  <a:srgbClr val="E8730C"/>
                </a:solidFill>
                <a:latin typeface="微软雅黑"/>
              </a:rPr>
              <a:t>注册的下一步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400" b="0">
                <a:latin typeface="微软雅黑"/>
              </a:rPr>
              <a:t>① 直接 RL 对照臂　② α 扫描　③ 残差第二轮　④ 隔离超时　⑤ 硬件在环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000" b="0">
                <a:latin typeface="微软雅黑"/>
              </a:rPr>
              <a:t/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3F7E72"/>
                </a:solidFill>
                <a:latin typeface="微软雅黑"/>
              </a:rPr>
              <a:t>结论：残差策略以可证明的安全结构买到 OOD 鲁棒性 −28% 与执行器退化免疫（0.822→0.090 m），每一项代价与冻结准则对照测量。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3600" b="1">
                <a:solidFill>
                  <a:srgbClr val="FFFFFF"/>
                </a:solidFill>
                <a:latin typeface="微软雅黑"/>
              </a:rPr>
              <a:t>感谢各位老师，恳请批评指正！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3832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2000" b="0">
                <a:solidFill>
                  <a:srgbClr val="8B87C8"/>
                </a:solidFill>
                <a:latin typeface="微软雅黑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8463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姓名：田家丞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自定义 2702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03408E"/>
      </a:accent1>
      <a:accent2>
        <a:srgbClr val="8C3A73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</TotalTime>
  <Words>1442</Words>
  <Application>Microsoft Office PowerPoint</Application>
  <PresentationFormat>宽屏</PresentationFormat>
  <Paragraphs>219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8" baseType="lpstr">
      <vt:lpstr>等线</vt:lpstr>
      <vt:lpstr>等线 Light</vt:lpstr>
      <vt:lpstr>微软雅黑</vt:lpstr>
      <vt:lpstr>Arial</vt:lpstr>
      <vt:lpstr>Times New Roman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Microsoft Office User</dc:creator>
  <cp:lastModifiedBy>家丞 田</cp:lastModifiedBy>
  <cp:revision>18</cp:revision>
  <dcterms:created xsi:type="dcterms:W3CDTF">2023-05-03T15:34:00Z</dcterms:created>
  <dcterms:modified xsi:type="dcterms:W3CDTF">2026-08-31T03:37:06Z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E64A04677F1149A094FCBA23A1125531_13</vt:lpwstr>
  </property>
  <property fmtid="{D5CDD505-2E9C-101B-9397-08002B2CF9AE}" pid="3" name="KSOProductBuildVer">
    <vt:lpwstr>2052-12.1.0.26375</vt:lpwstr>
  </property>
</Properties>
</file>